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r>
              <a:rPr sz="1000">
                <a:solidFill>
                  <a:srgbClr val="475569"/>
                </a:solidFill>
                <a:latin typeface="Segoe UI"/>
              </a:rPr>
              <a:t>Regla de honestidad: cada variable lleva su etiqueta REAL o ESTIMADO. Control de overfitting desde la ingesta.</a:t>
            </a:r>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pPr>
              <a:defRPr sz="1100">
                <a:solidFill>
                  <a:srgbClr val="64748B"/>
                </a:solidFill>
                <a:latin typeface="Segoe UI"/>
              </a:defRPr>
            </a:pPr>
            <a:r>
              <a:t>Piloto: 20 municipios (92 vars) · Cobertura regional en Git: 155 municipios &lt; 50k hab. (997.059 hab., 0 nulos) y 179 CAM (pipeline_179.py) listos para Oracle 23ai Cloud vía Wallet mTLS.</a:t>
            </a:r>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Python y Oracle 23ai Cloud como caminos paralelos, con garantía de privacidad (RGPD)</a:t>
            </a:r>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txBody>
          <a:bodyPr/>
          <a:p/>
        </p:txBody>
      </p:sp>
      <p:sp>
        <p:nvSpPr>
          <p:cNvPr id="7" name="Círculo icono"/>
          <p:cNvSpPr/>
          <p:nvPr/>
        </p:nvSpPr>
        <p:spPr>
          <a:xfrm>
            <a:off x="804672" y="2624328"/>
            <a:ext cx="457200" cy="457200"/>
          </a:xfrm>
          <a:prstGeom prst="ellipse">
            <a:avLst/>
          </a:prstGeom>
          <a:solidFill>
            <a:srgbClr val="161A26"/>
          </a:solidFill>
          <a:ln/>
        </p:spPr>
        <p:txBody>
          <a:bodyPr/>
          <a:p/>
        </p:txBody>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txBody>
          <a:bodyPr/>
          <a:p/>
        </p:txBody>
      </p:sp>
      <p:sp>
        <p:nvSpPr>
          <p:cNvPr id="11" name="Círculo icono"/>
          <p:cNvSpPr/>
          <p:nvPr/>
        </p:nvSpPr>
        <p:spPr>
          <a:xfrm>
            <a:off x="4187952" y="2624328"/>
            <a:ext cx="457200" cy="457200"/>
          </a:xfrm>
          <a:prstGeom prst="ellipse">
            <a:avLst/>
          </a:prstGeom>
          <a:solidFill>
            <a:srgbClr val="161A26"/>
          </a:solidFill>
          <a:ln/>
        </p:spPr>
        <p:txBody>
          <a:bodyPr/>
          <a:p/>
        </p:txBody>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txBody>
          <a:bodyPr/>
          <a:p/>
        </p:txBody>
      </p:sp>
      <p:sp>
        <p:nvSpPr>
          <p:cNvPr id="15" name="Círculo icono"/>
          <p:cNvSpPr/>
          <p:nvPr/>
        </p:nvSpPr>
        <p:spPr>
          <a:xfrm>
            <a:off x="804672" y="3694176"/>
            <a:ext cx="457200" cy="457200"/>
          </a:xfrm>
          <a:prstGeom prst="ellipse">
            <a:avLst/>
          </a:prstGeom>
          <a:solidFill>
            <a:srgbClr val="161A26"/>
          </a:solidFill>
          <a:ln/>
        </p:spPr>
        <p:txBody>
          <a:bodyPr/>
          <a:p/>
        </p:txBody>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txBody>
          <a:bodyPr/>
          <a:p/>
        </p:txBody>
      </p:sp>
      <p:sp>
        <p:nvSpPr>
          <p:cNvPr id="19" name="Círculo icono"/>
          <p:cNvSpPr/>
          <p:nvPr/>
        </p:nvSpPr>
        <p:spPr>
          <a:xfrm>
            <a:off x="4187952" y="3694176"/>
            <a:ext cx="457200" cy="457200"/>
          </a:xfrm>
          <a:prstGeom prst="ellipse">
            <a:avLst/>
          </a:prstGeom>
          <a:solidFill>
            <a:srgbClr val="161A26"/>
          </a:solidFill>
          <a:ln/>
        </p:spPr>
        <p:txBody>
          <a:bodyPr/>
          <a:p/>
        </p:txBody>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txBody>
          <a:bodyPr/>
          <a:p/>
        </p:txBody>
      </p:sp>
      <p:sp>
        <p:nvSpPr>
          <p:cNvPr id="23" name="Círculo icono"/>
          <p:cNvSpPr/>
          <p:nvPr/>
        </p:nvSpPr>
        <p:spPr>
          <a:xfrm>
            <a:off x="804672" y="4764024"/>
            <a:ext cx="457200" cy="457200"/>
          </a:xfrm>
          <a:prstGeom prst="ellipse">
            <a:avLst/>
          </a:prstGeom>
          <a:solidFill>
            <a:srgbClr val="161A26"/>
          </a:solidFill>
          <a:ln/>
        </p:spPr>
        <p:txBody>
          <a:bodyPr/>
          <a:p/>
        </p:txBody>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txBody>
          <a:bodyPr/>
          <a:p/>
        </p:txBody>
      </p:sp>
      <p:sp>
        <p:nvSpPr>
          <p:cNvPr id="27" name="Círculo icono"/>
          <p:cNvSpPr/>
          <p:nvPr/>
        </p:nvSpPr>
        <p:spPr>
          <a:xfrm>
            <a:off x="4187952" y="4764024"/>
            <a:ext cx="457200" cy="457200"/>
          </a:xfrm>
          <a:prstGeom prst="ellipse">
            <a:avLst/>
          </a:prstGeom>
          <a:solidFill>
            <a:srgbClr val="161A26"/>
          </a:solidFill>
          <a:ln/>
        </p:spPr>
        <p:txBody>
          <a:bodyPr/>
          <a:p/>
        </p:txBody>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txBody>
          <a:bodyPr/>
          <a:p/>
        </p:txBody>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txBody>
          <a:bodyPr/>
          <a:p/>
        </p:txBody>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defRPr sz="1300" b="1">
                <a:solidFill>
                  <a:srgbClr val="0F172A"/>
                </a:solidFill>
                <a:latin typeface="Segoe UI"/>
              </a:defRPr>
            </a:pPr>
            <a:r>
              <a:t>Oracle APEX 23ai Cloud</a:t>
            </a:r>
            <a:endParaRPr lang="en-US" sz="1600" dirty="0"/>
          </a:p>
          <a:p>
            <a:pPr>
              <a:defRPr sz="950" b="1">
                <a:solidFill>
                  <a:srgbClr val="C53030"/>
                </a:solidFill>
                <a:latin typeface="Segoe UI"/>
              </a:defRPr>
            </a:pPr>
            <a:r>
              <a:t>Autonomous DB (eu-madrid-1) · Wallet mTLS</a:t>
            </a:r>
          </a:p>
          <a:p>
            <a:pPr>
              <a:defRPr sz="900">
                <a:solidFill>
                  <a:srgbClr val="64748B"/>
                </a:solidFill>
                <a:latin typeface="Segoe UI"/>
              </a:defRPr>
            </a:pPr>
            <a:r>
              <a:t>Esquema: WKSP_DATATHON</a:t>
            </a:r>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defRPr sz="1100">
                <a:solidFill>
                  <a:srgbClr val="475569"/>
                </a:solidFill>
                <a:latin typeface="Segoe UI"/>
              </a:defRPr>
            </a:pPr>
            <a:r>
              <a:t>Los tests comprueban paridad matemática exacta: Python (CSV) y Oracle 23ai (vía Wallet) producen los mismos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txBody>
          <a:bodyPr/>
          <a:p/>
        </p:txBody>
      </p:sp>
      <p:sp>
        <p:nvSpPr>
          <p:cNvPr id="39" name="Círculo icono"/>
          <p:cNvSpPr/>
          <p:nvPr/>
        </p:nvSpPr>
        <p:spPr>
          <a:xfrm>
            <a:off x="7818120" y="4343400"/>
            <a:ext cx="457200" cy="457200"/>
          </a:xfrm>
          <a:prstGeom prst="ellipse">
            <a:avLst/>
          </a:prstGeom>
          <a:solidFill>
            <a:srgbClr val="C0263F"/>
          </a:solidFill>
          <a:ln/>
        </p:spPr>
        <p:txBody>
          <a:bodyPr/>
          <a:p/>
        </p:txBody>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a:defRPr sz="1050">
                <a:solidFill>
                  <a:srgbClr val="CBD5E1"/>
                </a:solidFill>
                <a:latin typeface="Segoe UI"/>
              </a:defRPr>
            </a:pPr>
            <a:r>
              <a:t>Seguridad mTLS y privacidad estricta: Conexión cifrada mediante Oracle Client Wallet (cwallet.sso / ewallet.p12). Oracle no guarda ningún dato personal del ciudadano en disco (RGPD): solo reglas de ponderación en WKSP_DATATHON. Los datos del usuario son parámetros volátiles de sesión.</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pPr>
              <a:defRPr sz="1050" b="1">
                <a:solidFill>
                  <a:srgbClr val="C8102E"/>
                </a:solidFill>
                <a:latin typeface="Segoe UI"/>
              </a:defRPr>
            </a:pPr>
            <a:r>
              <a:t>DEMOSTRACIÓN EN DIRECTO</a:t>
            </a:r>
          </a:p>
        </p:txBody>
      </p:sp>
      <p:sp>
        <p:nvSpPr>
          <p:cNvPr id="3" name="Title 2"/>
          <p:cNvSpPr>
            <a:spLocks noGrp="1"/>
          </p:cNvSpPr>
          <p:nvPr>
            <p:ph type="title" idx="101"/>
          </p:nvPr>
        </p:nvSpPr>
        <p:spPr/>
        <p:txBody>
          <a:bodyPr/>
          <a:lstStyle/>
          <a:p>
            <a:pPr>
              <a:defRPr sz="2100" b="1">
                <a:solidFill>
                  <a:srgbClr val="1E293B"/>
                </a:solidFill>
                <a:latin typeface="Segoe UI"/>
              </a:defRPr>
            </a:pPr>
            <a:r>
              <a:t>Plataforma interactiva (MVP) y panel de datos</a:t>
            </a:r>
          </a:p>
        </p:txBody>
      </p:sp>
      <p:sp>
        <p:nvSpPr>
          <p:cNvPr id="4" name="TextBox 3"/>
          <p:cNvSpPr txBox="1"/>
          <p:nvPr/>
        </p:nvSpPr>
        <p:spPr>
          <a:xfrm>
            <a:off x="640080" y="1325880"/>
            <a:ext cx="10881360" cy="365760"/>
          </a:xfrm>
          <a:prstGeom prst="rect">
            <a:avLst/>
          </a:prstGeom>
          <a:noFill/>
        </p:spPr>
        <p:txBody>
          <a:bodyPr wrap="square">
            <a:spAutoFit/>
          </a:bodyPr>
          <a:lstStyle/>
          <a:p>
            <a:pPr>
              <a:defRPr sz="1100">
                <a:solidFill>
                  <a:srgbClr val="64748B"/>
                </a:solidFill>
                <a:latin typeface="Segoe UI"/>
              </a:defRPr>
            </a:pPr>
            <a:r>
              <a:t>Espacio de transición para la demostración del prototipo funcional web y la estructura del panel de datos</a:t>
            </a:r>
          </a:p>
        </p:txBody>
      </p:sp>
      <p:sp>
        <p:nvSpPr>
          <p:cNvPr id="5" name="Rounded Rectangle 4"/>
          <p:cNvSpPr/>
          <p:nvPr/>
        </p:nvSpPr>
        <p:spPr>
          <a:xfrm>
            <a:off x="64008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92040" cy="594360"/>
          </a:xfrm>
          <a:prstGeom prst="rect">
            <a:avLst/>
          </a:prstGeom>
          <a:noFill/>
        </p:spPr>
        <p:txBody>
          <a:bodyPr wrap="square" lIns="0" rIns="0" tIns="0" bIns="0">
            <a:spAutoFit/>
          </a:bodyPr>
          <a:lstStyle/>
          <a:p>
            <a:pPr>
              <a:defRPr sz="1400" b="1">
                <a:solidFill>
                  <a:srgbClr val="1E3A8A"/>
                </a:solidFill>
                <a:latin typeface="Segoe UI"/>
              </a:defRPr>
            </a:pPr>
            <a:r>
              <a:t>DEMO EN VIVO  ·  MVP WEB INTERACTIVO</a:t>
            </a:r>
          </a:p>
          <a:p>
            <a:pPr>
              <a:defRPr sz="1000">
                <a:solidFill>
                  <a:srgbClr val="64748B"/>
                </a:solidFill>
                <a:latin typeface="Consolas"/>
              </a:defRPr>
            </a:pPr>
            <a:r>
              <a:t>http://localhost:8088/index.html · Backend Oracle 23ai Cloud (eu-madrid-1)</a:t>
            </a:r>
          </a:p>
        </p:txBody>
      </p:sp>
      <p:pic>
        <p:nvPicPr>
          <p:cNvPr id="7" name="Picture 6" descr="mvp_screenshot.png"/>
          <p:cNvPicPr>
            <a:picLocks noChangeAspect="1"/>
          </p:cNvPicPr>
          <p:nvPr/>
        </p:nvPicPr>
        <p:blipFill>
          <a:blip r:embed="rId2"/>
          <a:stretch>
            <a:fillRect/>
          </a:stretch>
        </p:blipFill>
        <p:spPr>
          <a:xfrm>
            <a:off x="822960" y="2514600"/>
            <a:ext cx="4892040" cy="2148840"/>
          </a:xfrm>
          <a:prstGeom prst="rect">
            <a:avLst/>
          </a:prstGeom>
          <a:ln w="12700">
            <a:solidFill>
              <a:srgbClr val="CBD5E1"/>
            </a:solidFill>
          </a:ln>
        </p:spPr>
      </p:pic>
      <p:sp>
        <p:nvSpPr>
          <p:cNvPr id="8" name="TextBox 7"/>
          <p:cNvSpPr txBox="1"/>
          <p:nvPr/>
        </p:nvSpPr>
        <p:spPr>
          <a:xfrm>
            <a:off x="822960" y="4754880"/>
            <a:ext cx="4892040" cy="1280160"/>
          </a:xfrm>
          <a:prstGeom prst="rect">
            <a:avLst/>
          </a:prstGeom>
          <a:noFill/>
        </p:spPr>
        <p:txBody>
          <a:bodyPr wrap="square" lIns="0" rIns="0" tIns="0" bIns="0">
            <a:spAutoFit/>
          </a:bodyPr>
          <a:lstStyle/>
          <a:p>
            <a:pPr>
              <a:spcBef>
                <a:spcPts val="0"/>
              </a:spcBef>
            </a:pPr>
            <a:r>
              <a:rPr sz="950" b="1">
                <a:solidFill>
                  <a:srgbClr val="1E40AF"/>
                </a:solidFill>
                <a:latin typeface="Segoe UI"/>
              </a:rPr>
              <a:t>• </a:t>
            </a:r>
            <a:r>
              <a:rPr sz="950" b="1">
                <a:solidFill>
                  <a:srgbClr val="1E293B"/>
                </a:solidFill>
                <a:latin typeface="Segoe UI"/>
              </a:rPr>
              <a:t>Hero interactivo: </a:t>
            </a:r>
            <a:r>
              <a:rPr sz="950">
                <a:solidFill>
                  <a:srgbClr val="475569"/>
                </a:solidFill>
                <a:latin typeface="Segoe UI"/>
              </a:rPr>
              <a:t>+108.400 hab. acogibles y 12,4 M€ inversión dotacional.</a:t>
            </a:r>
          </a:p>
          <a:p>
            <a:pPr>
              <a:spcBef>
                <a:spcPts val="300"/>
              </a:spcBef>
            </a:pPr>
            <a:r>
              <a:rPr sz="950" b="1">
                <a:solidFill>
                  <a:srgbClr val="1E40AF"/>
                </a:solidFill>
                <a:latin typeface="Segoe UI"/>
              </a:rPr>
              <a:t>• </a:t>
            </a:r>
            <a:r>
              <a:rPr sz="950" b="1">
                <a:solidFill>
                  <a:srgbClr val="1E293B"/>
                </a:solidFill>
                <a:latin typeface="Segoe UI"/>
              </a:rPr>
              <a:t>Recomendador ciudadano: </a:t>
            </a:r>
            <a:r>
              <a:rPr sz="950">
                <a:solidFill>
                  <a:srgbClr val="475569"/>
                </a:solidFill>
                <a:latin typeface="Segoe UI"/>
              </a:rPr>
              <a:t>Filtro por presupuesto y perfiles sin persistir datos.</a:t>
            </a:r>
          </a:p>
          <a:p>
            <a:pPr>
              <a:spcBef>
                <a:spcPts val="300"/>
              </a:spcBef>
            </a:pPr>
            <a:r>
              <a:rPr sz="950" b="1">
                <a:solidFill>
                  <a:srgbClr val="1E40AF"/>
                </a:solidFill>
                <a:latin typeface="Segoe UI"/>
              </a:rPr>
              <a:t>• </a:t>
            </a:r>
            <a:r>
              <a:rPr sz="950" b="1">
                <a:solidFill>
                  <a:srgbClr val="1E293B"/>
                </a:solidFill>
                <a:latin typeface="Segoe UI"/>
              </a:rPr>
              <a:t>Mapa comarcal: </a:t>
            </a:r>
            <a:r>
              <a:rPr sz="950">
                <a:solidFill>
                  <a:srgbClr val="475569"/>
                </a:solidFill>
                <a:latin typeface="Segoe UI"/>
              </a:rPr>
              <a:t>Semáforo dotacional y detección de cuellos de botella.</a:t>
            </a:r>
          </a:p>
        </p:txBody>
      </p:sp>
      <p:sp>
        <p:nvSpPr>
          <p:cNvPr id="9" name="Rounded Rectangle 8"/>
          <p:cNvSpPr/>
          <p:nvPr/>
        </p:nvSpPr>
        <p:spPr>
          <a:xfrm>
            <a:off x="626364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74519"/>
            <a:ext cx="4892040" cy="594360"/>
          </a:xfrm>
          <a:prstGeom prst="rect">
            <a:avLst/>
          </a:prstGeom>
          <a:noFill/>
        </p:spPr>
        <p:txBody>
          <a:bodyPr wrap="square" lIns="0" rIns="0" tIns="0" bIns="0">
            <a:spAutoFit/>
          </a:bodyPr>
          <a:lstStyle/>
          <a:p>
            <a:pPr>
              <a:defRPr sz="1400" b="1">
                <a:solidFill>
                  <a:srgbClr val="134E4A"/>
                </a:solidFill>
                <a:latin typeface="Segoe UI"/>
              </a:defRPr>
            </a:pPr>
            <a:r>
              <a:t>PANEL CERTIFICADO  ·  DATASET AUDITADO</a:t>
            </a:r>
          </a:p>
          <a:p>
            <a:pPr>
              <a:defRPr sz="1000" b="1">
                <a:solidFill>
                  <a:srgbClr val="C53030"/>
                </a:solidFill>
                <a:latin typeface="Consolas"/>
              </a:defRPr>
            </a:pPr>
            <a:r>
              <a:t>municipios_panel_validado.csv · Oracle Wallet mTLS · WKSP_DATATHON</a:t>
            </a:r>
          </a:p>
        </p:txBody>
      </p:sp>
      <p:pic>
        <p:nvPicPr>
          <p:cNvPr id="11" name="Picture 10" descr="dataset_screenshot.png"/>
          <p:cNvPicPr>
            <a:picLocks noChangeAspect="1"/>
          </p:cNvPicPr>
          <p:nvPr/>
        </p:nvPicPr>
        <p:blipFill>
          <a:blip r:embed="rId3"/>
          <a:stretch>
            <a:fillRect/>
          </a:stretch>
        </p:blipFill>
        <p:spPr>
          <a:xfrm>
            <a:off x="6446520" y="2514600"/>
            <a:ext cx="4892040" cy="2148840"/>
          </a:xfrm>
          <a:prstGeom prst="rect">
            <a:avLst/>
          </a:prstGeom>
          <a:ln w="12700">
            <a:solidFill>
              <a:srgbClr val="CBD5E1"/>
            </a:solidFill>
          </a:ln>
        </p:spPr>
      </p:pic>
      <p:sp>
        <p:nvSpPr>
          <p:cNvPr id="12" name="TextBox 11"/>
          <p:cNvSpPr txBox="1"/>
          <p:nvPr/>
        </p:nvSpPr>
        <p:spPr>
          <a:xfrm>
            <a:off x="6446520" y="4754880"/>
            <a:ext cx="4892040" cy="1280160"/>
          </a:xfrm>
          <a:prstGeom prst="rect">
            <a:avLst/>
          </a:prstGeom>
          <a:noFill/>
        </p:spPr>
        <p:txBody>
          <a:bodyPr wrap="square" lIns="0" rIns="0" tIns="0" bIns="0">
            <a:spAutoFit/>
          </a:bodyPr>
          <a:lstStyle/>
          <a:p>
            <a:pPr>
              <a:spcBef>
                <a:spcPts val="0"/>
              </a:spcBef>
              <a:defRPr sz="1200">
                <a:solidFill>
                  <a:srgbClr val="0F172A"/>
                </a:solidFill>
                <a:latin typeface="Segoe UI"/>
              </a:defRPr>
            </a:pPr>
            <a:r>
              <a:t>• Cobertura regional oficial: 20 piloto (92 vars) + 155 municipios &lt; 50k (997.059 hab.) con 0 nulos.</a:t>
            </a:r>
          </a:p>
          <a:p>
            <a:pPr>
              <a:defRPr sz="1200" b="1">
                <a:solidFill>
                  <a:srgbClr val="0F172A"/>
                </a:solidFill>
                <a:latin typeface="Segoe UI"/>
              </a:defRPr>
            </a:pPr>
            <a:r>
              <a:t>• Despliegue Oracle 23ai Cloud: Base de datos Autonomous (eu-madrid-1), autenticación mTLS vía Oracle Wallet (cwallet.sso) y APEX DATATHON.</a:t>
            </a:r>
          </a:p>
          <a:p>
            <a:pPr>
              <a:defRPr sz="1200">
                <a:solidFill>
                  <a:srgbClr val="0F172A"/>
                </a:solidFill>
                <a:latin typeface="Segoe UI"/>
              </a:defRPr>
            </a:pPr>
            <a:r>
              <a:t>• Agente IA con MCP (apex-mcp): Servidor MCP conectado por Wallet para que asistentes de IA consulten los 155 municipios en tiempo real.</a:t>
            </a:r>
          </a:p>
        </p:txBody>
      </p:sp>
      <p:sp>
        <p:nvSpPr>
          <p:cNvPr id="13" name="TextBox 12"/>
          <p:cNvSpPr txBox="1"/>
          <p:nvPr/>
        </p:nvSpPr>
        <p:spPr>
          <a:xfrm>
            <a:off x="10634472" y="6400800"/>
            <a:ext cx="914400" cy="274320"/>
          </a:xfrm>
          <a:prstGeom prst="rect">
            <a:avLst/>
          </a:prstGeom>
          <a:noFill/>
        </p:spPr>
        <p:txBody>
          <a:bodyPr wrap="none">
            <a:spAutoFit/>
          </a:bodyPr>
          <a:lstStyle/>
          <a:p>
            <a:pPr algn="r">
              <a:defRPr sz="1000">
                <a:solidFill>
                  <a:srgbClr val="94A3B8"/>
                </a:solidFill>
                <a:latin typeface="Segoe UI"/>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200" b="1">
                <a:solidFill>
                  <a:srgbClr val="1E293B"/>
                </a:solidFill>
                <a:latin typeface="Segoe UI"/>
              </a:rPr>
              <a:t>Validación con Backtesting histórico (2015–2025)</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Backtest temporal ciego: medimos el error proyectando 2020–2025 frente al padrón oficial del INE</a:t>
            </a:r>
          </a:p>
        </p:txBody>
      </p:sp>
      <p:sp>
        <p:nvSpPr>
          <p:cNvPr id="5" name="Número paso"/>
          <p:cNvSpPr/>
          <p:nvPr/>
        </p:nvSpPr>
        <p:spPr>
          <a:xfrm>
            <a:off x="640080" y="2048256"/>
            <a:ext cx="310896" cy="310896"/>
          </a:xfrm>
          <a:prstGeom prst="ellipse">
            <a:avLst/>
          </a:prstGeom>
          <a:solidFill>
            <a:schemeClr val="tx1"/>
          </a:solidFill>
          <a:ln/>
        </p:spPr>
        <p:txBody>
          <a:bodyPr/>
          <a:p/>
        </p:txBody>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txBody>
          <a:bodyPr/>
          <a:p/>
        </p:txBody>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txBody>
          <a:bodyPr/>
          <a:p/>
        </p:txBody>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r>
              <a:rPr sz="1050">
                <a:latin typeface="Segoe UI"/>
              </a:rPr>
              <a:t>Proyección a 2025 sin ver el dato real (Backtest ciego)</a:t>
            </a:r>
          </a:p>
        </p:txBody>
      </p:sp>
      <p:sp>
        <p:nvSpPr>
          <p:cNvPr id="14" name="Número paso"/>
          <p:cNvSpPr/>
          <p:nvPr/>
        </p:nvSpPr>
        <p:spPr>
          <a:xfrm>
            <a:off x="640080" y="3419856"/>
            <a:ext cx="310896" cy="310896"/>
          </a:xfrm>
          <a:prstGeom prst="ellipse">
            <a:avLst/>
          </a:prstGeom>
          <a:solidFill>
            <a:schemeClr val="tx1"/>
          </a:solidFill>
          <a:ln/>
        </p:spPr>
        <p:txBody>
          <a:bodyPr/>
          <a:p/>
        </p:txBody>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txBody>
          <a:bodyPr/>
          <a:p/>
        </p:txBody>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txBody>
          <a:bodyPr/>
          <a:p/>
        </p:txBody>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txBody>
          <a:bodyPr/>
          <a:p/>
        </p:txBody>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r>
              <a:rPr sz="1000">
                <a:solidFill>
                  <a:srgbClr val="475569"/>
                </a:solidFill>
                <a:latin typeface="Segoe UI"/>
              </a:rPr>
              <a:t>Backtest riguroso: la mitad de los municipios tiene un error inferior al 1,55% a 5 años (vs 7,02% naive). En 5.000 hab., el desvío mediano es de apenas 78 personas.</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8</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txBody>
          <a:bodyPr/>
          <a:p/>
        </p:txBody>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txBody>
          <a:bodyPr/>
          <a:p/>
        </p:txBody>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txBody>
          <a:bodyPr/>
          <a:p/>
        </p:txBody>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txBody>
          <a:bodyPr/>
          <a:p/>
        </p:txBody>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9</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txBody>
          <a:bodyPr/>
          <a:p/>
        </p:txBody>
      </p:sp>
      <p:sp>
        <p:nvSpPr>
          <p:cNvPr id="6" name="Luz semáforo"/>
          <p:cNvSpPr/>
          <p:nvPr/>
        </p:nvSpPr>
        <p:spPr>
          <a:xfrm>
            <a:off x="914400" y="2240280"/>
            <a:ext cx="237744" cy="237744"/>
          </a:xfrm>
          <a:prstGeom prst="ellipse">
            <a:avLst/>
          </a:prstGeom>
          <a:solidFill>
            <a:srgbClr val="2E7D5B"/>
          </a:solidFill>
          <a:ln/>
        </p:spPr>
        <p:txBody>
          <a:bodyPr/>
          <a:p/>
        </p:txBody>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txBody>
          <a:bodyPr/>
          <a:p/>
        </p:txBody>
      </p:sp>
      <p:sp>
        <p:nvSpPr>
          <p:cNvPr id="12" name="Luz semáforo"/>
          <p:cNvSpPr/>
          <p:nvPr/>
        </p:nvSpPr>
        <p:spPr>
          <a:xfrm>
            <a:off x="4631436" y="2240280"/>
            <a:ext cx="237744" cy="237744"/>
          </a:xfrm>
          <a:prstGeom prst="ellipse">
            <a:avLst/>
          </a:prstGeom>
          <a:solidFill>
            <a:srgbClr val="C4820A"/>
          </a:solidFill>
          <a:ln/>
        </p:spPr>
        <p:txBody>
          <a:bodyPr/>
          <a:p/>
        </p:txBody>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txBody>
          <a:bodyPr/>
          <a:p/>
        </p:txBody>
      </p:sp>
      <p:sp>
        <p:nvSpPr>
          <p:cNvPr id="18" name="Luz semáforo"/>
          <p:cNvSpPr/>
          <p:nvPr/>
        </p:nvSpPr>
        <p:spPr>
          <a:xfrm>
            <a:off x="8348472" y="2240280"/>
            <a:ext cx="237744" cy="237744"/>
          </a:xfrm>
          <a:prstGeom prst="ellipse">
            <a:avLst/>
          </a:prstGeom>
          <a:solidFill>
            <a:srgbClr val="C0263F"/>
          </a:solidFill>
          <a:ln/>
        </p:spPr>
        <p:txBody>
          <a:bodyPr/>
          <a:p/>
        </p:txBody>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txBody>
          <a:bodyPr/>
          <a:p/>
        </p:txBody>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10</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100" b="1">
                <a:solidFill>
                  <a:srgbClr val="1E293B"/>
                </a:solidFill>
                <a:latin typeface="Segoe UI"/>
              </a:rPr>
              <a:t>Control de Overfitting: el modelo aprende, no memoriza</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Prevención activa de sobreajuste (overfitting), blindaje contra fugas L1-L7 y validación espacial</a:t>
            </a:r>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a:defRPr sz="1100" b="1">
                <a:solidFill>
                  <a:srgbClr val="B91C1C"/>
                </a:solidFill>
                <a:latin typeface="Segoe UI"/>
              </a:defRPr>
            </a:pPr>
            <a:r>
              <a:t>Overfitting / Memorizar</a:t>
            </a:r>
          </a:p>
          <a:p>
            <a:pPr>
              <a:defRPr sz="950">
                <a:solidFill>
                  <a:srgbClr val="475569"/>
                </a:solidFill>
                <a:latin typeface="Segoe UI"/>
              </a:defRPr>
            </a:pPr>
            <a:r>
              <a:t>Con N = 20 evitamos redes neuronales complejas que sobreajustarían. Modelos regularizados (Ridge, árboles podados) y exportación ONNX.</a:t>
            </a:r>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a:defRPr sz="1100" b="1">
                <a:solidFill>
                  <a:srgbClr val="FFFFFF"/>
                </a:solidFill>
                <a:latin typeface="Segoe UI"/>
              </a:defRPr>
            </a:pPr>
            <a:r>
              <a:t>Comparativa adversarial</a:t>
            </a:r>
          </a:p>
          <a:p>
            <a:pPr>
              <a:spcBef>
                <a:spcPts val="200"/>
              </a:spcBef>
              <a:defRPr sz="950">
                <a:solidFill>
                  <a:srgbClr val="CBD5E1"/>
                </a:solidFill>
                <a:latin typeface="Segoe UI"/>
              </a:defRPr>
            </a:pPr>
            <a:r>
              <a:t>Versiones con y sin fuga deliberada para confirmar que el R² honesto generaliza sin sobreajuste ni trampas.</a:t>
            </a:r>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Validación espacial GroupKFold</a:t>
            </a:r>
            <a:endParaRPr lang="en-US" sz="1600" dirty="0"/>
          </a:p>
          <a:p>
            <a:pPr>
              <a:spcBef>
                <a:spcPts val="200"/>
              </a:spcBef>
              <a:defRPr sz="950">
                <a:solidFill>
                  <a:srgbClr val="CBD5E1"/>
                </a:solidFill>
                <a:latin typeface="Segoe UI"/>
              </a:defRPr>
            </a:pPr>
            <a:r>
              <a:t>Los municipios de una misma comarca van juntos a entrenamiento o a prueba sin filtrar información.</a:t>
            </a:r>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Control point-in-time</a:t>
            </a:r>
            <a:endParaRPr lang="en-US" sz="1600" dirty="0"/>
          </a:p>
          <a:p>
            <a:pPr>
              <a:spcBef>
                <a:spcPts val="200"/>
              </a:spcBef>
              <a:defRPr sz="950">
                <a:solidFill>
                  <a:srgbClr val="CBD5E1"/>
                </a:solidFill>
                <a:latin typeface="Segoe UI"/>
              </a:defRPr>
            </a:pPr>
            <a:r>
              <a:t>Ningún dato de entrada es posterior a la fecha de decisión del MVP para evitar mirar al futuro.</a:t>
            </a:r>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pPr>
              <a:defRPr sz="1100" b="1">
                <a:solidFill>
                  <a:srgbClr val="FFFFFF"/>
                </a:solidFill>
                <a:latin typeface="Segoe UI"/>
              </a:defRPr>
            </a:pPr>
            <a:r>
              <a:t>73 tests continuos en verde</a:t>
            </a:r>
          </a:p>
          <a:p>
            <a:pPr>
              <a:spcBef>
                <a:spcPts val="200"/>
              </a:spcBef>
              <a:defRPr sz="950">
                <a:solidFill>
                  <a:srgbClr val="CBD5E1"/>
                </a:solidFill>
                <a:latin typeface="Segoe UI"/>
              </a:defRPr>
            </a:pPr>
            <a:r>
              <a:t>Auditan las 7 fugas de overfitting (L1 a L7) con pytest para garantizar rigor metodológico.</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11</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txBody>
          <a:bodyPr/>
          <a:p/>
        </p:txBody>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txBody>
          <a:bodyPr/>
          <a:p/>
        </p:txBody>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txBody>
          <a:bodyPr/>
          <a:p/>
        </p:txBody>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txBody>
          <a:bodyPr/>
          <a:p/>
        </p:txBody>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12</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a:defRPr sz="1200" b="1">
                <a:solidFill>
                  <a:srgbClr val="FFFFFF"/>
                </a:solidFill>
                <a:latin typeface="Segoe UI"/>
              </a:defRPr>
            </a:pPr>
            <a:r>
              <a:t>Resolución empírica y Backtest</a:t>
            </a:r>
          </a:p>
          <a:p>
            <a:pPr>
              <a:spcBef>
                <a:spcPts val="200"/>
              </a:spcBef>
              <a:defRPr sz="1000">
                <a:solidFill>
                  <a:srgbClr val="CBD5E1"/>
                </a:solidFill>
                <a:latin typeface="Segoe UI"/>
              </a:defRPr>
            </a:pPr>
            <a:r>
              <a:t>Sustituimos la especulación por un marco cuantitativo verificado con backtesting histórico (1,55% de error mediano) evitando cualquier overfitting.</a:t>
            </a:r>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defRPr sz="1200" b="1">
                <a:solidFill>
                  <a:srgbClr val="FFFFFF"/>
                </a:solidFill>
                <a:latin typeface="Segoe UI"/>
              </a:defRPr>
            </a:pPr>
            <a:r>
              <a:t>Doble utilidad</a:t>
            </a:r>
            <a:endParaRPr lang="en-US" sz="2000" dirty="0"/>
          </a:p>
          <a:p>
            <a:pPr>
              <a:spcBef>
                <a:spcPts val="200"/>
              </a:spcBef>
              <a:defRPr sz="1000">
                <a:solidFill>
                  <a:srgbClr val="CBD5E1"/>
                </a:solidFill>
                <a:latin typeface="Segoe UI"/>
              </a:defRPr>
            </a:pPr>
            <a:r>
              <a:t>Sirve a las familias que planifican su traslado y a los gestores públicos que reparten recursos con rigor.</a:t>
            </a:r>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a:defRPr sz="1700" b="1">
                <a:solidFill>
                  <a:srgbClr val="FFFFFF"/>
                </a:solidFill>
                <a:latin typeface="Segoe UI"/>
              </a:defRPr>
            </a:pPr>
            <a:r>
              <a:t>Oracle 23ai Cloud, Wallet mTLS y Agente IA con MCP (¡Desplegado!)</a:t>
            </a:r>
          </a:p>
          <a:p>
            <a:pPr>
              <a:defRPr sz="1300">
                <a:solidFill>
                  <a:srgbClr val="CBD5E1"/>
                </a:solidFill>
                <a:latin typeface="Segoe UI"/>
              </a:defRPr>
            </a:pPr>
            <a:r>
              <a:t>Desplegado en producción en Oracle Autonomous Database 23ai (Región Madrid eu-madrid-1) con autenticación mTLS por Oracle Wallet (cwallet.sso/ewallet.p12), Workspace APEX DATATHON y servidor MCP (apex-mcp) para interacción con agentes de IA. Capa real de 155 municipios (&lt; 50k hab., 997.059 personas) con 0 nulos.</a:t>
            </a:r>
          </a:p>
        </p:txBody>
      </p:sp>
      <p:sp>
        <p:nvSpPr>
          <p:cNvPr id="10" name="Cita final"/>
          <p:cNvSpPr/>
          <p:nvPr/>
        </p:nvSpPr>
        <p:spPr>
          <a:xfrm>
            <a:off x="7223760" y="1828800"/>
            <a:ext cx="4325112" cy="4297680"/>
          </a:xfrm>
          <a:prstGeom prst="roundRect">
            <a:avLst>
              <a:gd name="adj" fmla="val 2128"/>
            </a:avLst>
          </a:prstGeom>
          <a:solidFill>
            <a:schemeClr val="tx2"/>
          </a:solidFill>
          <a:ln/>
        </p:spPr>
        <p:txBody>
          <a:bodyPr/>
          <a:p/>
        </p:txBody>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r>
              <a:rPr sz="1000">
                <a:solidFill>
                  <a:srgbClr val="94A3B8"/>
                </a:solidFill>
                <a:latin typeface="Segoe UI"/>
              </a:rPr>
              <a:t>13</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txBody>
          <a:bodyPr/>
          <a:p/>
        </p:txBody>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txBody>
          <a:bodyPr/>
          <a:p/>
        </p:txBody>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txBody>
          <a:bodyPr/>
          <a:p/>
        </p:txBody>
      </p:sp>
      <p:sp>
        <p:nvSpPr>
          <p:cNvPr id="12" name="Text 10"/>
          <p:cNvSpPr txBox="1"/>
          <p:nvPr/>
        </p:nvSpPr>
        <p:spPr>
          <a:xfrm>
            <a:off x="914400" y="4389120"/>
            <a:ext cx="4800600" cy="365760"/>
          </a:xfrm>
          <a:prstGeom prst="rect">
            <a:avLst/>
          </a:prstGeom>
          <a:noFill/>
          <a:ln/>
        </p:spPr>
        <p:txBody>
          <a:bodyPr wrap="square" lIns="0" tIns="0" rIns="0" bIns="0" rtlCol="0" anchor="t"/>
          <a:lstStyle/>
          <a:p>
            <a:pPr>
              <a:defRPr sz="1300" b="1">
                <a:solidFill>
                  <a:srgbClr val="C8102E"/>
                </a:solidFill>
                <a:latin typeface="Segoe UI"/>
              </a:defRPr>
            </a:pPr>
            <a:r>
              <a:t>¿Por qué no deep learning / Cómo evitáis el overfitting?</a:t>
            </a:r>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a:defRPr sz="950">
                <a:solidFill>
                  <a:srgbClr val="475569"/>
                </a:solidFill>
                <a:latin typeface="Segoe UI"/>
              </a:defRPr>
            </a:pPr>
            <a:r>
              <a:rPr sz="1000">
                <a:solidFill>
                  <a:srgbClr val="475569"/>
                </a:solidFill>
                <a:latin typeface="Segoe UI"/>
              </a:rPr>
              <a:t>Con 20 municipios, el deep learning causaría un severo overfitting. Empleamos modelos regularizados, validación GroupKFold por comarca y árboles exportados a ONNX con tolerancia &lt; 1e-6.</a:t>
            </a:r>
          </a:p>
        </p:txBody>
      </p:sp>
      <p:sp>
        <p:nvSpPr>
          <p:cNvPr id="14" name="Pregunta"/>
          <p:cNvSpPr/>
          <p:nvPr/>
        </p:nvSpPr>
        <p:spPr>
          <a:xfrm>
            <a:off x="6199632" y="4160520"/>
            <a:ext cx="5349240" cy="2011680"/>
          </a:xfrm>
          <a:prstGeom prst="roundRect">
            <a:avLst>
              <a:gd name="adj" fmla="val 4545"/>
            </a:avLst>
          </a:prstGeom>
          <a:solidFill>
            <a:schemeClr val="bg2"/>
          </a:solidFill>
          <a:ln/>
        </p:spPr>
        <p:txBody>
          <a:bodyPr/>
          <a:p/>
        </p:txBody>
      </p:sp>
      <p:sp>
        <p:nvSpPr>
          <p:cNvPr id="15" name="Text 13"/>
          <p:cNvSpPr txBox="1"/>
          <p:nvPr/>
        </p:nvSpPr>
        <p:spPr>
          <a:xfrm>
            <a:off x="6473952" y="4389120"/>
            <a:ext cx="4800600" cy="365760"/>
          </a:xfrm>
          <a:prstGeom prst="rect">
            <a:avLst/>
          </a:prstGeom>
          <a:noFill/>
          <a:ln/>
        </p:spPr>
        <p:txBody>
          <a:bodyPr wrap="square" lIns="0" tIns="0" rIns="0" bIns="0" rtlCol="0" anchor="t"/>
          <a:lstStyle/>
          <a:p>
            <a:pPr>
              <a:defRPr sz="1700" b="1">
                <a:solidFill>
                  <a:srgbClr val="C53030"/>
                </a:solidFill>
                <a:latin typeface="Segoe UI"/>
              </a:defRPr>
            </a:pPr>
            <a:r>
              <a:t>¿Cómo funciona la Wallet de Oracle y qué agentes IA soporta?</a:t>
            </a:r>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a:defRPr sz="1300">
                <a:solidFill>
                  <a:srgbClr val="475569"/>
                </a:solidFill>
                <a:latin typeface="Segoe UI"/>
              </a:defRPr>
            </a:pPr>
            <a:r>
              <a:t>Conexión cifrada mTLS mediante Oracle Client Wallet (cwallet.sso, ewallet.p12, válidos hasta 2031) a Oracle Autonomous 23ai en Madrid (eu-madrid-1). Aloja el esquema WKSP_DATATHON y expone un servidor estándar MCP (apex-mcp en opencode.json) para que agentes autónomos de IA consulten los 155 municipios en lenguaje natural.</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14</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