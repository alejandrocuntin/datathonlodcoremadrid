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ad79cb0c-73c5-a7db-6bb0-17f61ca8a021}">
          <p14:sldIdLst>
            <p14:sldId id="256"/>
          </p14:sldIdLst>
        </p14:section>
        <p14:section name="Problema" id="{6140f5fe-b817-f66a-fcfc-6641b9e56e37}">
          <p14:sldIdLst>
            <p14:sldId id="257"/>
          </p14:sldIdLst>
        </p14:section>
        <p14:section name="Datos y modelos" id="{402da8f9-781a-f859-5bf7-58461423028e}">
          <p14:sldIdLst>
            <p14:sldId id="258"/>
            <p14:sldId id="259"/>
            <p14:sldId id="260"/>
            <p14:sldId id="261"/>
          </p14:sldIdLst>
        </p14:section>
        <p14:section name="Validación" id="{7a6cbde0-0859-3ff7-fbc5-08bdf50ab9d6}">
          <p14:sldIdLst>
            <p14:sldId id="262"/>
            <p14:sldId id="263"/>
            <p14:sldId id="264"/>
            <p14:sldId id="265"/>
          </p14:sldIdLst>
        </p14:section>
        <p14:section name="Herramientas y cierre" id="{bce62d3b-00e3-19d7-e750-42e9b436cf46}">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Error (%)</c:v>
                </c:pt>
              </c:strCache>
            </c:strRef>
          </c:tx>
          <c:spPr>
            <a:solidFill>
              <a:srgbClr val="424A5E"/>
            </a:solidFill>
            <a:effectLst/>
          </c:spPr>
          <c:invertIfNegative val="0"/>
          <c:dLbls>
            <c:numFmt formatCode="0.00&quot;%&quot;" sourceLinked="0"/>
            <c:txPr>
              <a:bodyPr/>
              <a:lstStyle/>
              <a:p>
                <a:pPr>
                  <a:defRPr b="0" i="0" strike="noStrike" sz="1200" u="none">
                    <a:solidFill>
                      <a:srgbClr val="161A26"/>
                    </a:solidFill>
                    <a:latin typeface="+mn-lt"/>
                  </a:defRPr>
                </a:pPr>
              </a:p>
            </c:txPr>
            <c:showLegendKey val="0"/>
            <c:showVal val="1"/>
            <c:showCatName val="0"/>
            <c:showSerName val="0"/>
            <c:showPercent val="0"/>
            <c:showBubbleSize val="0"/>
            <c:showLeaderLines val="0"/>
          </c:dLbls>
          <c:dPt>
            <c:idx val="0"/>
            <c:invertIfNegative val="0"/>
            <c:bubble3D val="0"/>
            <c:spPr>
              <a:solidFill>
                <a:srgbClr val="424A5E"/>
              </a:solidFill>
              <a:effectLst/>
            </c:spPr>
          </c:dPt>
          <c:dPt>
            <c:idx val="1"/>
            <c:invertIfNegative val="0"/>
            <c:bubble3D val="0"/>
            <c:spPr>
              <a:solidFill>
                <a:srgbClr val="424A5E"/>
              </a:solidFill>
              <a:effectLst/>
            </c:spPr>
          </c:dPt>
          <c:dPt>
            <c:idx val="2"/>
            <c:invertIfNegative val="0"/>
            <c:bubble3D val="0"/>
            <c:spPr>
              <a:solidFill>
                <a:srgbClr val="424A5E"/>
              </a:solidFill>
              <a:effectLst/>
            </c:spPr>
          </c:dPt>
          <c:dPt>
            <c:idx val="3"/>
            <c:invertIfNegative val="0"/>
            <c:bubble3D val="0"/>
            <c:spPr>
              <a:solidFill>
                <a:srgbClr val="424A5E"/>
              </a:solidFill>
              <a:effectLst/>
            </c:spPr>
          </c:dPt>
          <c:dPt>
            <c:idx val="4"/>
            <c:invertIfNegative val="0"/>
            <c:bubble3D val="0"/>
            <c:spPr>
              <a:solidFill>
                <a:srgbClr val="C0263F"/>
              </a:solidFill>
              <a:effectLst/>
            </c:spPr>
          </c:dPt>
          <c:dPt>
            <c:idx val="5"/>
            <c:invertIfNegative val="0"/>
            <c:bubble3D val="0"/>
            <c:spPr>
              <a:solidFill>
                <a:srgbClr val="C0263F"/>
              </a:solidFill>
              <a:effectLst/>
            </c:spPr>
          </c:dPt>
          <c:dPt>
            <c:idx val="6"/>
            <c:invertIfNegative val="0"/>
            <c:bubble3D val="0"/>
            <c:spPr>
              <a:solidFill>
                <a:srgbClr val="C0263F"/>
              </a:solidFill>
              <a:effectLst/>
            </c:spPr>
          </c:dPt>
          <c:cat>
            <c:multiLvlStrRef>
              <c:f>Sheet1!$A$2:$A$8</c:f>
              <c:multiLvlStrCache>
                <c:ptCount val="7"/>
                <c:lvl>
                  <c:pt idx="0">
                    <c:v>Robledo de Chavela</c:v>
                  </c:pt>
                  <c:pt idx="1">
                    <c:v>Manzanares el Real</c:v>
                  </c:pt>
                  <c:pt idx="2">
                    <c:v>Buitrago del Lozoya</c:v>
                  </c:pt>
                  <c:pt idx="3">
                    <c:v>Meco</c:v>
                  </c:pt>
                  <c:pt idx="4">
                    <c:v>Chinchón</c:v>
                  </c:pt>
                  <c:pt idx="5">
                    <c:v>Villa del Prado</c:v>
                  </c:pt>
                  <c:pt idx="6">
                    <c:v>Montejo de la Sierra</c:v>
                  </c:pt>
                </c:lvl>
              </c:multiLvlStrCache>
            </c:multiLvlStrRef>
          </c:cat>
          <c:val>
            <c:numRef>
              <c:f>Sheet1!$B$2:$B$8</c:f>
              <c:numCache>
                <c:formatCode>General</c:formatCode>
                <c:ptCount val="7"/>
                <c:pt idx="0">
                  <c:v>0.06</c:v>
                </c:pt>
                <c:pt idx="1">
                  <c:v>0.39</c:v>
                </c:pt>
                <c:pt idx="2">
                  <c:v>1.17</c:v>
                </c:pt>
                <c:pt idx="3">
                  <c:v>1.86</c:v>
                </c:pt>
                <c:pt idx="4">
                  <c:v>7.07</c:v>
                </c:pt>
                <c:pt idx="5">
                  <c:v>10.66</c:v>
                </c:pt>
                <c:pt idx="6">
                  <c:v>12.31</c:v>
                </c:pt>
              </c:numCache>
            </c:numRef>
          </c:val>
        </c:ser>
        <c:dLbls>
          <c:numFmt formatCode="0.00&quot;%&quot;" sourceLinked="0"/>
          <c:txPr>
            <a:bodyPr/>
            <a:lstStyle/>
            <a:p>
              <a:pPr>
                <a:defRPr b="0" i="0" strike="noStrike" sz="1200" u="none">
                  <a:solidFill>
                    <a:srgbClr val="161A2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24A5E"/>
                </a:solidFill>
                <a:latin typeface="+mn-lt"/>
              </a:defRPr>
            </a:pPr>
            <a:endParaRPr lang="en-US"/>
          </a:p>
        </c:txPr>
        <c:crossAx val="2094734552"/>
        <c:crosses val="autoZero"/>
        <c:auto val="1"/>
        <c:lblAlgn val="ctr"/>
        <c:noMultiLvlLbl val="1"/>
      </c:catAx>
      <c:valAx>
        <c:axId val="2094734552"/>
        <c:scaling>
          <c:orientation val="minMax"/>
          <c:max val="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Habitantes acogibles</c:v>
                </c:pt>
              </c:strCache>
            </c:strRef>
          </c:tx>
          <c:spPr>
            <a:solidFill>
              <a:srgbClr val="C0263F"/>
            </a:solidFill>
            <a:effectLst/>
          </c:spPr>
          <c:invertIfNegative val="0"/>
          <c:dLbls>
            <c:numFmt formatCode="&quot;+&quot;0" sourceLinked="0"/>
            <c:txPr>
              <a:bodyPr/>
              <a:lstStyle/>
              <a:p>
                <a:pPr>
                  <a:defRPr b="0" i="0" strike="noStrike" sz="1200" u="none">
                    <a:solidFill>
                      <a:srgbClr val="161A26"/>
                    </a:solidFill>
                    <a:latin typeface="+mn-lt"/>
                  </a:defRPr>
                </a:pPr>
              </a:p>
            </c:txPr>
            <c:showLegendKey val="0"/>
            <c:showVal val="1"/>
            <c:showCatName val="0"/>
            <c:showSerName val="0"/>
            <c:showPercent val="0"/>
            <c:showBubbleSize val="0"/>
            <c:showLeaderLines val="0"/>
          </c:dLbls>
          <c:cat>
            <c:multiLvlStrRef>
              <c:f>Sheet1!$A$2:$A$5</c:f>
              <c:multiLvlStrCache>
                <c:ptCount val="4"/>
                <c:lvl>
                  <c:pt idx="0">
                    <c:v>Villa del Prado (450.000 €)</c:v>
                  </c:pt>
                  <c:pt idx="1">
                    <c:v>San Martín de Valdeiglesias (600.000 €)</c:v>
                  </c:pt>
                  <c:pt idx="2">
                    <c:v>Robledo de Chavela (600.000 €)</c:v>
                  </c:pt>
                  <c:pt idx="3">
                    <c:v>Navalcarnero (0 €)</c:v>
                  </c:pt>
                </c:lvl>
              </c:multiLvlStrCache>
            </c:multiLvlStrRef>
          </c:cat>
          <c:val>
            <c:numRef>
              <c:f>Sheet1!$B$2:$B$5</c:f>
              <c:numCache>
                <c:formatCode>General</c:formatCode>
                <c:ptCount val="4"/>
                <c:pt idx="0">
                  <c:v>830</c:v>
                </c:pt>
                <c:pt idx="1">
                  <c:v>279</c:v>
                </c:pt>
                <c:pt idx="2">
                  <c:v>227</c:v>
                </c:pt>
                <c:pt idx="3">
                  <c:v>0</c:v>
                </c:pt>
              </c:numCache>
            </c:numRef>
          </c:val>
        </c:ser>
        <c:dLbls>
          <c:numFmt formatCode="&quot;+&quot;0" sourceLinked="0"/>
          <c:txPr>
            <a:bodyPr/>
            <a:lstStyle/>
            <a:p>
              <a:pPr>
                <a:defRPr b="0" i="0" strike="noStrike" sz="1200" u="none">
                  <a:solidFill>
                    <a:srgbClr val="161A2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24A5E"/>
                </a:solidFill>
                <a:latin typeface="+mn-lt"/>
              </a:defRPr>
            </a:pPr>
            <a:endParaRPr lang="en-US"/>
          </a:p>
        </c:txPr>
        <c:crossAx val="2094734552"/>
        <c:crosses val="autoZero"/>
        <c:auto val="1"/>
        <c:lblAlgn val="ctr"/>
        <c:noMultiLvlLbl val="1"/>
      </c:catAx>
      <c:valAx>
        <c:axId val="2094734552"/>
        <c:scaling>
          <c:orientation val="minMax"/>
          <c:max val="1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Presentamos al equipo y el reto. Idea fuerza: el crecimiento regional no se planifica por intuición. Cada punto es un municipio de menos de 50.000 habitantes (155 en total); los resaltados son los 20 del piloto. Puente: empezamos por el problema de partida.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El 80% de la población se concentra en el área metropolitana central. Los 155 municipios pequeños tienen potencial, pero la decisión residencial basada solo en precio es insuficiente: un pueblo barato puede no tener plazas escolares ni médicos. Por la ley del mínimo de Liebig, un servicio crítico en carencia no se compensa con suelo o zonas verdes: si hab/médico &gt; 1.500 o la ocupación escolar &gt; 95%, el índice de capacidad queda en alerta (&lt; 40). Puente: para medirlo hace falta un dato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Cuatro fuentes oficiales (INE, Comunidad de Madrid, Catastro y CRTM) y cada variable lleva su etiqueta REAL o ESTIMADO para no confundir lo observado con lo modelado. Control de calidad: 92 columnas, ningún nulo, 20 códigos INE únicos, todos entre 1 y 49.999 habitantes y magnitudes positivas. El dataset está certificado y congelado, con 36 pruebas unitarias y de integración. Puente: con datos limpios, vemos qué introduce el ciudadano.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El ciudadano introduce seis parámetros: presupuesto, ingresos, tiempo de conexión, transporte, familia y tenencia. El módulo config/perfiles.py los traduce en pesos personales normalizados (suman 1,0) para reordenar municipios sin tocar el ICA objetivo. Python lee el CSV validado y Oracle APEX funciona de forma autónoma; los tests automatizados verifican que dan los mismos pesos y rankings. Oracle no almacena datos personales: solo reglas maestras de ponderación. Puente: detrás de todo esto hay cinco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Recorrer M1 a M5 con la frase del subtítulo. M1: asequibilidad y precio. M2: cuatro subíndices (sanidad, educación, conectividad y calidad residencial). M3: demografía a 2030 y 2035 y año de saturación. M4 es el ICA, el núcleo del proyecto: cuánta gente cabe y qué se rompe primero. M5: recomendador para la familia y optimizador para la Administración. Puente: conviene no confundir tres operaciones.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Evaluar u ordenar no necesita datos del futuro: reordena municipios según preferencias (ranking por perfiles, M5). Predecir sí necesita estimar una incógnita futura: es el modelo M3 con series temporales. Simular no predice: recalcula con reglas normativas ante supuestos hipotéticos, es el simulador what-if y el optimizador Simplex. Puente: veamos cómo de bien predice 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Backtest: con la población real de 2015 y 2020 calculamos la tasa geométrica, proyectamos a 2025 sin ver el dato real y comparamos con el padrón oficial. Error mediano del 1,55% a 5 años frente al 7,02% de suponer que nada cambia. Predicho frente a real: Robledo de Chavela 4.815 / 4.818; Manzanares el Real 9.610 / 9.648; Buitrago del Lozoya 2.058 / 2.034; Meco 16.219 / 15.922; Chinchón 5.390 / 5.800; Villa del Prado 6.918 / 7.743; Montejo de la Sierra 354 / 404. En un municipio de 5.000 habitantes, el desvío suele ser de unas 78 personas. Puente: ¿y el ICA, anticipa el crecimiento?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Ser honestos: el ICA no predice el crecimiento espontáneo (ρ = 0,10, no significativo) y por eso no lo afirmamos. Mide dónde hay infraestructura para crecer sin colapsar. Para estimar la probabilidad de absorción futura se puede combinar con variables de mercado (catastro, migración, brecha de precios). Villa del Prado creció un 16,2% entre 2020 y 2025 con ICA bajo (36,9). Navalcarnero creció un 11,2% (31.979 habitantes) con ICA 24,5, alerta roja. Si la Comunidad no interviene, la inercia seguirá llenando municipios saturados. Puente: el semáforo traduce el ICA en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ALTA (ICA ≥ 60): mucho margen, por ejemplo Robledo 66,7 y Buitrago 62,5. MEDIA (40 a 59): margen condicionado a inversiones puntuales. BAJA (&lt; 40): saturación. La alerta S es el mecanismo no compensatorio: con más de 1.500 hab/médico o más del 95% de ocupación escolar, el ICA se trunca por debajo de 40 y el encaje máximo para cualquier ciudadano queda en 39. Ejemplo documentado: Cercedilla, con puntuación teórica de 34,61 y alerta S. Puente: ¿cómo sabemos que el modelo no hace trampas?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Tres formas de hacer trampa: mirar datos del futuro, mezclar territorios vecinos entre entrenamiento y prueba, y memorizar por sobreajuste con N = 20. Cuatro controles: comparativa adversarial entre modelo honesto y tramposo, validación espacial GroupKFold por comarcas, control point-in-time y 36 tests que auditan las 7 fugas potenciales (L1 a L7). Puente: pasemos a las herramientas para gestionar.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Simulador: «¿si entran 2.000 personas en este pueblo, qué pasa?». Recalcula al instante, dice qué servicio colapsa primero, cuántas plazas o médicos faltan y el coste de reforzarlo. Optimizador con programación lineal Simplex, caso Sierra Oeste con 2.000.000 €: Villa del Prado 450.000 € (1 médico) para +830 habitantes; San Martín de Valdeiglesias 600.000 € (50 plazas) para +279; Robledo de Chavela 600.000 € (50 plazas) para +227; Navalcarnero 0 € porque su restricción es la vivienda. Balance: 1.650.000 € invertidos, +1.336 personas y 350.000 € ahorrados. Puente: cerramos con las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Tres aportaciones: un marco cuantitativo verificado con backtest real, doble utilidad para familias y gestores públicos, y una arquitectura en Oracle 23ai lista para los 155 municipios cuando la Comunidad incorpore los registros internos de centros y plazas. Cerrar con la frase final y dar paso a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oculta de apoyo para el turno de preguntas del jurado.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Turno de preguntas. Recordar el enlace con los datasets y la presentación que pide la organización para la deliberación.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61A2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731520"/>
            <a:ext cx="6400800" cy="274320"/>
          </a:xfrm>
          <a:prstGeom prst="rect">
            <a:avLst/>
          </a:prstGeom>
          <a:noFill/>
          <a:ln/>
        </p:spPr>
        <p:txBody>
          <a:bodyPr wrap="square" rtlCol="0"/>
          <a:lstStyle>
            <a:lvl1pPr algn="l" indent="0" marL="0">
              <a:buNone/>
              <a:defRPr lang="en-US" sz="1200" b="1" spc="300" kern="0" dirty="0">
                <a:solidFill>
                  <a:schemeClr val="accent5"/>
                </a:solidFill>
              </a:defRPr>
            </a:lvl1pPr>
          </a:lstStyle>
          <a:p>
            <a:pPr algn="l" indent="0" marL="0">
              <a:buNone/>
            </a:pPr>
            <a:endParaRPr lang="en-US" sz="1200" dirty="0"/>
          </a:p>
        </p:txBody>
      </p:sp>
      <p:sp>
        <p:nvSpPr>
          <p:cNvPr id="3" name="Text 0"/>
          <p:cNvSpPr/>
          <p:nvPr>
            <p:ph idx="101" type="title" hasCustomPrompt="1"/>
          </p:nvPr>
        </p:nvSpPr>
        <p:spPr>
          <a:xfrm>
            <a:off x="731520" y="1325880"/>
            <a:ext cx="6583680" cy="10058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MadridNext  ·  II Datathon LODCOREMADRID 2026</a:t>
            </a:r>
            <a:endParaRPr lang="en-US" sz="10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61A2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rtlCol="0"/>
          <a:lstStyle>
            <a:lvl1pPr algn="l" indent="0" marL="0">
              <a:buNone/>
              <a:defRPr lang="en-US" sz="1200" b="1" spc="300" kern="0" dirty="0">
                <a:solidFill>
                  <a:schemeClr val="accent6"/>
                </a:solidFill>
              </a:defRPr>
            </a:lvl1pPr>
          </a:lstStyle>
          <a:p>
            <a:pPr algn="l" indent="0" marL="0">
              <a:buNone/>
            </a:pP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MadridNext  ·  II Datathon LODCOREMADRID 2026</a:t>
            </a:r>
            <a:endParaRPr lang="en-US" sz="10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731520"/>
            <a:ext cx="6400800" cy="274320"/>
          </a:xfrm>
          <a:prstGeom prst="rect">
            <a:avLst/>
          </a:prstGeom>
          <a:noFill/>
          <a:ln/>
        </p:spPr>
        <p:txBody>
          <a:bodyPr wrap="square" lIns="0" tIns="0" rIns="0" bIns="0" rtlCol="0" anchor="t"/>
          <a:lstStyle/>
          <a:p>
            <a:pPr algn="l" indent="0" marL="0">
              <a:buNone/>
            </a:pPr>
            <a:r>
              <a:rPr lang="en-US" sz="1200" b="1" spc="300" kern="0" dirty="0">
                <a:solidFill>
                  <a:schemeClr val="accent5"/>
                </a:solidFill>
              </a:rPr>
              <a:t>II DATATHON LODCOREMADRID 2026</a:t>
            </a:r>
            <a:endParaRPr lang="en-US" sz="1200" dirty="0"/>
          </a:p>
        </p:txBody>
      </p:sp>
      <p:sp>
        <p:nvSpPr>
          <p:cNvPr id="3" name="Text 0"/>
          <p:cNvSpPr/>
          <p:nvPr>
            <p:ph idx="101" type="title" hasCustomPrompt="1"/>
          </p:nvPr>
        </p:nvSpPr>
        <p:spPr>
          <a:xfrm>
            <a:off x="731520" y="1325880"/>
            <a:ext cx="6583680" cy="1005840"/>
          </a:xfrm>
          <a:prstGeom prst="rect">
            <a:avLst/>
          </a:prstGeom>
          <a:noFill/>
          <a:ln/>
        </p:spPr>
        <p:txBody>
          <a:bodyPr wrap="square" lIns="0" tIns="0" rIns="0" bIns="0" rtlCol="0" anchor="t"/>
          <a:lstStyle/>
          <a:p>
            <a:pPr algn="l" indent="0" marL="0">
              <a:buNone/>
            </a:pPr>
            <a:r>
              <a:rPr lang="en-US" sz="6000" b="1" dirty="0">
                <a:solidFill>
                  <a:schemeClr val="bg1"/>
                </a:solidFill>
              </a:rPr>
              <a:t>MadridNext</a:t>
            </a:r>
            <a:endParaRPr lang="en-US" sz="6000" dirty="0"/>
          </a:p>
        </p:txBody>
      </p:sp>
      <p:sp>
        <p:nvSpPr>
          <p:cNvPr id="4" name="Text 2"/>
          <p:cNvSpPr txBox="1"/>
          <p:nvPr/>
        </p:nvSpPr>
        <p:spPr>
          <a:xfrm>
            <a:off x="731520" y="2377440"/>
            <a:ext cx="6583680" cy="502920"/>
          </a:xfrm>
          <a:prstGeom prst="rect">
            <a:avLst/>
          </a:prstGeom>
          <a:noFill/>
          <a:ln/>
        </p:spPr>
        <p:txBody>
          <a:bodyPr wrap="square" lIns="0" tIns="0" rIns="0" bIns="0" rtlCol="0" anchor="t"/>
          <a:lstStyle/>
          <a:p>
            <a:pPr indent="0" marL="0">
              <a:buNone/>
            </a:pPr>
            <a:r>
              <a:rPr lang="en-US" sz="2800" dirty="0">
                <a:solidFill>
                  <a:schemeClr val="accent6"/>
                </a:solidFill>
                <a:latin typeface="+mj-lt" pitchFamily="34" charset="0"/>
                <a:ea typeface="+mj-lt" pitchFamily="34" charset="-122"/>
                <a:cs typeface="+mj-lt" pitchFamily="34" charset="-120"/>
              </a:rPr>
              <a:t>Capacidad de acogida territorial</a:t>
            </a:r>
            <a:endParaRPr lang="en-US" sz="2800" dirty="0"/>
          </a:p>
        </p:txBody>
      </p:sp>
      <p:sp>
        <p:nvSpPr>
          <p:cNvPr id="5" name="Text 3"/>
          <p:cNvSpPr txBox="1"/>
          <p:nvPr/>
        </p:nvSpPr>
        <p:spPr>
          <a:xfrm>
            <a:off x="731520" y="3063240"/>
            <a:ext cx="6217920" cy="777240"/>
          </a:xfrm>
          <a:prstGeom prst="rect">
            <a:avLst/>
          </a:prstGeom>
          <a:noFill/>
          <a:ln/>
        </p:spPr>
        <p:txBody>
          <a:bodyPr wrap="square" lIns="0" tIns="0" rIns="0" bIns="0" rtlCol="0" anchor="t"/>
          <a:lstStyle/>
          <a:p>
            <a:pPr indent="0" marL="0">
              <a:buNone/>
            </a:pPr>
            <a:r>
              <a:rPr lang="en-US" sz="1600" dirty="0">
                <a:solidFill>
                  <a:schemeClr val="bg1"/>
                </a:solidFill>
              </a:rPr>
              <a:t>Herramienta de diagnóstico dotacional y optimización presupuestaria para municipios de menos de 50.000 habitantes</a:t>
            </a:r>
            <a:endParaRPr lang="en-US" sz="1600" dirty="0"/>
          </a:p>
        </p:txBody>
      </p:sp>
      <p:sp>
        <p:nvSpPr>
          <p:cNvPr id="6" name="Text 4"/>
          <p:cNvSpPr txBox="1"/>
          <p:nvPr/>
        </p:nvSpPr>
        <p:spPr>
          <a:xfrm>
            <a:off x="731520" y="4160520"/>
            <a:ext cx="6217920" cy="1325880"/>
          </a:xfrm>
          <a:prstGeom prst="rect">
            <a:avLst/>
          </a:prstGeom>
          <a:noFill/>
          <a:ln/>
        </p:spPr>
        <p:txBody>
          <a:bodyPr wrap="square" lIns="0" tIns="0" rIns="0" bIns="0" rtlCol="0" anchor="t"/>
          <a:lstStyle/>
          <a:p>
            <a:pPr indent="0" marL="0">
              <a:buNone/>
            </a:pPr>
            <a:r>
              <a:rPr lang="en-US" sz="1400" i="1" dirty="0">
                <a:solidFill>
                  <a:schemeClr val="accent5"/>
                </a:solidFill>
              </a:rPr>
              <a:t>«El crecimiento demográfico regional no debe planificarse por intuición ni por mero atractivo inmobiliario. MadridNext ofrece a la Administración y a la ciudadanía una base objetiva para identificar techos dotacionales, prever cuellos de botella y priorizar inversiones públicas.»</a:t>
            </a:r>
            <a:endParaRPr lang="en-US" sz="1400" dirty="0"/>
          </a:p>
        </p:txBody>
      </p:sp>
      <p:sp>
        <p:nvSpPr>
          <p:cNvPr id="7" name="Text 5"/>
          <p:cNvSpPr txBox="1"/>
          <p:nvPr/>
        </p:nvSpPr>
        <p:spPr>
          <a:xfrm>
            <a:off x="731520" y="5989320"/>
            <a:ext cx="6766560" cy="274320"/>
          </a:xfrm>
          <a:prstGeom prst="rect">
            <a:avLst/>
          </a:prstGeom>
          <a:noFill/>
          <a:ln/>
        </p:spPr>
        <p:txBody>
          <a:bodyPr wrap="square" lIns="0" tIns="0" rIns="0" bIns="0" rtlCol="0" anchor="t"/>
          <a:lstStyle/>
          <a:p>
            <a:pPr indent="0" marL="0">
              <a:buNone/>
            </a:pPr>
            <a:r>
              <a:rPr lang="en-US" sz="1400" b="1" dirty="0">
                <a:solidFill>
                  <a:schemeClr val="bg1"/>
                </a:solidFill>
              </a:rPr>
              <a:t>Adrián Hernando Muñoz   ·   Juan Torrero de Pablo   ·   Alejandro Cuntin Bariteau</a:t>
            </a:r>
            <a:endParaRPr lang="en-US" sz="1400" dirty="0"/>
          </a:p>
        </p:txBody>
      </p:sp>
      <p:sp>
        <p:nvSpPr>
          <p:cNvPr id="8" name="Municipio"/>
          <p:cNvSpPr/>
          <p:nvPr/>
        </p:nvSpPr>
        <p:spPr>
          <a:xfrm>
            <a:off x="7818120" y="1051560"/>
            <a:ext cx="155448" cy="155448"/>
          </a:xfrm>
          <a:prstGeom prst="ellipse">
            <a:avLst/>
          </a:prstGeom>
          <a:solidFill>
            <a:srgbClr val="98A2B3">
              <a:alpha val="45000"/>
            </a:srgbClr>
          </a:solidFill>
          <a:ln/>
        </p:spPr>
      </p:sp>
      <p:sp>
        <p:nvSpPr>
          <p:cNvPr id="9" name="Municipio"/>
          <p:cNvSpPr/>
          <p:nvPr/>
        </p:nvSpPr>
        <p:spPr>
          <a:xfrm>
            <a:off x="8129016" y="1051560"/>
            <a:ext cx="155448" cy="155448"/>
          </a:xfrm>
          <a:prstGeom prst="ellipse">
            <a:avLst/>
          </a:prstGeom>
          <a:solidFill>
            <a:srgbClr val="98A2B3">
              <a:alpha val="45000"/>
            </a:srgbClr>
          </a:solidFill>
          <a:ln/>
        </p:spPr>
      </p:sp>
      <p:sp>
        <p:nvSpPr>
          <p:cNvPr id="10" name="Municipio"/>
          <p:cNvSpPr/>
          <p:nvPr/>
        </p:nvSpPr>
        <p:spPr>
          <a:xfrm>
            <a:off x="8439912" y="1051560"/>
            <a:ext cx="155448" cy="155448"/>
          </a:xfrm>
          <a:prstGeom prst="ellipse">
            <a:avLst/>
          </a:prstGeom>
          <a:solidFill>
            <a:srgbClr val="98A2B3">
              <a:alpha val="45000"/>
            </a:srgbClr>
          </a:solidFill>
          <a:ln/>
        </p:spPr>
      </p:sp>
      <p:sp>
        <p:nvSpPr>
          <p:cNvPr id="11" name="Municipio"/>
          <p:cNvSpPr/>
          <p:nvPr/>
        </p:nvSpPr>
        <p:spPr>
          <a:xfrm>
            <a:off x="8750808" y="1051560"/>
            <a:ext cx="155448" cy="155448"/>
          </a:xfrm>
          <a:prstGeom prst="ellipse">
            <a:avLst/>
          </a:prstGeom>
          <a:solidFill>
            <a:srgbClr val="98A2B3">
              <a:alpha val="45000"/>
            </a:srgbClr>
          </a:solidFill>
          <a:ln/>
        </p:spPr>
      </p:sp>
      <p:sp>
        <p:nvSpPr>
          <p:cNvPr id="12" name="Municipio"/>
          <p:cNvSpPr/>
          <p:nvPr/>
        </p:nvSpPr>
        <p:spPr>
          <a:xfrm>
            <a:off x="9061704" y="1051560"/>
            <a:ext cx="155448" cy="155448"/>
          </a:xfrm>
          <a:prstGeom prst="ellipse">
            <a:avLst/>
          </a:prstGeom>
          <a:solidFill>
            <a:srgbClr val="98A2B3">
              <a:alpha val="45000"/>
            </a:srgbClr>
          </a:solidFill>
          <a:ln/>
        </p:spPr>
      </p:sp>
      <p:sp>
        <p:nvSpPr>
          <p:cNvPr id="13" name="Municipio piloto"/>
          <p:cNvSpPr/>
          <p:nvPr/>
        </p:nvSpPr>
        <p:spPr>
          <a:xfrm>
            <a:off x="9372600" y="1051560"/>
            <a:ext cx="155448" cy="155448"/>
          </a:xfrm>
          <a:prstGeom prst="ellipse">
            <a:avLst/>
          </a:prstGeom>
          <a:solidFill>
            <a:schemeClr val="accent6"/>
          </a:solidFill>
          <a:ln/>
        </p:spPr>
      </p:sp>
      <p:sp>
        <p:nvSpPr>
          <p:cNvPr id="14" name="Municipio"/>
          <p:cNvSpPr/>
          <p:nvPr/>
        </p:nvSpPr>
        <p:spPr>
          <a:xfrm>
            <a:off x="9683496" y="1051560"/>
            <a:ext cx="155448" cy="155448"/>
          </a:xfrm>
          <a:prstGeom prst="ellipse">
            <a:avLst/>
          </a:prstGeom>
          <a:solidFill>
            <a:srgbClr val="98A2B3">
              <a:alpha val="45000"/>
            </a:srgbClr>
          </a:solidFill>
          <a:ln/>
        </p:spPr>
      </p:sp>
      <p:sp>
        <p:nvSpPr>
          <p:cNvPr id="15" name="Municipio"/>
          <p:cNvSpPr/>
          <p:nvPr/>
        </p:nvSpPr>
        <p:spPr>
          <a:xfrm>
            <a:off x="9994392" y="1051560"/>
            <a:ext cx="155448" cy="155448"/>
          </a:xfrm>
          <a:prstGeom prst="ellipse">
            <a:avLst/>
          </a:prstGeom>
          <a:solidFill>
            <a:srgbClr val="98A2B3">
              <a:alpha val="45000"/>
            </a:srgbClr>
          </a:solidFill>
          <a:ln/>
        </p:spPr>
      </p:sp>
      <p:sp>
        <p:nvSpPr>
          <p:cNvPr id="16" name="Municipio"/>
          <p:cNvSpPr/>
          <p:nvPr/>
        </p:nvSpPr>
        <p:spPr>
          <a:xfrm>
            <a:off x="10305288" y="1051560"/>
            <a:ext cx="155448" cy="155448"/>
          </a:xfrm>
          <a:prstGeom prst="ellipse">
            <a:avLst/>
          </a:prstGeom>
          <a:solidFill>
            <a:srgbClr val="98A2B3">
              <a:alpha val="45000"/>
            </a:srgbClr>
          </a:solidFill>
          <a:ln/>
        </p:spPr>
      </p:sp>
      <p:sp>
        <p:nvSpPr>
          <p:cNvPr id="17" name="Municipio"/>
          <p:cNvSpPr/>
          <p:nvPr/>
        </p:nvSpPr>
        <p:spPr>
          <a:xfrm>
            <a:off x="10616184" y="1051560"/>
            <a:ext cx="155448" cy="155448"/>
          </a:xfrm>
          <a:prstGeom prst="ellipse">
            <a:avLst/>
          </a:prstGeom>
          <a:solidFill>
            <a:srgbClr val="98A2B3">
              <a:alpha val="45000"/>
            </a:srgbClr>
          </a:solidFill>
          <a:ln/>
        </p:spPr>
      </p:sp>
      <p:sp>
        <p:nvSpPr>
          <p:cNvPr id="18" name="Municipio"/>
          <p:cNvSpPr/>
          <p:nvPr/>
        </p:nvSpPr>
        <p:spPr>
          <a:xfrm>
            <a:off x="10927080" y="1051560"/>
            <a:ext cx="155448" cy="155448"/>
          </a:xfrm>
          <a:prstGeom prst="ellipse">
            <a:avLst/>
          </a:prstGeom>
          <a:solidFill>
            <a:srgbClr val="98A2B3">
              <a:alpha val="45000"/>
            </a:srgbClr>
          </a:solidFill>
          <a:ln/>
        </p:spPr>
      </p:sp>
      <p:sp>
        <p:nvSpPr>
          <p:cNvPr id="19" name="Municipio"/>
          <p:cNvSpPr/>
          <p:nvPr/>
        </p:nvSpPr>
        <p:spPr>
          <a:xfrm>
            <a:off x="11237976" y="1051560"/>
            <a:ext cx="155448" cy="155448"/>
          </a:xfrm>
          <a:prstGeom prst="ellipse">
            <a:avLst/>
          </a:prstGeom>
          <a:solidFill>
            <a:srgbClr val="98A2B3">
              <a:alpha val="45000"/>
            </a:srgbClr>
          </a:solidFill>
          <a:ln/>
        </p:spPr>
      </p:sp>
      <p:sp>
        <p:nvSpPr>
          <p:cNvPr id="20" name="Municipio"/>
          <p:cNvSpPr/>
          <p:nvPr/>
        </p:nvSpPr>
        <p:spPr>
          <a:xfrm>
            <a:off x="11548872" y="1051560"/>
            <a:ext cx="155448" cy="155448"/>
          </a:xfrm>
          <a:prstGeom prst="ellipse">
            <a:avLst/>
          </a:prstGeom>
          <a:solidFill>
            <a:srgbClr val="98A2B3">
              <a:alpha val="45000"/>
            </a:srgbClr>
          </a:solidFill>
          <a:ln/>
        </p:spPr>
      </p:sp>
      <p:sp>
        <p:nvSpPr>
          <p:cNvPr id="21" name="Municipio"/>
          <p:cNvSpPr/>
          <p:nvPr/>
        </p:nvSpPr>
        <p:spPr>
          <a:xfrm>
            <a:off x="7818120" y="1417320"/>
            <a:ext cx="155448" cy="155448"/>
          </a:xfrm>
          <a:prstGeom prst="ellipse">
            <a:avLst/>
          </a:prstGeom>
          <a:solidFill>
            <a:srgbClr val="98A2B3">
              <a:alpha val="45000"/>
            </a:srgbClr>
          </a:solidFill>
          <a:ln/>
        </p:spPr>
      </p:sp>
      <p:sp>
        <p:nvSpPr>
          <p:cNvPr id="22" name="Municipio"/>
          <p:cNvSpPr/>
          <p:nvPr/>
        </p:nvSpPr>
        <p:spPr>
          <a:xfrm>
            <a:off x="8129016" y="1417320"/>
            <a:ext cx="155448" cy="155448"/>
          </a:xfrm>
          <a:prstGeom prst="ellipse">
            <a:avLst/>
          </a:prstGeom>
          <a:solidFill>
            <a:srgbClr val="98A2B3">
              <a:alpha val="45000"/>
            </a:srgbClr>
          </a:solidFill>
          <a:ln/>
        </p:spPr>
      </p:sp>
      <p:sp>
        <p:nvSpPr>
          <p:cNvPr id="23" name="Municipio"/>
          <p:cNvSpPr/>
          <p:nvPr/>
        </p:nvSpPr>
        <p:spPr>
          <a:xfrm>
            <a:off x="8439912" y="1417320"/>
            <a:ext cx="155448" cy="155448"/>
          </a:xfrm>
          <a:prstGeom prst="ellipse">
            <a:avLst/>
          </a:prstGeom>
          <a:solidFill>
            <a:srgbClr val="98A2B3">
              <a:alpha val="45000"/>
            </a:srgbClr>
          </a:solidFill>
          <a:ln/>
        </p:spPr>
      </p:sp>
      <p:sp>
        <p:nvSpPr>
          <p:cNvPr id="24" name="Municipio"/>
          <p:cNvSpPr/>
          <p:nvPr/>
        </p:nvSpPr>
        <p:spPr>
          <a:xfrm>
            <a:off x="8750808" y="1417320"/>
            <a:ext cx="155448" cy="155448"/>
          </a:xfrm>
          <a:prstGeom prst="ellipse">
            <a:avLst/>
          </a:prstGeom>
          <a:solidFill>
            <a:srgbClr val="98A2B3">
              <a:alpha val="45000"/>
            </a:srgbClr>
          </a:solidFill>
          <a:ln/>
        </p:spPr>
      </p:sp>
      <p:sp>
        <p:nvSpPr>
          <p:cNvPr id="25" name="Municipio"/>
          <p:cNvSpPr/>
          <p:nvPr/>
        </p:nvSpPr>
        <p:spPr>
          <a:xfrm>
            <a:off x="9061704" y="1417320"/>
            <a:ext cx="155448" cy="155448"/>
          </a:xfrm>
          <a:prstGeom prst="ellipse">
            <a:avLst/>
          </a:prstGeom>
          <a:solidFill>
            <a:srgbClr val="98A2B3">
              <a:alpha val="45000"/>
            </a:srgbClr>
          </a:solidFill>
          <a:ln/>
        </p:spPr>
      </p:sp>
      <p:sp>
        <p:nvSpPr>
          <p:cNvPr id="26" name="Municipio"/>
          <p:cNvSpPr/>
          <p:nvPr/>
        </p:nvSpPr>
        <p:spPr>
          <a:xfrm>
            <a:off x="9372600" y="1417320"/>
            <a:ext cx="155448" cy="155448"/>
          </a:xfrm>
          <a:prstGeom prst="ellipse">
            <a:avLst/>
          </a:prstGeom>
          <a:solidFill>
            <a:srgbClr val="98A2B3">
              <a:alpha val="45000"/>
            </a:srgbClr>
          </a:solidFill>
          <a:ln/>
        </p:spPr>
      </p:sp>
      <p:sp>
        <p:nvSpPr>
          <p:cNvPr id="27" name="Municipio"/>
          <p:cNvSpPr/>
          <p:nvPr/>
        </p:nvSpPr>
        <p:spPr>
          <a:xfrm>
            <a:off x="9683496" y="1417320"/>
            <a:ext cx="155448" cy="155448"/>
          </a:xfrm>
          <a:prstGeom prst="ellipse">
            <a:avLst/>
          </a:prstGeom>
          <a:solidFill>
            <a:srgbClr val="98A2B3">
              <a:alpha val="45000"/>
            </a:srgbClr>
          </a:solidFill>
          <a:ln/>
        </p:spPr>
      </p:sp>
      <p:sp>
        <p:nvSpPr>
          <p:cNvPr id="28" name="Municipio"/>
          <p:cNvSpPr/>
          <p:nvPr/>
        </p:nvSpPr>
        <p:spPr>
          <a:xfrm>
            <a:off x="9994392" y="1417320"/>
            <a:ext cx="155448" cy="155448"/>
          </a:xfrm>
          <a:prstGeom prst="ellipse">
            <a:avLst/>
          </a:prstGeom>
          <a:solidFill>
            <a:srgbClr val="98A2B3">
              <a:alpha val="45000"/>
            </a:srgbClr>
          </a:solidFill>
          <a:ln/>
        </p:spPr>
      </p:sp>
      <p:sp>
        <p:nvSpPr>
          <p:cNvPr id="29" name="Municipio"/>
          <p:cNvSpPr/>
          <p:nvPr/>
        </p:nvSpPr>
        <p:spPr>
          <a:xfrm>
            <a:off x="10305288" y="1417320"/>
            <a:ext cx="155448" cy="155448"/>
          </a:xfrm>
          <a:prstGeom prst="ellipse">
            <a:avLst/>
          </a:prstGeom>
          <a:solidFill>
            <a:srgbClr val="98A2B3">
              <a:alpha val="45000"/>
            </a:srgbClr>
          </a:solidFill>
          <a:ln/>
        </p:spPr>
      </p:sp>
      <p:sp>
        <p:nvSpPr>
          <p:cNvPr id="30" name="Municipio"/>
          <p:cNvSpPr/>
          <p:nvPr/>
        </p:nvSpPr>
        <p:spPr>
          <a:xfrm>
            <a:off x="10616184" y="1417320"/>
            <a:ext cx="155448" cy="155448"/>
          </a:xfrm>
          <a:prstGeom prst="ellipse">
            <a:avLst/>
          </a:prstGeom>
          <a:solidFill>
            <a:srgbClr val="98A2B3">
              <a:alpha val="45000"/>
            </a:srgbClr>
          </a:solidFill>
          <a:ln/>
        </p:spPr>
      </p:sp>
      <p:sp>
        <p:nvSpPr>
          <p:cNvPr id="31" name="Municipio"/>
          <p:cNvSpPr/>
          <p:nvPr/>
        </p:nvSpPr>
        <p:spPr>
          <a:xfrm>
            <a:off x="10927080" y="1417320"/>
            <a:ext cx="155448" cy="155448"/>
          </a:xfrm>
          <a:prstGeom prst="ellipse">
            <a:avLst/>
          </a:prstGeom>
          <a:solidFill>
            <a:srgbClr val="98A2B3">
              <a:alpha val="45000"/>
            </a:srgbClr>
          </a:solidFill>
          <a:ln/>
        </p:spPr>
      </p:sp>
      <p:sp>
        <p:nvSpPr>
          <p:cNvPr id="32" name="Municipio"/>
          <p:cNvSpPr/>
          <p:nvPr/>
        </p:nvSpPr>
        <p:spPr>
          <a:xfrm>
            <a:off x="11237976" y="1417320"/>
            <a:ext cx="155448" cy="155448"/>
          </a:xfrm>
          <a:prstGeom prst="ellipse">
            <a:avLst/>
          </a:prstGeom>
          <a:solidFill>
            <a:srgbClr val="98A2B3">
              <a:alpha val="45000"/>
            </a:srgbClr>
          </a:solidFill>
          <a:ln/>
        </p:spPr>
      </p:sp>
      <p:sp>
        <p:nvSpPr>
          <p:cNvPr id="33" name="Municipio"/>
          <p:cNvSpPr/>
          <p:nvPr/>
        </p:nvSpPr>
        <p:spPr>
          <a:xfrm>
            <a:off x="11548872" y="1417320"/>
            <a:ext cx="155448" cy="155448"/>
          </a:xfrm>
          <a:prstGeom prst="ellipse">
            <a:avLst/>
          </a:prstGeom>
          <a:solidFill>
            <a:srgbClr val="98A2B3">
              <a:alpha val="45000"/>
            </a:srgbClr>
          </a:solidFill>
          <a:ln/>
        </p:spPr>
      </p:sp>
      <p:sp>
        <p:nvSpPr>
          <p:cNvPr id="34" name="Municipio piloto"/>
          <p:cNvSpPr/>
          <p:nvPr/>
        </p:nvSpPr>
        <p:spPr>
          <a:xfrm>
            <a:off x="7818120" y="1783080"/>
            <a:ext cx="155448" cy="155448"/>
          </a:xfrm>
          <a:prstGeom prst="ellipse">
            <a:avLst/>
          </a:prstGeom>
          <a:solidFill>
            <a:schemeClr val="accent6"/>
          </a:solidFill>
          <a:ln/>
        </p:spPr>
      </p:sp>
      <p:sp>
        <p:nvSpPr>
          <p:cNvPr id="35" name="Municipio"/>
          <p:cNvSpPr/>
          <p:nvPr/>
        </p:nvSpPr>
        <p:spPr>
          <a:xfrm>
            <a:off x="8129016" y="1783080"/>
            <a:ext cx="155448" cy="155448"/>
          </a:xfrm>
          <a:prstGeom prst="ellipse">
            <a:avLst/>
          </a:prstGeom>
          <a:solidFill>
            <a:srgbClr val="98A2B3">
              <a:alpha val="45000"/>
            </a:srgbClr>
          </a:solidFill>
          <a:ln/>
        </p:spPr>
      </p:sp>
      <p:sp>
        <p:nvSpPr>
          <p:cNvPr id="36" name="Municipio"/>
          <p:cNvSpPr/>
          <p:nvPr/>
        </p:nvSpPr>
        <p:spPr>
          <a:xfrm>
            <a:off x="8439912" y="1783080"/>
            <a:ext cx="155448" cy="155448"/>
          </a:xfrm>
          <a:prstGeom prst="ellipse">
            <a:avLst/>
          </a:prstGeom>
          <a:solidFill>
            <a:srgbClr val="98A2B3">
              <a:alpha val="45000"/>
            </a:srgbClr>
          </a:solidFill>
          <a:ln/>
        </p:spPr>
      </p:sp>
      <p:sp>
        <p:nvSpPr>
          <p:cNvPr id="37" name="Municipio"/>
          <p:cNvSpPr/>
          <p:nvPr/>
        </p:nvSpPr>
        <p:spPr>
          <a:xfrm>
            <a:off x="8750808" y="1783080"/>
            <a:ext cx="155448" cy="155448"/>
          </a:xfrm>
          <a:prstGeom prst="ellipse">
            <a:avLst/>
          </a:prstGeom>
          <a:solidFill>
            <a:srgbClr val="98A2B3">
              <a:alpha val="45000"/>
            </a:srgbClr>
          </a:solidFill>
          <a:ln/>
        </p:spPr>
      </p:sp>
      <p:sp>
        <p:nvSpPr>
          <p:cNvPr id="38" name="Municipio"/>
          <p:cNvSpPr/>
          <p:nvPr/>
        </p:nvSpPr>
        <p:spPr>
          <a:xfrm>
            <a:off x="9061704" y="1783080"/>
            <a:ext cx="155448" cy="155448"/>
          </a:xfrm>
          <a:prstGeom prst="ellipse">
            <a:avLst/>
          </a:prstGeom>
          <a:solidFill>
            <a:srgbClr val="98A2B3">
              <a:alpha val="45000"/>
            </a:srgbClr>
          </a:solidFill>
          <a:ln/>
        </p:spPr>
      </p:sp>
      <p:sp>
        <p:nvSpPr>
          <p:cNvPr id="39" name="Municipio"/>
          <p:cNvSpPr/>
          <p:nvPr/>
        </p:nvSpPr>
        <p:spPr>
          <a:xfrm>
            <a:off x="9372600" y="1783080"/>
            <a:ext cx="155448" cy="155448"/>
          </a:xfrm>
          <a:prstGeom prst="ellipse">
            <a:avLst/>
          </a:prstGeom>
          <a:solidFill>
            <a:srgbClr val="98A2B3">
              <a:alpha val="45000"/>
            </a:srgbClr>
          </a:solidFill>
          <a:ln/>
        </p:spPr>
      </p:sp>
      <p:sp>
        <p:nvSpPr>
          <p:cNvPr id="40" name="Municipio"/>
          <p:cNvSpPr/>
          <p:nvPr/>
        </p:nvSpPr>
        <p:spPr>
          <a:xfrm>
            <a:off x="9683496" y="1783080"/>
            <a:ext cx="155448" cy="155448"/>
          </a:xfrm>
          <a:prstGeom prst="ellipse">
            <a:avLst/>
          </a:prstGeom>
          <a:solidFill>
            <a:srgbClr val="98A2B3">
              <a:alpha val="45000"/>
            </a:srgbClr>
          </a:solidFill>
          <a:ln/>
        </p:spPr>
      </p:sp>
      <p:sp>
        <p:nvSpPr>
          <p:cNvPr id="41" name="Municipio"/>
          <p:cNvSpPr/>
          <p:nvPr/>
        </p:nvSpPr>
        <p:spPr>
          <a:xfrm>
            <a:off x="9994392" y="1783080"/>
            <a:ext cx="155448" cy="155448"/>
          </a:xfrm>
          <a:prstGeom prst="ellipse">
            <a:avLst/>
          </a:prstGeom>
          <a:solidFill>
            <a:srgbClr val="98A2B3">
              <a:alpha val="45000"/>
            </a:srgbClr>
          </a:solidFill>
          <a:ln/>
        </p:spPr>
      </p:sp>
      <p:sp>
        <p:nvSpPr>
          <p:cNvPr id="42" name="Municipio"/>
          <p:cNvSpPr/>
          <p:nvPr/>
        </p:nvSpPr>
        <p:spPr>
          <a:xfrm>
            <a:off x="10305288" y="1783080"/>
            <a:ext cx="155448" cy="155448"/>
          </a:xfrm>
          <a:prstGeom prst="ellipse">
            <a:avLst/>
          </a:prstGeom>
          <a:solidFill>
            <a:srgbClr val="98A2B3">
              <a:alpha val="45000"/>
            </a:srgbClr>
          </a:solidFill>
          <a:ln/>
        </p:spPr>
      </p:sp>
      <p:sp>
        <p:nvSpPr>
          <p:cNvPr id="43" name="Municipio"/>
          <p:cNvSpPr/>
          <p:nvPr/>
        </p:nvSpPr>
        <p:spPr>
          <a:xfrm>
            <a:off x="10616184" y="1783080"/>
            <a:ext cx="155448" cy="155448"/>
          </a:xfrm>
          <a:prstGeom prst="ellipse">
            <a:avLst/>
          </a:prstGeom>
          <a:solidFill>
            <a:srgbClr val="98A2B3">
              <a:alpha val="45000"/>
            </a:srgbClr>
          </a:solidFill>
          <a:ln/>
        </p:spPr>
      </p:sp>
      <p:sp>
        <p:nvSpPr>
          <p:cNvPr id="44" name="Municipio"/>
          <p:cNvSpPr/>
          <p:nvPr/>
        </p:nvSpPr>
        <p:spPr>
          <a:xfrm>
            <a:off x="10927080" y="1783080"/>
            <a:ext cx="155448" cy="155448"/>
          </a:xfrm>
          <a:prstGeom prst="ellipse">
            <a:avLst/>
          </a:prstGeom>
          <a:solidFill>
            <a:srgbClr val="98A2B3">
              <a:alpha val="45000"/>
            </a:srgbClr>
          </a:solidFill>
          <a:ln/>
        </p:spPr>
      </p:sp>
      <p:sp>
        <p:nvSpPr>
          <p:cNvPr id="45" name="Municipio"/>
          <p:cNvSpPr/>
          <p:nvPr/>
        </p:nvSpPr>
        <p:spPr>
          <a:xfrm>
            <a:off x="11237976" y="1783080"/>
            <a:ext cx="155448" cy="155448"/>
          </a:xfrm>
          <a:prstGeom prst="ellipse">
            <a:avLst/>
          </a:prstGeom>
          <a:solidFill>
            <a:srgbClr val="98A2B3">
              <a:alpha val="45000"/>
            </a:srgbClr>
          </a:solidFill>
          <a:ln/>
        </p:spPr>
      </p:sp>
      <p:sp>
        <p:nvSpPr>
          <p:cNvPr id="46" name="Municipio piloto"/>
          <p:cNvSpPr/>
          <p:nvPr/>
        </p:nvSpPr>
        <p:spPr>
          <a:xfrm>
            <a:off x="11548872" y="1783080"/>
            <a:ext cx="155448" cy="155448"/>
          </a:xfrm>
          <a:prstGeom prst="ellipse">
            <a:avLst/>
          </a:prstGeom>
          <a:solidFill>
            <a:schemeClr val="accent6"/>
          </a:solidFill>
          <a:ln/>
        </p:spPr>
      </p:sp>
      <p:sp>
        <p:nvSpPr>
          <p:cNvPr id="47" name="Municipio"/>
          <p:cNvSpPr/>
          <p:nvPr/>
        </p:nvSpPr>
        <p:spPr>
          <a:xfrm>
            <a:off x="7818120" y="2148840"/>
            <a:ext cx="155448" cy="155448"/>
          </a:xfrm>
          <a:prstGeom prst="ellipse">
            <a:avLst/>
          </a:prstGeom>
          <a:solidFill>
            <a:srgbClr val="98A2B3">
              <a:alpha val="45000"/>
            </a:srgbClr>
          </a:solidFill>
          <a:ln/>
        </p:spPr>
      </p:sp>
      <p:sp>
        <p:nvSpPr>
          <p:cNvPr id="48" name="Municipio"/>
          <p:cNvSpPr/>
          <p:nvPr/>
        </p:nvSpPr>
        <p:spPr>
          <a:xfrm>
            <a:off x="8129016" y="2148840"/>
            <a:ext cx="155448" cy="155448"/>
          </a:xfrm>
          <a:prstGeom prst="ellipse">
            <a:avLst/>
          </a:prstGeom>
          <a:solidFill>
            <a:srgbClr val="98A2B3">
              <a:alpha val="45000"/>
            </a:srgbClr>
          </a:solidFill>
          <a:ln/>
        </p:spPr>
      </p:sp>
      <p:sp>
        <p:nvSpPr>
          <p:cNvPr id="49" name="Municipio"/>
          <p:cNvSpPr/>
          <p:nvPr/>
        </p:nvSpPr>
        <p:spPr>
          <a:xfrm>
            <a:off x="8439912" y="2148840"/>
            <a:ext cx="155448" cy="155448"/>
          </a:xfrm>
          <a:prstGeom prst="ellipse">
            <a:avLst/>
          </a:prstGeom>
          <a:solidFill>
            <a:srgbClr val="98A2B3">
              <a:alpha val="45000"/>
            </a:srgbClr>
          </a:solidFill>
          <a:ln/>
        </p:spPr>
      </p:sp>
      <p:sp>
        <p:nvSpPr>
          <p:cNvPr id="50" name="Municipio piloto"/>
          <p:cNvSpPr/>
          <p:nvPr/>
        </p:nvSpPr>
        <p:spPr>
          <a:xfrm>
            <a:off x="8750808" y="2148840"/>
            <a:ext cx="155448" cy="155448"/>
          </a:xfrm>
          <a:prstGeom prst="ellipse">
            <a:avLst/>
          </a:prstGeom>
          <a:solidFill>
            <a:schemeClr val="accent6"/>
          </a:solidFill>
          <a:ln/>
        </p:spPr>
      </p:sp>
      <p:sp>
        <p:nvSpPr>
          <p:cNvPr id="51" name="Municipio"/>
          <p:cNvSpPr/>
          <p:nvPr/>
        </p:nvSpPr>
        <p:spPr>
          <a:xfrm>
            <a:off x="9061704" y="2148840"/>
            <a:ext cx="155448" cy="155448"/>
          </a:xfrm>
          <a:prstGeom prst="ellipse">
            <a:avLst/>
          </a:prstGeom>
          <a:solidFill>
            <a:srgbClr val="98A2B3">
              <a:alpha val="45000"/>
            </a:srgbClr>
          </a:solidFill>
          <a:ln/>
        </p:spPr>
      </p:sp>
      <p:sp>
        <p:nvSpPr>
          <p:cNvPr id="52" name="Municipio"/>
          <p:cNvSpPr/>
          <p:nvPr/>
        </p:nvSpPr>
        <p:spPr>
          <a:xfrm>
            <a:off x="9372600" y="2148840"/>
            <a:ext cx="155448" cy="155448"/>
          </a:xfrm>
          <a:prstGeom prst="ellipse">
            <a:avLst/>
          </a:prstGeom>
          <a:solidFill>
            <a:srgbClr val="98A2B3">
              <a:alpha val="45000"/>
            </a:srgbClr>
          </a:solidFill>
          <a:ln/>
        </p:spPr>
      </p:sp>
      <p:sp>
        <p:nvSpPr>
          <p:cNvPr id="53" name="Municipio"/>
          <p:cNvSpPr/>
          <p:nvPr/>
        </p:nvSpPr>
        <p:spPr>
          <a:xfrm>
            <a:off x="9683496" y="2148840"/>
            <a:ext cx="155448" cy="155448"/>
          </a:xfrm>
          <a:prstGeom prst="ellipse">
            <a:avLst/>
          </a:prstGeom>
          <a:solidFill>
            <a:srgbClr val="98A2B3">
              <a:alpha val="45000"/>
            </a:srgbClr>
          </a:solidFill>
          <a:ln/>
        </p:spPr>
      </p:sp>
      <p:sp>
        <p:nvSpPr>
          <p:cNvPr id="54" name="Municipio"/>
          <p:cNvSpPr/>
          <p:nvPr/>
        </p:nvSpPr>
        <p:spPr>
          <a:xfrm>
            <a:off x="9994392" y="2148840"/>
            <a:ext cx="155448" cy="155448"/>
          </a:xfrm>
          <a:prstGeom prst="ellipse">
            <a:avLst/>
          </a:prstGeom>
          <a:solidFill>
            <a:srgbClr val="98A2B3">
              <a:alpha val="45000"/>
            </a:srgbClr>
          </a:solidFill>
          <a:ln/>
        </p:spPr>
      </p:sp>
      <p:sp>
        <p:nvSpPr>
          <p:cNvPr id="55" name="Municipio"/>
          <p:cNvSpPr/>
          <p:nvPr/>
        </p:nvSpPr>
        <p:spPr>
          <a:xfrm>
            <a:off x="10305288" y="2148840"/>
            <a:ext cx="155448" cy="155448"/>
          </a:xfrm>
          <a:prstGeom prst="ellipse">
            <a:avLst/>
          </a:prstGeom>
          <a:solidFill>
            <a:srgbClr val="98A2B3">
              <a:alpha val="45000"/>
            </a:srgbClr>
          </a:solidFill>
          <a:ln/>
        </p:spPr>
      </p:sp>
      <p:sp>
        <p:nvSpPr>
          <p:cNvPr id="56" name="Municipio"/>
          <p:cNvSpPr/>
          <p:nvPr/>
        </p:nvSpPr>
        <p:spPr>
          <a:xfrm>
            <a:off x="10616184" y="2148840"/>
            <a:ext cx="155448" cy="155448"/>
          </a:xfrm>
          <a:prstGeom prst="ellipse">
            <a:avLst/>
          </a:prstGeom>
          <a:solidFill>
            <a:srgbClr val="98A2B3">
              <a:alpha val="45000"/>
            </a:srgbClr>
          </a:solidFill>
          <a:ln/>
        </p:spPr>
      </p:sp>
      <p:sp>
        <p:nvSpPr>
          <p:cNvPr id="57" name="Municipio"/>
          <p:cNvSpPr/>
          <p:nvPr/>
        </p:nvSpPr>
        <p:spPr>
          <a:xfrm>
            <a:off x="10927080" y="2148840"/>
            <a:ext cx="155448" cy="155448"/>
          </a:xfrm>
          <a:prstGeom prst="ellipse">
            <a:avLst/>
          </a:prstGeom>
          <a:solidFill>
            <a:srgbClr val="98A2B3">
              <a:alpha val="45000"/>
            </a:srgbClr>
          </a:solidFill>
          <a:ln/>
        </p:spPr>
      </p:sp>
      <p:sp>
        <p:nvSpPr>
          <p:cNvPr id="58" name="Municipio piloto"/>
          <p:cNvSpPr/>
          <p:nvPr/>
        </p:nvSpPr>
        <p:spPr>
          <a:xfrm>
            <a:off x="11237976" y="2148840"/>
            <a:ext cx="155448" cy="155448"/>
          </a:xfrm>
          <a:prstGeom prst="ellipse">
            <a:avLst/>
          </a:prstGeom>
          <a:solidFill>
            <a:schemeClr val="accent6"/>
          </a:solidFill>
          <a:ln/>
        </p:spPr>
      </p:sp>
      <p:sp>
        <p:nvSpPr>
          <p:cNvPr id="59" name="Municipio"/>
          <p:cNvSpPr/>
          <p:nvPr/>
        </p:nvSpPr>
        <p:spPr>
          <a:xfrm>
            <a:off x="11548872" y="2148840"/>
            <a:ext cx="155448" cy="155448"/>
          </a:xfrm>
          <a:prstGeom prst="ellipse">
            <a:avLst/>
          </a:prstGeom>
          <a:solidFill>
            <a:srgbClr val="98A2B3">
              <a:alpha val="45000"/>
            </a:srgbClr>
          </a:solidFill>
          <a:ln/>
        </p:spPr>
      </p:sp>
      <p:sp>
        <p:nvSpPr>
          <p:cNvPr id="60" name="Municipio"/>
          <p:cNvSpPr/>
          <p:nvPr/>
        </p:nvSpPr>
        <p:spPr>
          <a:xfrm>
            <a:off x="7818120" y="2514600"/>
            <a:ext cx="155448" cy="155448"/>
          </a:xfrm>
          <a:prstGeom prst="ellipse">
            <a:avLst/>
          </a:prstGeom>
          <a:solidFill>
            <a:srgbClr val="98A2B3">
              <a:alpha val="45000"/>
            </a:srgbClr>
          </a:solidFill>
          <a:ln/>
        </p:spPr>
      </p:sp>
      <p:sp>
        <p:nvSpPr>
          <p:cNvPr id="61" name="Municipio"/>
          <p:cNvSpPr/>
          <p:nvPr/>
        </p:nvSpPr>
        <p:spPr>
          <a:xfrm>
            <a:off x="8129016" y="2514600"/>
            <a:ext cx="155448" cy="155448"/>
          </a:xfrm>
          <a:prstGeom prst="ellipse">
            <a:avLst/>
          </a:prstGeom>
          <a:solidFill>
            <a:srgbClr val="98A2B3">
              <a:alpha val="45000"/>
            </a:srgbClr>
          </a:solidFill>
          <a:ln/>
        </p:spPr>
      </p:sp>
      <p:sp>
        <p:nvSpPr>
          <p:cNvPr id="62" name="Municipio"/>
          <p:cNvSpPr/>
          <p:nvPr/>
        </p:nvSpPr>
        <p:spPr>
          <a:xfrm>
            <a:off x="8439912" y="2514600"/>
            <a:ext cx="155448" cy="155448"/>
          </a:xfrm>
          <a:prstGeom prst="ellipse">
            <a:avLst/>
          </a:prstGeom>
          <a:solidFill>
            <a:srgbClr val="98A2B3">
              <a:alpha val="45000"/>
            </a:srgbClr>
          </a:solidFill>
          <a:ln/>
        </p:spPr>
      </p:sp>
      <p:sp>
        <p:nvSpPr>
          <p:cNvPr id="63" name="Municipio"/>
          <p:cNvSpPr/>
          <p:nvPr/>
        </p:nvSpPr>
        <p:spPr>
          <a:xfrm>
            <a:off x="8750808" y="2514600"/>
            <a:ext cx="155448" cy="155448"/>
          </a:xfrm>
          <a:prstGeom prst="ellipse">
            <a:avLst/>
          </a:prstGeom>
          <a:solidFill>
            <a:srgbClr val="98A2B3">
              <a:alpha val="45000"/>
            </a:srgbClr>
          </a:solidFill>
          <a:ln/>
        </p:spPr>
      </p:sp>
      <p:sp>
        <p:nvSpPr>
          <p:cNvPr id="64" name="Municipio piloto"/>
          <p:cNvSpPr/>
          <p:nvPr/>
        </p:nvSpPr>
        <p:spPr>
          <a:xfrm>
            <a:off x="9061704" y="2514600"/>
            <a:ext cx="155448" cy="155448"/>
          </a:xfrm>
          <a:prstGeom prst="ellipse">
            <a:avLst/>
          </a:prstGeom>
          <a:solidFill>
            <a:schemeClr val="accent6"/>
          </a:solidFill>
          <a:ln/>
        </p:spPr>
      </p:sp>
      <p:sp>
        <p:nvSpPr>
          <p:cNvPr id="65" name="Municipio"/>
          <p:cNvSpPr/>
          <p:nvPr/>
        </p:nvSpPr>
        <p:spPr>
          <a:xfrm>
            <a:off x="9372600" y="2514600"/>
            <a:ext cx="155448" cy="155448"/>
          </a:xfrm>
          <a:prstGeom prst="ellipse">
            <a:avLst/>
          </a:prstGeom>
          <a:solidFill>
            <a:srgbClr val="98A2B3">
              <a:alpha val="45000"/>
            </a:srgbClr>
          </a:solidFill>
          <a:ln/>
        </p:spPr>
      </p:sp>
      <p:sp>
        <p:nvSpPr>
          <p:cNvPr id="66" name="Municipio"/>
          <p:cNvSpPr/>
          <p:nvPr/>
        </p:nvSpPr>
        <p:spPr>
          <a:xfrm>
            <a:off x="9683496" y="2514600"/>
            <a:ext cx="155448" cy="155448"/>
          </a:xfrm>
          <a:prstGeom prst="ellipse">
            <a:avLst/>
          </a:prstGeom>
          <a:solidFill>
            <a:srgbClr val="98A2B3">
              <a:alpha val="45000"/>
            </a:srgbClr>
          </a:solidFill>
          <a:ln/>
        </p:spPr>
      </p:sp>
      <p:sp>
        <p:nvSpPr>
          <p:cNvPr id="67" name="Municipio piloto"/>
          <p:cNvSpPr/>
          <p:nvPr/>
        </p:nvSpPr>
        <p:spPr>
          <a:xfrm>
            <a:off x="9994392" y="2514600"/>
            <a:ext cx="155448" cy="155448"/>
          </a:xfrm>
          <a:prstGeom prst="ellipse">
            <a:avLst/>
          </a:prstGeom>
          <a:solidFill>
            <a:schemeClr val="accent6"/>
          </a:solidFill>
          <a:ln/>
        </p:spPr>
      </p:sp>
      <p:sp>
        <p:nvSpPr>
          <p:cNvPr id="68" name="Municipio"/>
          <p:cNvSpPr/>
          <p:nvPr/>
        </p:nvSpPr>
        <p:spPr>
          <a:xfrm>
            <a:off x="10305288" y="2514600"/>
            <a:ext cx="155448" cy="155448"/>
          </a:xfrm>
          <a:prstGeom prst="ellipse">
            <a:avLst/>
          </a:prstGeom>
          <a:solidFill>
            <a:srgbClr val="98A2B3">
              <a:alpha val="45000"/>
            </a:srgbClr>
          </a:solidFill>
          <a:ln/>
        </p:spPr>
      </p:sp>
      <p:sp>
        <p:nvSpPr>
          <p:cNvPr id="69" name="Municipio"/>
          <p:cNvSpPr/>
          <p:nvPr/>
        </p:nvSpPr>
        <p:spPr>
          <a:xfrm>
            <a:off x="10616184" y="2514600"/>
            <a:ext cx="155448" cy="155448"/>
          </a:xfrm>
          <a:prstGeom prst="ellipse">
            <a:avLst/>
          </a:prstGeom>
          <a:solidFill>
            <a:srgbClr val="98A2B3">
              <a:alpha val="45000"/>
            </a:srgbClr>
          </a:solidFill>
          <a:ln/>
        </p:spPr>
      </p:sp>
      <p:sp>
        <p:nvSpPr>
          <p:cNvPr id="70" name="Municipio"/>
          <p:cNvSpPr/>
          <p:nvPr/>
        </p:nvSpPr>
        <p:spPr>
          <a:xfrm>
            <a:off x="10927080" y="2514600"/>
            <a:ext cx="155448" cy="155448"/>
          </a:xfrm>
          <a:prstGeom prst="ellipse">
            <a:avLst/>
          </a:prstGeom>
          <a:solidFill>
            <a:srgbClr val="98A2B3">
              <a:alpha val="45000"/>
            </a:srgbClr>
          </a:solidFill>
          <a:ln/>
        </p:spPr>
      </p:sp>
      <p:sp>
        <p:nvSpPr>
          <p:cNvPr id="71" name="Municipio"/>
          <p:cNvSpPr/>
          <p:nvPr/>
        </p:nvSpPr>
        <p:spPr>
          <a:xfrm>
            <a:off x="11237976" y="2514600"/>
            <a:ext cx="155448" cy="155448"/>
          </a:xfrm>
          <a:prstGeom prst="ellipse">
            <a:avLst/>
          </a:prstGeom>
          <a:solidFill>
            <a:srgbClr val="98A2B3">
              <a:alpha val="45000"/>
            </a:srgbClr>
          </a:solidFill>
          <a:ln/>
        </p:spPr>
      </p:sp>
      <p:sp>
        <p:nvSpPr>
          <p:cNvPr id="72" name="Municipio"/>
          <p:cNvSpPr/>
          <p:nvPr/>
        </p:nvSpPr>
        <p:spPr>
          <a:xfrm>
            <a:off x="11548872" y="2514600"/>
            <a:ext cx="155448" cy="155448"/>
          </a:xfrm>
          <a:prstGeom prst="ellipse">
            <a:avLst/>
          </a:prstGeom>
          <a:solidFill>
            <a:srgbClr val="98A2B3">
              <a:alpha val="45000"/>
            </a:srgbClr>
          </a:solidFill>
          <a:ln/>
        </p:spPr>
      </p:sp>
      <p:sp>
        <p:nvSpPr>
          <p:cNvPr id="73" name="Municipio piloto"/>
          <p:cNvSpPr/>
          <p:nvPr/>
        </p:nvSpPr>
        <p:spPr>
          <a:xfrm>
            <a:off x="7818120" y="2880360"/>
            <a:ext cx="155448" cy="155448"/>
          </a:xfrm>
          <a:prstGeom prst="ellipse">
            <a:avLst/>
          </a:prstGeom>
          <a:solidFill>
            <a:schemeClr val="accent6"/>
          </a:solidFill>
          <a:ln/>
        </p:spPr>
      </p:sp>
      <p:sp>
        <p:nvSpPr>
          <p:cNvPr id="74" name="Municipio"/>
          <p:cNvSpPr/>
          <p:nvPr/>
        </p:nvSpPr>
        <p:spPr>
          <a:xfrm>
            <a:off x="8129016" y="2880360"/>
            <a:ext cx="155448" cy="155448"/>
          </a:xfrm>
          <a:prstGeom prst="ellipse">
            <a:avLst/>
          </a:prstGeom>
          <a:solidFill>
            <a:srgbClr val="98A2B3">
              <a:alpha val="45000"/>
            </a:srgbClr>
          </a:solidFill>
          <a:ln/>
        </p:spPr>
      </p:sp>
      <p:sp>
        <p:nvSpPr>
          <p:cNvPr id="75" name="Municipio"/>
          <p:cNvSpPr/>
          <p:nvPr/>
        </p:nvSpPr>
        <p:spPr>
          <a:xfrm>
            <a:off x="8439912" y="2880360"/>
            <a:ext cx="155448" cy="155448"/>
          </a:xfrm>
          <a:prstGeom prst="ellipse">
            <a:avLst/>
          </a:prstGeom>
          <a:solidFill>
            <a:srgbClr val="98A2B3">
              <a:alpha val="45000"/>
            </a:srgbClr>
          </a:solidFill>
          <a:ln/>
        </p:spPr>
      </p:sp>
      <p:sp>
        <p:nvSpPr>
          <p:cNvPr id="76" name="Municipio"/>
          <p:cNvSpPr/>
          <p:nvPr/>
        </p:nvSpPr>
        <p:spPr>
          <a:xfrm>
            <a:off x="8750808" y="2880360"/>
            <a:ext cx="155448" cy="155448"/>
          </a:xfrm>
          <a:prstGeom prst="ellipse">
            <a:avLst/>
          </a:prstGeom>
          <a:solidFill>
            <a:srgbClr val="98A2B3">
              <a:alpha val="45000"/>
            </a:srgbClr>
          </a:solidFill>
          <a:ln/>
        </p:spPr>
      </p:sp>
      <p:sp>
        <p:nvSpPr>
          <p:cNvPr id="77" name="Municipio"/>
          <p:cNvSpPr/>
          <p:nvPr/>
        </p:nvSpPr>
        <p:spPr>
          <a:xfrm>
            <a:off x="9061704" y="2880360"/>
            <a:ext cx="155448" cy="155448"/>
          </a:xfrm>
          <a:prstGeom prst="ellipse">
            <a:avLst/>
          </a:prstGeom>
          <a:solidFill>
            <a:srgbClr val="98A2B3">
              <a:alpha val="45000"/>
            </a:srgbClr>
          </a:solidFill>
          <a:ln/>
        </p:spPr>
      </p:sp>
      <p:sp>
        <p:nvSpPr>
          <p:cNvPr id="78" name="Municipio"/>
          <p:cNvSpPr/>
          <p:nvPr/>
        </p:nvSpPr>
        <p:spPr>
          <a:xfrm>
            <a:off x="9372600" y="2880360"/>
            <a:ext cx="155448" cy="155448"/>
          </a:xfrm>
          <a:prstGeom prst="ellipse">
            <a:avLst/>
          </a:prstGeom>
          <a:solidFill>
            <a:srgbClr val="98A2B3">
              <a:alpha val="45000"/>
            </a:srgbClr>
          </a:solidFill>
          <a:ln/>
        </p:spPr>
      </p:sp>
      <p:sp>
        <p:nvSpPr>
          <p:cNvPr id="79" name="Municipio"/>
          <p:cNvSpPr/>
          <p:nvPr/>
        </p:nvSpPr>
        <p:spPr>
          <a:xfrm>
            <a:off x="9683496" y="2880360"/>
            <a:ext cx="155448" cy="155448"/>
          </a:xfrm>
          <a:prstGeom prst="ellipse">
            <a:avLst/>
          </a:prstGeom>
          <a:solidFill>
            <a:srgbClr val="98A2B3">
              <a:alpha val="45000"/>
            </a:srgbClr>
          </a:solidFill>
          <a:ln/>
        </p:spPr>
      </p:sp>
      <p:sp>
        <p:nvSpPr>
          <p:cNvPr id="80" name="Municipio"/>
          <p:cNvSpPr/>
          <p:nvPr/>
        </p:nvSpPr>
        <p:spPr>
          <a:xfrm>
            <a:off x="9994392" y="2880360"/>
            <a:ext cx="155448" cy="155448"/>
          </a:xfrm>
          <a:prstGeom prst="ellipse">
            <a:avLst/>
          </a:prstGeom>
          <a:solidFill>
            <a:srgbClr val="98A2B3">
              <a:alpha val="45000"/>
            </a:srgbClr>
          </a:solidFill>
          <a:ln/>
        </p:spPr>
      </p:sp>
      <p:sp>
        <p:nvSpPr>
          <p:cNvPr id="81" name="Municipio"/>
          <p:cNvSpPr/>
          <p:nvPr/>
        </p:nvSpPr>
        <p:spPr>
          <a:xfrm>
            <a:off x="10305288" y="2880360"/>
            <a:ext cx="155448" cy="155448"/>
          </a:xfrm>
          <a:prstGeom prst="ellipse">
            <a:avLst/>
          </a:prstGeom>
          <a:solidFill>
            <a:srgbClr val="98A2B3">
              <a:alpha val="45000"/>
            </a:srgbClr>
          </a:solidFill>
          <a:ln/>
        </p:spPr>
      </p:sp>
      <p:sp>
        <p:nvSpPr>
          <p:cNvPr id="82" name="Municipio"/>
          <p:cNvSpPr/>
          <p:nvPr/>
        </p:nvSpPr>
        <p:spPr>
          <a:xfrm>
            <a:off x="10616184" y="2880360"/>
            <a:ext cx="155448" cy="155448"/>
          </a:xfrm>
          <a:prstGeom prst="ellipse">
            <a:avLst/>
          </a:prstGeom>
          <a:solidFill>
            <a:srgbClr val="98A2B3">
              <a:alpha val="45000"/>
            </a:srgbClr>
          </a:solidFill>
          <a:ln/>
        </p:spPr>
      </p:sp>
      <p:sp>
        <p:nvSpPr>
          <p:cNvPr id="83" name="Municipio piloto"/>
          <p:cNvSpPr/>
          <p:nvPr/>
        </p:nvSpPr>
        <p:spPr>
          <a:xfrm>
            <a:off x="10927080" y="2880360"/>
            <a:ext cx="155448" cy="155448"/>
          </a:xfrm>
          <a:prstGeom prst="ellipse">
            <a:avLst/>
          </a:prstGeom>
          <a:solidFill>
            <a:schemeClr val="accent6"/>
          </a:solidFill>
          <a:ln/>
        </p:spPr>
      </p:sp>
      <p:sp>
        <p:nvSpPr>
          <p:cNvPr id="84" name="Municipio"/>
          <p:cNvSpPr/>
          <p:nvPr/>
        </p:nvSpPr>
        <p:spPr>
          <a:xfrm>
            <a:off x="11237976" y="2880360"/>
            <a:ext cx="155448" cy="155448"/>
          </a:xfrm>
          <a:prstGeom prst="ellipse">
            <a:avLst/>
          </a:prstGeom>
          <a:solidFill>
            <a:srgbClr val="98A2B3">
              <a:alpha val="45000"/>
            </a:srgbClr>
          </a:solidFill>
          <a:ln/>
        </p:spPr>
      </p:sp>
      <p:sp>
        <p:nvSpPr>
          <p:cNvPr id="85" name="Municipio"/>
          <p:cNvSpPr/>
          <p:nvPr/>
        </p:nvSpPr>
        <p:spPr>
          <a:xfrm>
            <a:off x="11548872" y="2880360"/>
            <a:ext cx="155448" cy="155448"/>
          </a:xfrm>
          <a:prstGeom prst="ellipse">
            <a:avLst/>
          </a:prstGeom>
          <a:solidFill>
            <a:srgbClr val="98A2B3">
              <a:alpha val="45000"/>
            </a:srgbClr>
          </a:solidFill>
          <a:ln/>
        </p:spPr>
      </p:sp>
      <p:sp>
        <p:nvSpPr>
          <p:cNvPr id="86" name="Municipio piloto"/>
          <p:cNvSpPr/>
          <p:nvPr/>
        </p:nvSpPr>
        <p:spPr>
          <a:xfrm>
            <a:off x="7818120" y="3246120"/>
            <a:ext cx="155448" cy="155448"/>
          </a:xfrm>
          <a:prstGeom prst="ellipse">
            <a:avLst/>
          </a:prstGeom>
          <a:solidFill>
            <a:schemeClr val="accent6"/>
          </a:solidFill>
          <a:ln/>
        </p:spPr>
      </p:sp>
      <p:sp>
        <p:nvSpPr>
          <p:cNvPr id="87" name="Municipio"/>
          <p:cNvSpPr/>
          <p:nvPr/>
        </p:nvSpPr>
        <p:spPr>
          <a:xfrm>
            <a:off x="8129016" y="3246120"/>
            <a:ext cx="155448" cy="155448"/>
          </a:xfrm>
          <a:prstGeom prst="ellipse">
            <a:avLst/>
          </a:prstGeom>
          <a:solidFill>
            <a:srgbClr val="98A2B3">
              <a:alpha val="45000"/>
            </a:srgbClr>
          </a:solidFill>
          <a:ln/>
        </p:spPr>
      </p:sp>
      <p:sp>
        <p:nvSpPr>
          <p:cNvPr id="88" name="Municipio"/>
          <p:cNvSpPr/>
          <p:nvPr/>
        </p:nvSpPr>
        <p:spPr>
          <a:xfrm>
            <a:off x="8439912" y="3246120"/>
            <a:ext cx="155448" cy="155448"/>
          </a:xfrm>
          <a:prstGeom prst="ellipse">
            <a:avLst/>
          </a:prstGeom>
          <a:solidFill>
            <a:srgbClr val="98A2B3">
              <a:alpha val="45000"/>
            </a:srgbClr>
          </a:solidFill>
          <a:ln/>
        </p:spPr>
      </p:sp>
      <p:sp>
        <p:nvSpPr>
          <p:cNvPr id="89" name="Municipio"/>
          <p:cNvSpPr/>
          <p:nvPr/>
        </p:nvSpPr>
        <p:spPr>
          <a:xfrm>
            <a:off x="8750808" y="3246120"/>
            <a:ext cx="155448" cy="155448"/>
          </a:xfrm>
          <a:prstGeom prst="ellipse">
            <a:avLst/>
          </a:prstGeom>
          <a:solidFill>
            <a:srgbClr val="98A2B3">
              <a:alpha val="45000"/>
            </a:srgbClr>
          </a:solidFill>
          <a:ln/>
        </p:spPr>
      </p:sp>
      <p:sp>
        <p:nvSpPr>
          <p:cNvPr id="90" name="Municipio"/>
          <p:cNvSpPr/>
          <p:nvPr/>
        </p:nvSpPr>
        <p:spPr>
          <a:xfrm>
            <a:off x="9061704" y="3246120"/>
            <a:ext cx="155448" cy="155448"/>
          </a:xfrm>
          <a:prstGeom prst="ellipse">
            <a:avLst/>
          </a:prstGeom>
          <a:solidFill>
            <a:srgbClr val="98A2B3">
              <a:alpha val="45000"/>
            </a:srgbClr>
          </a:solidFill>
          <a:ln/>
        </p:spPr>
      </p:sp>
      <p:sp>
        <p:nvSpPr>
          <p:cNvPr id="91" name="Municipio"/>
          <p:cNvSpPr/>
          <p:nvPr/>
        </p:nvSpPr>
        <p:spPr>
          <a:xfrm>
            <a:off x="9372600" y="3246120"/>
            <a:ext cx="155448" cy="155448"/>
          </a:xfrm>
          <a:prstGeom prst="ellipse">
            <a:avLst/>
          </a:prstGeom>
          <a:solidFill>
            <a:srgbClr val="98A2B3">
              <a:alpha val="45000"/>
            </a:srgbClr>
          </a:solidFill>
          <a:ln/>
        </p:spPr>
      </p:sp>
      <p:sp>
        <p:nvSpPr>
          <p:cNvPr id="92" name="Municipio"/>
          <p:cNvSpPr/>
          <p:nvPr/>
        </p:nvSpPr>
        <p:spPr>
          <a:xfrm>
            <a:off x="9683496" y="3246120"/>
            <a:ext cx="155448" cy="155448"/>
          </a:xfrm>
          <a:prstGeom prst="ellipse">
            <a:avLst/>
          </a:prstGeom>
          <a:solidFill>
            <a:srgbClr val="98A2B3">
              <a:alpha val="45000"/>
            </a:srgbClr>
          </a:solidFill>
          <a:ln/>
        </p:spPr>
      </p:sp>
      <p:sp>
        <p:nvSpPr>
          <p:cNvPr id="93" name="Municipio"/>
          <p:cNvSpPr/>
          <p:nvPr/>
        </p:nvSpPr>
        <p:spPr>
          <a:xfrm>
            <a:off x="9994392" y="3246120"/>
            <a:ext cx="155448" cy="155448"/>
          </a:xfrm>
          <a:prstGeom prst="ellipse">
            <a:avLst/>
          </a:prstGeom>
          <a:solidFill>
            <a:srgbClr val="98A2B3">
              <a:alpha val="45000"/>
            </a:srgbClr>
          </a:solidFill>
          <a:ln/>
        </p:spPr>
      </p:sp>
      <p:sp>
        <p:nvSpPr>
          <p:cNvPr id="94" name="Municipio"/>
          <p:cNvSpPr/>
          <p:nvPr/>
        </p:nvSpPr>
        <p:spPr>
          <a:xfrm>
            <a:off x="10305288" y="3246120"/>
            <a:ext cx="155448" cy="155448"/>
          </a:xfrm>
          <a:prstGeom prst="ellipse">
            <a:avLst/>
          </a:prstGeom>
          <a:solidFill>
            <a:srgbClr val="98A2B3">
              <a:alpha val="45000"/>
            </a:srgbClr>
          </a:solidFill>
          <a:ln/>
        </p:spPr>
      </p:sp>
      <p:sp>
        <p:nvSpPr>
          <p:cNvPr id="95" name="Municipio"/>
          <p:cNvSpPr/>
          <p:nvPr/>
        </p:nvSpPr>
        <p:spPr>
          <a:xfrm>
            <a:off x="10616184" y="3246120"/>
            <a:ext cx="155448" cy="155448"/>
          </a:xfrm>
          <a:prstGeom prst="ellipse">
            <a:avLst/>
          </a:prstGeom>
          <a:solidFill>
            <a:srgbClr val="98A2B3">
              <a:alpha val="45000"/>
            </a:srgbClr>
          </a:solidFill>
          <a:ln/>
        </p:spPr>
      </p:sp>
      <p:sp>
        <p:nvSpPr>
          <p:cNvPr id="96" name="Municipio"/>
          <p:cNvSpPr/>
          <p:nvPr/>
        </p:nvSpPr>
        <p:spPr>
          <a:xfrm>
            <a:off x="10927080" y="3246120"/>
            <a:ext cx="155448" cy="155448"/>
          </a:xfrm>
          <a:prstGeom prst="ellipse">
            <a:avLst/>
          </a:prstGeom>
          <a:solidFill>
            <a:srgbClr val="98A2B3">
              <a:alpha val="45000"/>
            </a:srgbClr>
          </a:solidFill>
          <a:ln/>
        </p:spPr>
      </p:sp>
      <p:sp>
        <p:nvSpPr>
          <p:cNvPr id="97" name="Municipio"/>
          <p:cNvSpPr/>
          <p:nvPr/>
        </p:nvSpPr>
        <p:spPr>
          <a:xfrm>
            <a:off x="11237976" y="3246120"/>
            <a:ext cx="155448" cy="155448"/>
          </a:xfrm>
          <a:prstGeom prst="ellipse">
            <a:avLst/>
          </a:prstGeom>
          <a:solidFill>
            <a:srgbClr val="98A2B3">
              <a:alpha val="45000"/>
            </a:srgbClr>
          </a:solidFill>
          <a:ln/>
        </p:spPr>
      </p:sp>
      <p:sp>
        <p:nvSpPr>
          <p:cNvPr id="98" name="Municipio"/>
          <p:cNvSpPr/>
          <p:nvPr/>
        </p:nvSpPr>
        <p:spPr>
          <a:xfrm>
            <a:off x="11548872" y="3246120"/>
            <a:ext cx="155448" cy="155448"/>
          </a:xfrm>
          <a:prstGeom prst="ellipse">
            <a:avLst/>
          </a:prstGeom>
          <a:solidFill>
            <a:srgbClr val="98A2B3">
              <a:alpha val="45000"/>
            </a:srgbClr>
          </a:solidFill>
          <a:ln/>
        </p:spPr>
      </p:sp>
      <p:sp>
        <p:nvSpPr>
          <p:cNvPr id="99" name="Municipio"/>
          <p:cNvSpPr/>
          <p:nvPr/>
        </p:nvSpPr>
        <p:spPr>
          <a:xfrm>
            <a:off x="7818120" y="3611880"/>
            <a:ext cx="155448" cy="155448"/>
          </a:xfrm>
          <a:prstGeom prst="ellipse">
            <a:avLst/>
          </a:prstGeom>
          <a:solidFill>
            <a:srgbClr val="98A2B3">
              <a:alpha val="45000"/>
            </a:srgbClr>
          </a:solidFill>
          <a:ln/>
        </p:spPr>
      </p:sp>
      <p:sp>
        <p:nvSpPr>
          <p:cNvPr id="100" name="Municipio"/>
          <p:cNvSpPr/>
          <p:nvPr/>
        </p:nvSpPr>
        <p:spPr>
          <a:xfrm>
            <a:off x="8129016" y="3611880"/>
            <a:ext cx="155448" cy="155448"/>
          </a:xfrm>
          <a:prstGeom prst="ellipse">
            <a:avLst/>
          </a:prstGeom>
          <a:solidFill>
            <a:srgbClr val="98A2B3">
              <a:alpha val="45000"/>
            </a:srgbClr>
          </a:solidFill>
          <a:ln/>
        </p:spPr>
      </p:sp>
      <p:sp>
        <p:nvSpPr>
          <p:cNvPr id="101" name="Municipio"/>
          <p:cNvSpPr/>
          <p:nvPr/>
        </p:nvSpPr>
        <p:spPr>
          <a:xfrm>
            <a:off x="8439912" y="3611880"/>
            <a:ext cx="155448" cy="155448"/>
          </a:xfrm>
          <a:prstGeom prst="ellipse">
            <a:avLst/>
          </a:prstGeom>
          <a:solidFill>
            <a:srgbClr val="98A2B3">
              <a:alpha val="45000"/>
            </a:srgbClr>
          </a:solidFill>
          <a:ln/>
        </p:spPr>
      </p:sp>
      <p:sp>
        <p:nvSpPr>
          <p:cNvPr id="102" name="Municipio piloto"/>
          <p:cNvSpPr/>
          <p:nvPr/>
        </p:nvSpPr>
        <p:spPr>
          <a:xfrm>
            <a:off x="8750808" y="3611880"/>
            <a:ext cx="155448" cy="155448"/>
          </a:xfrm>
          <a:prstGeom prst="ellipse">
            <a:avLst/>
          </a:prstGeom>
          <a:solidFill>
            <a:schemeClr val="accent6"/>
          </a:solidFill>
          <a:ln/>
        </p:spPr>
      </p:sp>
      <p:sp>
        <p:nvSpPr>
          <p:cNvPr id="103" name="Municipio"/>
          <p:cNvSpPr/>
          <p:nvPr/>
        </p:nvSpPr>
        <p:spPr>
          <a:xfrm>
            <a:off x="9061704" y="3611880"/>
            <a:ext cx="155448" cy="155448"/>
          </a:xfrm>
          <a:prstGeom prst="ellipse">
            <a:avLst/>
          </a:prstGeom>
          <a:solidFill>
            <a:srgbClr val="98A2B3">
              <a:alpha val="45000"/>
            </a:srgbClr>
          </a:solidFill>
          <a:ln/>
        </p:spPr>
      </p:sp>
      <p:sp>
        <p:nvSpPr>
          <p:cNvPr id="104" name="Municipio"/>
          <p:cNvSpPr/>
          <p:nvPr/>
        </p:nvSpPr>
        <p:spPr>
          <a:xfrm>
            <a:off x="9372600" y="3611880"/>
            <a:ext cx="155448" cy="155448"/>
          </a:xfrm>
          <a:prstGeom prst="ellipse">
            <a:avLst/>
          </a:prstGeom>
          <a:solidFill>
            <a:srgbClr val="98A2B3">
              <a:alpha val="45000"/>
            </a:srgbClr>
          </a:solidFill>
          <a:ln/>
        </p:spPr>
      </p:sp>
      <p:sp>
        <p:nvSpPr>
          <p:cNvPr id="105" name="Municipio"/>
          <p:cNvSpPr/>
          <p:nvPr/>
        </p:nvSpPr>
        <p:spPr>
          <a:xfrm>
            <a:off x="9683496" y="3611880"/>
            <a:ext cx="155448" cy="155448"/>
          </a:xfrm>
          <a:prstGeom prst="ellipse">
            <a:avLst/>
          </a:prstGeom>
          <a:solidFill>
            <a:srgbClr val="98A2B3">
              <a:alpha val="45000"/>
            </a:srgbClr>
          </a:solidFill>
          <a:ln/>
        </p:spPr>
      </p:sp>
      <p:sp>
        <p:nvSpPr>
          <p:cNvPr id="106" name="Municipio"/>
          <p:cNvSpPr/>
          <p:nvPr/>
        </p:nvSpPr>
        <p:spPr>
          <a:xfrm>
            <a:off x="9994392" y="3611880"/>
            <a:ext cx="155448" cy="155448"/>
          </a:xfrm>
          <a:prstGeom prst="ellipse">
            <a:avLst/>
          </a:prstGeom>
          <a:solidFill>
            <a:srgbClr val="98A2B3">
              <a:alpha val="45000"/>
            </a:srgbClr>
          </a:solidFill>
          <a:ln/>
        </p:spPr>
      </p:sp>
      <p:sp>
        <p:nvSpPr>
          <p:cNvPr id="107" name="Municipio piloto"/>
          <p:cNvSpPr/>
          <p:nvPr/>
        </p:nvSpPr>
        <p:spPr>
          <a:xfrm>
            <a:off x="10305288" y="3611880"/>
            <a:ext cx="155448" cy="155448"/>
          </a:xfrm>
          <a:prstGeom prst="ellipse">
            <a:avLst/>
          </a:prstGeom>
          <a:solidFill>
            <a:schemeClr val="accent6"/>
          </a:solidFill>
          <a:ln/>
        </p:spPr>
      </p:sp>
      <p:sp>
        <p:nvSpPr>
          <p:cNvPr id="108" name="Municipio"/>
          <p:cNvSpPr/>
          <p:nvPr/>
        </p:nvSpPr>
        <p:spPr>
          <a:xfrm>
            <a:off x="10616184" y="3611880"/>
            <a:ext cx="155448" cy="155448"/>
          </a:xfrm>
          <a:prstGeom prst="ellipse">
            <a:avLst/>
          </a:prstGeom>
          <a:solidFill>
            <a:srgbClr val="98A2B3">
              <a:alpha val="45000"/>
            </a:srgbClr>
          </a:solidFill>
          <a:ln/>
        </p:spPr>
      </p:sp>
      <p:sp>
        <p:nvSpPr>
          <p:cNvPr id="109" name="Municipio"/>
          <p:cNvSpPr/>
          <p:nvPr/>
        </p:nvSpPr>
        <p:spPr>
          <a:xfrm>
            <a:off x="10927080" y="3611880"/>
            <a:ext cx="155448" cy="155448"/>
          </a:xfrm>
          <a:prstGeom prst="ellipse">
            <a:avLst/>
          </a:prstGeom>
          <a:solidFill>
            <a:srgbClr val="98A2B3">
              <a:alpha val="45000"/>
            </a:srgbClr>
          </a:solidFill>
          <a:ln/>
        </p:spPr>
      </p:sp>
      <p:sp>
        <p:nvSpPr>
          <p:cNvPr id="110" name="Municipio"/>
          <p:cNvSpPr/>
          <p:nvPr/>
        </p:nvSpPr>
        <p:spPr>
          <a:xfrm>
            <a:off x="11237976" y="3611880"/>
            <a:ext cx="155448" cy="155448"/>
          </a:xfrm>
          <a:prstGeom prst="ellipse">
            <a:avLst/>
          </a:prstGeom>
          <a:solidFill>
            <a:srgbClr val="98A2B3">
              <a:alpha val="45000"/>
            </a:srgbClr>
          </a:solidFill>
          <a:ln/>
        </p:spPr>
      </p:sp>
      <p:sp>
        <p:nvSpPr>
          <p:cNvPr id="111" name="Municipio"/>
          <p:cNvSpPr/>
          <p:nvPr/>
        </p:nvSpPr>
        <p:spPr>
          <a:xfrm>
            <a:off x="11548872" y="3611880"/>
            <a:ext cx="155448" cy="155448"/>
          </a:xfrm>
          <a:prstGeom prst="ellipse">
            <a:avLst/>
          </a:prstGeom>
          <a:solidFill>
            <a:srgbClr val="98A2B3">
              <a:alpha val="45000"/>
            </a:srgbClr>
          </a:solidFill>
          <a:ln/>
        </p:spPr>
      </p:sp>
      <p:sp>
        <p:nvSpPr>
          <p:cNvPr id="112" name="Municipio"/>
          <p:cNvSpPr/>
          <p:nvPr/>
        </p:nvSpPr>
        <p:spPr>
          <a:xfrm>
            <a:off x="7818120" y="3977640"/>
            <a:ext cx="155448" cy="155448"/>
          </a:xfrm>
          <a:prstGeom prst="ellipse">
            <a:avLst/>
          </a:prstGeom>
          <a:solidFill>
            <a:srgbClr val="98A2B3">
              <a:alpha val="45000"/>
            </a:srgbClr>
          </a:solidFill>
          <a:ln/>
        </p:spPr>
      </p:sp>
      <p:sp>
        <p:nvSpPr>
          <p:cNvPr id="113" name="Municipio"/>
          <p:cNvSpPr/>
          <p:nvPr/>
        </p:nvSpPr>
        <p:spPr>
          <a:xfrm>
            <a:off x="8129016" y="3977640"/>
            <a:ext cx="155448" cy="155448"/>
          </a:xfrm>
          <a:prstGeom prst="ellipse">
            <a:avLst/>
          </a:prstGeom>
          <a:solidFill>
            <a:srgbClr val="98A2B3">
              <a:alpha val="45000"/>
            </a:srgbClr>
          </a:solidFill>
          <a:ln/>
        </p:spPr>
      </p:sp>
      <p:sp>
        <p:nvSpPr>
          <p:cNvPr id="114" name="Municipio"/>
          <p:cNvSpPr/>
          <p:nvPr/>
        </p:nvSpPr>
        <p:spPr>
          <a:xfrm>
            <a:off x="8439912" y="3977640"/>
            <a:ext cx="155448" cy="155448"/>
          </a:xfrm>
          <a:prstGeom prst="ellipse">
            <a:avLst/>
          </a:prstGeom>
          <a:solidFill>
            <a:srgbClr val="98A2B3">
              <a:alpha val="45000"/>
            </a:srgbClr>
          </a:solidFill>
          <a:ln/>
        </p:spPr>
      </p:sp>
      <p:sp>
        <p:nvSpPr>
          <p:cNvPr id="115" name="Municipio"/>
          <p:cNvSpPr/>
          <p:nvPr/>
        </p:nvSpPr>
        <p:spPr>
          <a:xfrm>
            <a:off x="8750808" y="3977640"/>
            <a:ext cx="155448" cy="155448"/>
          </a:xfrm>
          <a:prstGeom prst="ellipse">
            <a:avLst/>
          </a:prstGeom>
          <a:solidFill>
            <a:srgbClr val="98A2B3">
              <a:alpha val="45000"/>
            </a:srgbClr>
          </a:solidFill>
          <a:ln/>
        </p:spPr>
      </p:sp>
      <p:sp>
        <p:nvSpPr>
          <p:cNvPr id="116" name="Municipio"/>
          <p:cNvSpPr/>
          <p:nvPr/>
        </p:nvSpPr>
        <p:spPr>
          <a:xfrm>
            <a:off x="9061704" y="3977640"/>
            <a:ext cx="155448" cy="155448"/>
          </a:xfrm>
          <a:prstGeom prst="ellipse">
            <a:avLst/>
          </a:prstGeom>
          <a:solidFill>
            <a:srgbClr val="98A2B3">
              <a:alpha val="45000"/>
            </a:srgbClr>
          </a:solidFill>
          <a:ln/>
        </p:spPr>
      </p:sp>
      <p:sp>
        <p:nvSpPr>
          <p:cNvPr id="117" name="Municipio"/>
          <p:cNvSpPr/>
          <p:nvPr/>
        </p:nvSpPr>
        <p:spPr>
          <a:xfrm>
            <a:off x="9372600" y="3977640"/>
            <a:ext cx="155448" cy="155448"/>
          </a:xfrm>
          <a:prstGeom prst="ellipse">
            <a:avLst/>
          </a:prstGeom>
          <a:solidFill>
            <a:srgbClr val="98A2B3">
              <a:alpha val="45000"/>
            </a:srgbClr>
          </a:solidFill>
          <a:ln/>
        </p:spPr>
      </p:sp>
      <p:sp>
        <p:nvSpPr>
          <p:cNvPr id="118" name="Municipio"/>
          <p:cNvSpPr/>
          <p:nvPr/>
        </p:nvSpPr>
        <p:spPr>
          <a:xfrm>
            <a:off x="9683496" y="3977640"/>
            <a:ext cx="155448" cy="155448"/>
          </a:xfrm>
          <a:prstGeom prst="ellipse">
            <a:avLst/>
          </a:prstGeom>
          <a:solidFill>
            <a:srgbClr val="98A2B3">
              <a:alpha val="45000"/>
            </a:srgbClr>
          </a:solidFill>
          <a:ln/>
        </p:spPr>
      </p:sp>
      <p:sp>
        <p:nvSpPr>
          <p:cNvPr id="119" name="Municipio"/>
          <p:cNvSpPr/>
          <p:nvPr/>
        </p:nvSpPr>
        <p:spPr>
          <a:xfrm>
            <a:off x="9994392" y="3977640"/>
            <a:ext cx="155448" cy="155448"/>
          </a:xfrm>
          <a:prstGeom prst="ellipse">
            <a:avLst/>
          </a:prstGeom>
          <a:solidFill>
            <a:srgbClr val="98A2B3">
              <a:alpha val="45000"/>
            </a:srgbClr>
          </a:solidFill>
          <a:ln/>
        </p:spPr>
      </p:sp>
      <p:sp>
        <p:nvSpPr>
          <p:cNvPr id="120" name="Municipio"/>
          <p:cNvSpPr/>
          <p:nvPr/>
        </p:nvSpPr>
        <p:spPr>
          <a:xfrm>
            <a:off x="10305288" y="3977640"/>
            <a:ext cx="155448" cy="155448"/>
          </a:xfrm>
          <a:prstGeom prst="ellipse">
            <a:avLst/>
          </a:prstGeom>
          <a:solidFill>
            <a:srgbClr val="98A2B3">
              <a:alpha val="45000"/>
            </a:srgbClr>
          </a:solidFill>
          <a:ln/>
        </p:spPr>
      </p:sp>
      <p:sp>
        <p:nvSpPr>
          <p:cNvPr id="121" name="Municipio piloto"/>
          <p:cNvSpPr/>
          <p:nvPr/>
        </p:nvSpPr>
        <p:spPr>
          <a:xfrm>
            <a:off x="10616184" y="3977640"/>
            <a:ext cx="155448" cy="155448"/>
          </a:xfrm>
          <a:prstGeom prst="ellipse">
            <a:avLst/>
          </a:prstGeom>
          <a:solidFill>
            <a:schemeClr val="accent6"/>
          </a:solidFill>
          <a:ln/>
        </p:spPr>
      </p:sp>
      <p:sp>
        <p:nvSpPr>
          <p:cNvPr id="122" name="Municipio"/>
          <p:cNvSpPr/>
          <p:nvPr/>
        </p:nvSpPr>
        <p:spPr>
          <a:xfrm>
            <a:off x="10927080" y="3977640"/>
            <a:ext cx="155448" cy="155448"/>
          </a:xfrm>
          <a:prstGeom prst="ellipse">
            <a:avLst/>
          </a:prstGeom>
          <a:solidFill>
            <a:srgbClr val="98A2B3">
              <a:alpha val="45000"/>
            </a:srgbClr>
          </a:solidFill>
          <a:ln/>
        </p:spPr>
      </p:sp>
      <p:sp>
        <p:nvSpPr>
          <p:cNvPr id="123" name="Municipio piloto"/>
          <p:cNvSpPr/>
          <p:nvPr/>
        </p:nvSpPr>
        <p:spPr>
          <a:xfrm>
            <a:off x="11237976" y="3977640"/>
            <a:ext cx="155448" cy="155448"/>
          </a:xfrm>
          <a:prstGeom prst="ellipse">
            <a:avLst/>
          </a:prstGeom>
          <a:solidFill>
            <a:schemeClr val="accent6"/>
          </a:solidFill>
          <a:ln/>
        </p:spPr>
      </p:sp>
      <p:sp>
        <p:nvSpPr>
          <p:cNvPr id="124" name="Municipio"/>
          <p:cNvSpPr/>
          <p:nvPr/>
        </p:nvSpPr>
        <p:spPr>
          <a:xfrm>
            <a:off x="11548872" y="3977640"/>
            <a:ext cx="155448" cy="155448"/>
          </a:xfrm>
          <a:prstGeom prst="ellipse">
            <a:avLst/>
          </a:prstGeom>
          <a:solidFill>
            <a:srgbClr val="98A2B3">
              <a:alpha val="45000"/>
            </a:srgbClr>
          </a:solidFill>
          <a:ln/>
        </p:spPr>
      </p:sp>
      <p:sp>
        <p:nvSpPr>
          <p:cNvPr id="125" name="Municipio"/>
          <p:cNvSpPr/>
          <p:nvPr/>
        </p:nvSpPr>
        <p:spPr>
          <a:xfrm>
            <a:off x="7818120" y="4343400"/>
            <a:ext cx="155448" cy="155448"/>
          </a:xfrm>
          <a:prstGeom prst="ellipse">
            <a:avLst/>
          </a:prstGeom>
          <a:solidFill>
            <a:srgbClr val="98A2B3">
              <a:alpha val="45000"/>
            </a:srgbClr>
          </a:solidFill>
          <a:ln/>
        </p:spPr>
      </p:sp>
      <p:sp>
        <p:nvSpPr>
          <p:cNvPr id="126" name="Municipio"/>
          <p:cNvSpPr/>
          <p:nvPr/>
        </p:nvSpPr>
        <p:spPr>
          <a:xfrm>
            <a:off x="8129016" y="4343400"/>
            <a:ext cx="155448" cy="155448"/>
          </a:xfrm>
          <a:prstGeom prst="ellipse">
            <a:avLst/>
          </a:prstGeom>
          <a:solidFill>
            <a:srgbClr val="98A2B3">
              <a:alpha val="45000"/>
            </a:srgbClr>
          </a:solidFill>
          <a:ln/>
        </p:spPr>
      </p:sp>
      <p:sp>
        <p:nvSpPr>
          <p:cNvPr id="127" name="Municipio"/>
          <p:cNvSpPr/>
          <p:nvPr/>
        </p:nvSpPr>
        <p:spPr>
          <a:xfrm>
            <a:off x="8439912" y="4343400"/>
            <a:ext cx="155448" cy="155448"/>
          </a:xfrm>
          <a:prstGeom prst="ellipse">
            <a:avLst/>
          </a:prstGeom>
          <a:solidFill>
            <a:srgbClr val="98A2B3">
              <a:alpha val="45000"/>
            </a:srgbClr>
          </a:solidFill>
          <a:ln/>
        </p:spPr>
      </p:sp>
      <p:sp>
        <p:nvSpPr>
          <p:cNvPr id="128" name="Municipio"/>
          <p:cNvSpPr/>
          <p:nvPr/>
        </p:nvSpPr>
        <p:spPr>
          <a:xfrm>
            <a:off x="8750808" y="4343400"/>
            <a:ext cx="155448" cy="155448"/>
          </a:xfrm>
          <a:prstGeom prst="ellipse">
            <a:avLst/>
          </a:prstGeom>
          <a:solidFill>
            <a:srgbClr val="98A2B3">
              <a:alpha val="45000"/>
            </a:srgbClr>
          </a:solidFill>
          <a:ln/>
        </p:spPr>
      </p:sp>
      <p:sp>
        <p:nvSpPr>
          <p:cNvPr id="129" name="Municipio"/>
          <p:cNvSpPr/>
          <p:nvPr/>
        </p:nvSpPr>
        <p:spPr>
          <a:xfrm>
            <a:off x="9061704" y="4343400"/>
            <a:ext cx="155448" cy="155448"/>
          </a:xfrm>
          <a:prstGeom prst="ellipse">
            <a:avLst/>
          </a:prstGeom>
          <a:solidFill>
            <a:srgbClr val="98A2B3">
              <a:alpha val="45000"/>
            </a:srgbClr>
          </a:solidFill>
          <a:ln/>
        </p:spPr>
      </p:sp>
      <p:sp>
        <p:nvSpPr>
          <p:cNvPr id="130" name="Municipio"/>
          <p:cNvSpPr/>
          <p:nvPr/>
        </p:nvSpPr>
        <p:spPr>
          <a:xfrm>
            <a:off x="9372600" y="4343400"/>
            <a:ext cx="155448" cy="155448"/>
          </a:xfrm>
          <a:prstGeom prst="ellipse">
            <a:avLst/>
          </a:prstGeom>
          <a:solidFill>
            <a:srgbClr val="98A2B3">
              <a:alpha val="45000"/>
            </a:srgbClr>
          </a:solidFill>
          <a:ln/>
        </p:spPr>
      </p:sp>
      <p:sp>
        <p:nvSpPr>
          <p:cNvPr id="131" name="Municipio"/>
          <p:cNvSpPr/>
          <p:nvPr/>
        </p:nvSpPr>
        <p:spPr>
          <a:xfrm>
            <a:off x="9683496" y="4343400"/>
            <a:ext cx="155448" cy="155448"/>
          </a:xfrm>
          <a:prstGeom prst="ellipse">
            <a:avLst/>
          </a:prstGeom>
          <a:solidFill>
            <a:srgbClr val="98A2B3">
              <a:alpha val="45000"/>
            </a:srgbClr>
          </a:solidFill>
          <a:ln/>
        </p:spPr>
      </p:sp>
      <p:sp>
        <p:nvSpPr>
          <p:cNvPr id="132" name="Municipio"/>
          <p:cNvSpPr/>
          <p:nvPr/>
        </p:nvSpPr>
        <p:spPr>
          <a:xfrm>
            <a:off x="9994392" y="4343400"/>
            <a:ext cx="155448" cy="155448"/>
          </a:xfrm>
          <a:prstGeom prst="ellipse">
            <a:avLst/>
          </a:prstGeom>
          <a:solidFill>
            <a:srgbClr val="98A2B3">
              <a:alpha val="45000"/>
            </a:srgbClr>
          </a:solidFill>
          <a:ln/>
        </p:spPr>
      </p:sp>
      <p:sp>
        <p:nvSpPr>
          <p:cNvPr id="133" name="Municipio piloto"/>
          <p:cNvSpPr/>
          <p:nvPr/>
        </p:nvSpPr>
        <p:spPr>
          <a:xfrm>
            <a:off x="10305288" y="4343400"/>
            <a:ext cx="155448" cy="155448"/>
          </a:xfrm>
          <a:prstGeom prst="ellipse">
            <a:avLst/>
          </a:prstGeom>
          <a:solidFill>
            <a:schemeClr val="accent6"/>
          </a:solidFill>
          <a:ln/>
        </p:spPr>
      </p:sp>
      <p:sp>
        <p:nvSpPr>
          <p:cNvPr id="134" name="Municipio"/>
          <p:cNvSpPr/>
          <p:nvPr/>
        </p:nvSpPr>
        <p:spPr>
          <a:xfrm>
            <a:off x="10616184" y="4343400"/>
            <a:ext cx="155448" cy="155448"/>
          </a:xfrm>
          <a:prstGeom prst="ellipse">
            <a:avLst/>
          </a:prstGeom>
          <a:solidFill>
            <a:srgbClr val="98A2B3">
              <a:alpha val="45000"/>
            </a:srgbClr>
          </a:solidFill>
          <a:ln/>
        </p:spPr>
      </p:sp>
      <p:sp>
        <p:nvSpPr>
          <p:cNvPr id="135" name="Municipio"/>
          <p:cNvSpPr/>
          <p:nvPr/>
        </p:nvSpPr>
        <p:spPr>
          <a:xfrm>
            <a:off x="10927080" y="4343400"/>
            <a:ext cx="155448" cy="155448"/>
          </a:xfrm>
          <a:prstGeom prst="ellipse">
            <a:avLst/>
          </a:prstGeom>
          <a:solidFill>
            <a:srgbClr val="98A2B3">
              <a:alpha val="45000"/>
            </a:srgbClr>
          </a:solidFill>
          <a:ln/>
        </p:spPr>
      </p:sp>
      <p:sp>
        <p:nvSpPr>
          <p:cNvPr id="136" name="Municipio piloto"/>
          <p:cNvSpPr/>
          <p:nvPr/>
        </p:nvSpPr>
        <p:spPr>
          <a:xfrm>
            <a:off x="11237976" y="4343400"/>
            <a:ext cx="155448" cy="155448"/>
          </a:xfrm>
          <a:prstGeom prst="ellipse">
            <a:avLst/>
          </a:prstGeom>
          <a:solidFill>
            <a:schemeClr val="accent6"/>
          </a:solidFill>
          <a:ln/>
        </p:spPr>
      </p:sp>
      <p:sp>
        <p:nvSpPr>
          <p:cNvPr id="137" name="Municipio"/>
          <p:cNvSpPr/>
          <p:nvPr/>
        </p:nvSpPr>
        <p:spPr>
          <a:xfrm>
            <a:off x="11548872" y="4343400"/>
            <a:ext cx="155448" cy="155448"/>
          </a:xfrm>
          <a:prstGeom prst="ellipse">
            <a:avLst/>
          </a:prstGeom>
          <a:solidFill>
            <a:srgbClr val="98A2B3">
              <a:alpha val="45000"/>
            </a:srgbClr>
          </a:solidFill>
          <a:ln/>
        </p:spPr>
      </p:sp>
      <p:sp>
        <p:nvSpPr>
          <p:cNvPr id="138" name="Municipio"/>
          <p:cNvSpPr/>
          <p:nvPr/>
        </p:nvSpPr>
        <p:spPr>
          <a:xfrm>
            <a:off x="7818120" y="4709160"/>
            <a:ext cx="155448" cy="155448"/>
          </a:xfrm>
          <a:prstGeom prst="ellipse">
            <a:avLst/>
          </a:prstGeom>
          <a:solidFill>
            <a:srgbClr val="98A2B3">
              <a:alpha val="45000"/>
            </a:srgbClr>
          </a:solidFill>
          <a:ln/>
        </p:spPr>
      </p:sp>
      <p:sp>
        <p:nvSpPr>
          <p:cNvPr id="139" name="Municipio"/>
          <p:cNvSpPr/>
          <p:nvPr/>
        </p:nvSpPr>
        <p:spPr>
          <a:xfrm>
            <a:off x="8129016" y="4709160"/>
            <a:ext cx="155448" cy="155448"/>
          </a:xfrm>
          <a:prstGeom prst="ellipse">
            <a:avLst/>
          </a:prstGeom>
          <a:solidFill>
            <a:srgbClr val="98A2B3">
              <a:alpha val="45000"/>
            </a:srgbClr>
          </a:solidFill>
          <a:ln/>
        </p:spPr>
      </p:sp>
      <p:sp>
        <p:nvSpPr>
          <p:cNvPr id="140" name="Municipio"/>
          <p:cNvSpPr/>
          <p:nvPr/>
        </p:nvSpPr>
        <p:spPr>
          <a:xfrm>
            <a:off x="8439912" y="4709160"/>
            <a:ext cx="155448" cy="155448"/>
          </a:xfrm>
          <a:prstGeom prst="ellipse">
            <a:avLst/>
          </a:prstGeom>
          <a:solidFill>
            <a:srgbClr val="98A2B3">
              <a:alpha val="45000"/>
            </a:srgbClr>
          </a:solidFill>
          <a:ln/>
        </p:spPr>
      </p:sp>
      <p:sp>
        <p:nvSpPr>
          <p:cNvPr id="141" name="Municipio"/>
          <p:cNvSpPr/>
          <p:nvPr/>
        </p:nvSpPr>
        <p:spPr>
          <a:xfrm>
            <a:off x="8750808" y="4709160"/>
            <a:ext cx="155448" cy="155448"/>
          </a:xfrm>
          <a:prstGeom prst="ellipse">
            <a:avLst/>
          </a:prstGeom>
          <a:solidFill>
            <a:srgbClr val="98A2B3">
              <a:alpha val="45000"/>
            </a:srgbClr>
          </a:solidFill>
          <a:ln/>
        </p:spPr>
      </p:sp>
      <p:sp>
        <p:nvSpPr>
          <p:cNvPr id="142" name="Municipio"/>
          <p:cNvSpPr/>
          <p:nvPr/>
        </p:nvSpPr>
        <p:spPr>
          <a:xfrm>
            <a:off x="9061704" y="4709160"/>
            <a:ext cx="155448" cy="155448"/>
          </a:xfrm>
          <a:prstGeom prst="ellipse">
            <a:avLst/>
          </a:prstGeom>
          <a:solidFill>
            <a:srgbClr val="98A2B3">
              <a:alpha val="45000"/>
            </a:srgbClr>
          </a:solidFill>
          <a:ln/>
        </p:spPr>
      </p:sp>
      <p:sp>
        <p:nvSpPr>
          <p:cNvPr id="143" name="Municipio"/>
          <p:cNvSpPr/>
          <p:nvPr/>
        </p:nvSpPr>
        <p:spPr>
          <a:xfrm>
            <a:off x="9372600" y="4709160"/>
            <a:ext cx="155448" cy="155448"/>
          </a:xfrm>
          <a:prstGeom prst="ellipse">
            <a:avLst/>
          </a:prstGeom>
          <a:solidFill>
            <a:srgbClr val="98A2B3">
              <a:alpha val="45000"/>
            </a:srgbClr>
          </a:solidFill>
          <a:ln/>
        </p:spPr>
      </p:sp>
      <p:sp>
        <p:nvSpPr>
          <p:cNvPr id="144" name="Municipio"/>
          <p:cNvSpPr/>
          <p:nvPr/>
        </p:nvSpPr>
        <p:spPr>
          <a:xfrm>
            <a:off x="9683496" y="4709160"/>
            <a:ext cx="155448" cy="155448"/>
          </a:xfrm>
          <a:prstGeom prst="ellipse">
            <a:avLst/>
          </a:prstGeom>
          <a:solidFill>
            <a:srgbClr val="98A2B3">
              <a:alpha val="45000"/>
            </a:srgbClr>
          </a:solidFill>
          <a:ln/>
        </p:spPr>
      </p:sp>
      <p:sp>
        <p:nvSpPr>
          <p:cNvPr id="145" name="Municipio"/>
          <p:cNvSpPr/>
          <p:nvPr/>
        </p:nvSpPr>
        <p:spPr>
          <a:xfrm>
            <a:off x="9994392" y="4709160"/>
            <a:ext cx="155448" cy="155448"/>
          </a:xfrm>
          <a:prstGeom prst="ellipse">
            <a:avLst/>
          </a:prstGeom>
          <a:solidFill>
            <a:srgbClr val="98A2B3">
              <a:alpha val="45000"/>
            </a:srgbClr>
          </a:solidFill>
          <a:ln/>
        </p:spPr>
      </p:sp>
      <p:sp>
        <p:nvSpPr>
          <p:cNvPr id="146" name="Municipio"/>
          <p:cNvSpPr/>
          <p:nvPr/>
        </p:nvSpPr>
        <p:spPr>
          <a:xfrm>
            <a:off x="10305288" y="4709160"/>
            <a:ext cx="155448" cy="155448"/>
          </a:xfrm>
          <a:prstGeom prst="ellipse">
            <a:avLst/>
          </a:prstGeom>
          <a:solidFill>
            <a:srgbClr val="98A2B3">
              <a:alpha val="45000"/>
            </a:srgbClr>
          </a:solidFill>
          <a:ln/>
        </p:spPr>
      </p:sp>
      <p:sp>
        <p:nvSpPr>
          <p:cNvPr id="147" name="Municipio"/>
          <p:cNvSpPr/>
          <p:nvPr/>
        </p:nvSpPr>
        <p:spPr>
          <a:xfrm>
            <a:off x="10616184" y="4709160"/>
            <a:ext cx="155448" cy="155448"/>
          </a:xfrm>
          <a:prstGeom prst="ellipse">
            <a:avLst/>
          </a:prstGeom>
          <a:solidFill>
            <a:srgbClr val="98A2B3">
              <a:alpha val="45000"/>
            </a:srgbClr>
          </a:solidFill>
          <a:ln/>
        </p:spPr>
      </p:sp>
      <p:sp>
        <p:nvSpPr>
          <p:cNvPr id="148" name="Municipio"/>
          <p:cNvSpPr/>
          <p:nvPr/>
        </p:nvSpPr>
        <p:spPr>
          <a:xfrm>
            <a:off x="10927080" y="4709160"/>
            <a:ext cx="155448" cy="155448"/>
          </a:xfrm>
          <a:prstGeom prst="ellipse">
            <a:avLst/>
          </a:prstGeom>
          <a:solidFill>
            <a:srgbClr val="98A2B3">
              <a:alpha val="45000"/>
            </a:srgbClr>
          </a:solidFill>
          <a:ln/>
        </p:spPr>
      </p:sp>
      <p:sp>
        <p:nvSpPr>
          <p:cNvPr id="149" name="Municipio"/>
          <p:cNvSpPr/>
          <p:nvPr/>
        </p:nvSpPr>
        <p:spPr>
          <a:xfrm>
            <a:off x="11237976" y="4709160"/>
            <a:ext cx="155448" cy="155448"/>
          </a:xfrm>
          <a:prstGeom prst="ellipse">
            <a:avLst/>
          </a:prstGeom>
          <a:solidFill>
            <a:srgbClr val="98A2B3">
              <a:alpha val="45000"/>
            </a:srgbClr>
          </a:solidFill>
          <a:ln/>
        </p:spPr>
      </p:sp>
      <p:sp>
        <p:nvSpPr>
          <p:cNvPr id="150" name="Municipio piloto"/>
          <p:cNvSpPr/>
          <p:nvPr/>
        </p:nvSpPr>
        <p:spPr>
          <a:xfrm>
            <a:off x="11548872" y="4709160"/>
            <a:ext cx="155448" cy="155448"/>
          </a:xfrm>
          <a:prstGeom prst="ellipse">
            <a:avLst/>
          </a:prstGeom>
          <a:solidFill>
            <a:schemeClr val="accent6"/>
          </a:solidFill>
          <a:ln/>
        </p:spPr>
      </p:sp>
      <p:sp>
        <p:nvSpPr>
          <p:cNvPr id="151" name="Municipio"/>
          <p:cNvSpPr/>
          <p:nvPr/>
        </p:nvSpPr>
        <p:spPr>
          <a:xfrm>
            <a:off x="7818120" y="5074920"/>
            <a:ext cx="155448" cy="155448"/>
          </a:xfrm>
          <a:prstGeom prst="ellipse">
            <a:avLst/>
          </a:prstGeom>
          <a:solidFill>
            <a:srgbClr val="98A2B3">
              <a:alpha val="45000"/>
            </a:srgbClr>
          </a:solidFill>
          <a:ln/>
        </p:spPr>
      </p:sp>
      <p:sp>
        <p:nvSpPr>
          <p:cNvPr id="152" name="Municipio"/>
          <p:cNvSpPr/>
          <p:nvPr/>
        </p:nvSpPr>
        <p:spPr>
          <a:xfrm>
            <a:off x="8129016" y="5074920"/>
            <a:ext cx="155448" cy="155448"/>
          </a:xfrm>
          <a:prstGeom prst="ellipse">
            <a:avLst/>
          </a:prstGeom>
          <a:solidFill>
            <a:srgbClr val="98A2B3">
              <a:alpha val="45000"/>
            </a:srgbClr>
          </a:solidFill>
          <a:ln/>
        </p:spPr>
      </p:sp>
      <p:sp>
        <p:nvSpPr>
          <p:cNvPr id="153" name="Municipio piloto"/>
          <p:cNvSpPr/>
          <p:nvPr/>
        </p:nvSpPr>
        <p:spPr>
          <a:xfrm>
            <a:off x="8439912" y="5074920"/>
            <a:ext cx="155448" cy="155448"/>
          </a:xfrm>
          <a:prstGeom prst="ellipse">
            <a:avLst/>
          </a:prstGeom>
          <a:solidFill>
            <a:schemeClr val="accent6"/>
          </a:solidFill>
          <a:ln/>
        </p:spPr>
      </p:sp>
      <p:sp>
        <p:nvSpPr>
          <p:cNvPr id="154" name="Municipio"/>
          <p:cNvSpPr/>
          <p:nvPr/>
        </p:nvSpPr>
        <p:spPr>
          <a:xfrm>
            <a:off x="8750808" y="5074920"/>
            <a:ext cx="155448" cy="155448"/>
          </a:xfrm>
          <a:prstGeom prst="ellipse">
            <a:avLst/>
          </a:prstGeom>
          <a:solidFill>
            <a:srgbClr val="98A2B3">
              <a:alpha val="45000"/>
            </a:srgbClr>
          </a:solidFill>
          <a:ln/>
        </p:spPr>
      </p:sp>
      <p:sp>
        <p:nvSpPr>
          <p:cNvPr id="155" name="Municipio piloto"/>
          <p:cNvSpPr/>
          <p:nvPr/>
        </p:nvSpPr>
        <p:spPr>
          <a:xfrm>
            <a:off x="9061704" y="5074920"/>
            <a:ext cx="155448" cy="155448"/>
          </a:xfrm>
          <a:prstGeom prst="ellipse">
            <a:avLst/>
          </a:prstGeom>
          <a:solidFill>
            <a:schemeClr val="accent6"/>
          </a:solidFill>
          <a:ln/>
        </p:spPr>
      </p:sp>
      <p:sp>
        <p:nvSpPr>
          <p:cNvPr id="156" name="Municipio"/>
          <p:cNvSpPr/>
          <p:nvPr/>
        </p:nvSpPr>
        <p:spPr>
          <a:xfrm>
            <a:off x="9372600" y="5074920"/>
            <a:ext cx="155448" cy="155448"/>
          </a:xfrm>
          <a:prstGeom prst="ellipse">
            <a:avLst/>
          </a:prstGeom>
          <a:solidFill>
            <a:srgbClr val="98A2B3">
              <a:alpha val="45000"/>
            </a:srgbClr>
          </a:solidFill>
          <a:ln/>
        </p:spPr>
      </p:sp>
      <p:sp>
        <p:nvSpPr>
          <p:cNvPr id="157" name="Municipio"/>
          <p:cNvSpPr/>
          <p:nvPr/>
        </p:nvSpPr>
        <p:spPr>
          <a:xfrm>
            <a:off x="9683496" y="5074920"/>
            <a:ext cx="155448" cy="155448"/>
          </a:xfrm>
          <a:prstGeom prst="ellipse">
            <a:avLst/>
          </a:prstGeom>
          <a:solidFill>
            <a:srgbClr val="98A2B3">
              <a:alpha val="45000"/>
            </a:srgbClr>
          </a:solidFill>
          <a:ln/>
        </p:spPr>
      </p:sp>
      <p:sp>
        <p:nvSpPr>
          <p:cNvPr id="158" name="Municipio"/>
          <p:cNvSpPr/>
          <p:nvPr/>
        </p:nvSpPr>
        <p:spPr>
          <a:xfrm>
            <a:off x="9994392" y="5074920"/>
            <a:ext cx="155448" cy="155448"/>
          </a:xfrm>
          <a:prstGeom prst="ellipse">
            <a:avLst/>
          </a:prstGeom>
          <a:solidFill>
            <a:srgbClr val="98A2B3">
              <a:alpha val="45000"/>
            </a:srgbClr>
          </a:solidFill>
          <a:ln/>
        </p:spPr>
      </p:sp>
      <p:sp>
        <p:nvSpPr>
          <p:cNvPr id="159" name="Municipio"/>
          <p:cNvSpPr/>
          <p:nvPr/>
        </p:nvSpPr>
        <p:spPr>
          <a:xfrm>
            <a:off x="10305288" y="5074920"/>
            <a:ext cx="155448" cy="155448"/>
          </a:xfrm>
          <a:prstGeom prst="ellipse">
            <a:avLst/>
          </a:prstGeom>
          <a:solidFill>
            <a:srgbClr val="98A2B3">
              <a:alpha val="45000"/>
            </a:srgbClr>
          </a:solidFill>
          <a:ln/>
        </p:spPr>
      </p:sp>
      <p:sp>
        <p:nvSpPr>
          <p:cNvPr id="160" name="Municipio piloto"/>
          <p:cNvSpPr/>
          <p:nvPr/>
        </p:nvSpPr>
        <p:spPr>
          <a:xfrm>
            <a:off x="10616184" y="5074920"/>
            <a:ext cx="155448" cy="155448"/>
          </a:xfrm>
          <a:prstGeom prst="ellipse">
            <a:avLst/>
          </a:prstGeom>
          <a:solidFill>
            <a:schemeClr val="accent6"/>
          </a:solidFill>
          <a:ln/>
        </p:spPr>
      </p:sp>
      <p:sp>
        <p:nvSpPr>
          <p:cNvPr id="161" name="Municipio"/>
          <p:cNvSpPr/>
          <p:nvPr/>
        </p:nvSpPr>
        <p:spPr>
          <a:xfrm>
            <a:off x="10927080" y="5074920"/>
            <a:ext cx="155448" cy="155448"/>
          </a:xfrm>
          <a:prstGeom prst="ellipse">
            <a:avLst/>
          </a:prstGeom>
          <a:solidFill>
            <a:srgbClr val="98A2B3">
              <a:alpha val="45000"/>
            </a:srgbClr>
          </a:solidFill>
          <a:ln/>
        </p:spPr>
      </p:sp>
      <p:sp>
        <p:nvSpPr>
          <p:cNvPr id="162" name="Municipio"/>
          <p:cNvSpPr/>
          <p:nvPr/>
        </p:nvSpPr>
        <p:spPr>
          <a:xfrm>
            <a:off x="11237976" y="5074920"/>
            <a:ext cx="155448" cy="155448"/>
          </a:xfrm>
          <a:prstGeom prst="ellipse">
            <a:avLst/>
          </a:prstGeom>
          <a:solidFill>
            <a:srgbClr val="98A2B3">
              <a:alpha val="45000"/>
            </a:srgbClr>
          </a:solidFill>
          <a:ln/>
        </p:spPr>
      </p:sp>
      <p:sp>
        <p:nvSpPr>
          <p:cNvPr id="163" name="Text 161"/>
          <p:cNvSpPr txBox="1"/>
          <p:nvPr/>
        </p:nvSpPr>
        <p:spPr>
          <a:xfrm>
            <a:off x="7818120" y="5577840"/>
            <a:ext cx="4023360" cy="274320"/>
          </a:xfrm>
          <a:prstGeom prst="rect">
            <a:avLst/>
          </a:prstGeom>
          <a:noFill/>
          <a:ln/>
        </p:spPr>
        <p:txBody>
          <a:bodyPr wrap="square" lIns="0" tIns="0" rIns="0" bIns="0" rtlCol="0" anchor="t"/>
          <a:lstStyle/>
          <a:p>
            <a:pPr indent="0" marL="0">
              <a:buNone/>
            </a:pPr>
            <a:r>
              <a:rPr lang="en-US" sz="1200" dirty="0">
                <a:solidFill>
                  <a:schemeClr val="accent5"/>
                </a:solidFill>
              </a:rPr>
              <a:t>155 municipios, 20 en el piloto</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1  ·  CONTEXTO TERRITORIAL</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Asimetría demográfica y no compensación</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600" dirty="0">
                <a:solidFill>
                  <a:schemeClr val="tx2"/>
                </a:solidFill>
              </a:rPr>
              <a:t>Diagnóstico de partida en los 155 municipios de menos de 50.000 habitantes</a:t>
            </a:r>
            <a:endParaRPr lang="en-US" sz="1600" dirty="0"/>
          </a:p>
        </p:txBody>
      </p:sp>
      <p:sp>
        <p:nvSpPr>
          <p:cNvPr id="5" name="Tarjeta"/>
          <p:cNvSpPr/>
          <p:nvPr/>
        </p:nvSpPr>
        <p:spPr>
          <a:xfrm>
            <a:off x="640080" y="1965960"/>
            <a:ext cx="3474720" cy="4206240"/>
          </a:xfrm>
          <a:prstGeom prst="roundRect">
            <a:avLst>
              <a:gd name="adj" fmla="val 2632"/>
            </a:avLst>
          </a:prstGeom>
          <a:solidFill>
            <a:schemeClr val="bg2"/>
          </a:solidFill>
          <a:ln/>
        </p:spPr>
      </p:sp>
      <p:sp>
        <p:nvSpPr>
          <p:cNvPr id="6" name="Círculo icono"/>
          <p:cNvSpPr/>
          <p:nvPr/>
        </p:nvSpPr>
        <p:spPr>
          <a:xfrm>
            <a:off x="914400" y="2240280"/>
            <a:ext cx="548640" cy="548640"/>
          </a:xfrm>
          <a:prstGeom prst="ellipse">
            <a:avLst/>
          </a:prstGeom>
          <a:solidFill>
            <a:srgbClr val="C0263F"/>
          </a:solidFill>
          <a:ln/>
        </p:spPr>
      </p:sp>
      <p:pic>
        <p:nvPicPr>
          <p:cNvPr id="7" name="Image 0" descr="preencoded.png">    </p:cNvPr>
          <p:cNvPicPr>
            <a:picLocks noChangeAspect="1"/>
          </p:cNvPicPr>
          <p:nvPr/>
        </p:nvPicPr>
        <p:blipFill>
          <a:blip r:embed="rId1"/>
          <a:stretch>
            <a:fillRect/>
          </a:stretch>
        </p:blipFill>
        <p:spPr>
          <a:xfrm>
            <a:off x="1035101" y="2360981"/>
            <a:ext cx="307238" cy="307238"/>
          </a:xfrm>
          <a:prstGeom prst="rect">
            <a:avLst/>
          </a:prstGeom>
        </p:spPr>
      </p:pic>
      <p:sp>
        <p:nvSpPr>
          <p:cNvPr id="8" name="Text 5"/>
          <p:cNvSpPr txBox="1"/>
          <p:nvPr/>
        </p:nvSpPr>
        <p:spPr>
          <a:xfrm>
            <a:off x="914400" y="3017520"/>
            <a:ext cx="301752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CONCENTRACIÓN METROPOLITANA</a:t>
            </a:r>
            <a:endParaRPr lang="en-US" sz="1200" dirty="0"/>
          </a:p>
        </p:txBody>
      </p:sp>
      <p:sp>
        <p:nvSpPr>
          <p:cNvPr id="9" name="Text 6"/>
          <p:cNvSpPr txBox="1"/>
          <p:nvPr/>
        </p:nvSpPr>
        <p:spPr>
          <a:xfrm>
            <a:off x="914400" y="3337560"/>
            <a:ext cx="2926080" cy="777240"/>
          </a:xfrm>
          <a:prstGeom prst="rect">
            <a:avLst/>
          </a:prstGeom>
          <a:noFill/>
          <a:ln/>
        </p:spPr>
        <p:txBody>
          <a:bodyPr wrap="square" lIns="0" tIns="0" rIns="0" bIns="0" rtlCol="0" anchor="t"/>
          <a:lstStyle/>
          <a:p>
            <a:pPr indent="0" marL="0">
              <a:buNone/>
            </a:pPr>
            <a:r>
              <a:rPr lang="en-US" sz="5400" b="1" dirty="0">
                <a:solidFill>
                  <a:schemeClr val="accent1"/>
                </a:solidFill>
                <a:latin typeface="+mj-lt" pitchFamily="34" charset="0"/>
                <a:ea typeface="+mj-lt" pitchFamily="34" charset="-122"/>
                <a:cs typeface="+mj-lt" pitchFamily="34" charset="-120"/>
              </a:rPr>
              <a:t>80%</a:t>
            </a:r>
            <a:endParaRPr lang="en-US" sz="5400" dirty="0"/>
          </a:p>
        </p:txBody>
      </p:sp>
      <p:sp>
        <p:nvSpPr>
          <p:cNvPr id="10" name="Text 7"/>
          <p:cNvSpPr txBox="1"/>
          <p:nvPr/>
        </p:nvSpPr>
        <p:spPr>
          <a:xfrm>
            <a:off x="914400" y="4251960"/>
            <a:ext cx="2926080" cy="1783080"/>
          </a:xfrm>
          <a:prstGeom prst="rect">
            <a:avLst/>
          </a:prstGeom>
          <a:noFill/>
          <a:ln/>
        </p:spPr>
        <p:txBody>
          <a:bodyPr wrap="square" lIns="0" tIns="0" rIns="0" bIns="0" rtlCol="0" anchor="t"/>
          <a:lstStyle/>
          <a:p>
            <a:pPr indent="0" marL="0">
              <a:buNone/>
            </a:pPr>
            <a:r>
              <a:rPr lang="en-US" sz="1500" dirty="0">
                <a:solidFill>
                  <a:schemeClr val="tx2"/>
                </a:solidFill>
              </a:rPr>
              <a:t>de la población regional vive en el área metropolitana central: congestión viaria, vivienda cara y tensión en la red asistencial. Los 155 municipios restantes tienen potencial, pero antes hay que medir cuánto aguantan.</a:t>
            </a:r>
            <a:endParaRPr lang="en-US" sz="1500" dirty="0"/>
          </a:p>
        </p:txBody>
      </p:sp>
      <p:sp>
        <p:nvSpPr>
          <p:cNvPr id="11" name="Tarjeta"/>
          <p:cNvSpPr/>
          <p:nvPr/>
        </p:nvSpPr>
        <p:spPr>
          <a:xfrm>
            <a:off x="4357116" y="1965960"/>
            <a:ext cx="3474720" cy="4206240"/>
          </a:xfrm>
          <a:prstGeom prst="roundRect">
            <a:avLst>
              <a:gd name="adj" fmla="val 2632"/>
            </a:avLst>
          </a:prstGeom>
          <a:solidFill>
            <a:schemeClr val="bg2"/>
          </a:solidFill>
          <a:ln/>
        </p:spPr>
      </p:sp>
      <p:sp>
        <p:nvSpPr>
          <p:cNvPr id="12" name="Círculo icono"/>
          <p:cNvSpPr/>
          <p:nvPr/>
        </p:nvSpPr>
        <p:spPr>
          <a:xfrm>
            <a:off x="4631436" y="2240280"/>
            <a:ext cx="548640" cy="548640"/>
          </a:xfrm>
          <a:prstGeom prst="ellipse">
            <a:avLst/>
          </a:prstGeom>
          <a:solidFill>
            <a:srgbClr val="C0263F"/>
          </a:solidFill>
          <a:ln/>
        </p:spPr>
      </p:sp>
      <p:pic>
        <p:nvPicPr>
          <p:cNvPr id="13" name="Image 1" descr="preencoded.png">    </p:cNvPr>
          <p:cNvPicPr>
            <a:picLocks noChangeAspect="1"/>
          </p:cNvPicPr>
          <p:nvPr/>
        </p:nvPicPr>
        <p:blipFill>
          <a:blip r:embed="rId2"/>
          <a:stretch>
            <a:fillRect/>
          </a:stretch>
        </p:blipFill>
        <p:spPr>
          <a:xfrm>
            <a:off x="4752137" y="2360981"/>
            <a:ext cx="307238" cy="307238"/>
          </a:xfrm>
          <a:prstGeom prst="rect">
            <a:avLst/>
          </a:prstGeom>
        </p:spPr>
      </p:pic>
      <p:sp>
        <p:nvSpPr>
          <p:cNvPr id="14" name="Text 10"/>
          <p:cNvSpPr txBox="1"/>
          <p:nvPr/>
        </p:nvSpPr>
        <p:spPr>
          <a:xfrm>
            <a:off x="4631436" y="3017520"/>
            <a:ext cx="301752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LA PARADOJA DEL ATRACTIVO</a:t>
            </a:r>
            <a:endParaRPr lang="en-US" sz="1200" dirty="0"/>
          </a:p>
        </p:txBody>
      </p:sp>
      <p:sp>
        <p:nvSpPr>
          <p:cNvPr id="15" name="Text 11"/>
          <p:cNvSpPr txBox="1"/>
          <p:nvPr/>
        </p:nvSpPr>
        <p:spPr>
          <a:xfrm>
            <a:off x="4631436" y="3337560"/>
            <a:ext cx="2926080" cy="77724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Menor precio ≠ mayor capacidad</a:t>
            </a:r>
            <a:endParaRPr lang="en-US" sz="2100" dirty="0"/>
          </a:p>
        </p:txBody>
      </p:sp>
      <p:sp>
        <p:nvSpPr>
          <p:cNvPr id="16" name="Text 12"/>
          <p:cNvSpPr txBox="1"/>
          <p:nvPr/>
        </p:nvSpPr>
        <p:spPr>
          <a:xfrm>
            <a:off x="4631436" y="4251960"/>
            <a:ext cx="2926080" cy="1783080"/>
          </a:xfrm>
          <a:prstGeom prst="rect">
            <a:avLst/>
          </a:prstGeom>
          <a:noFill/>
          <a:ln/>
        </p:spPr>
        <p:txBody>
          <a:bodyPr wrap="square" lIns="0" tIns="0" rIns="0" bIns="0" rtlCol="0" anchor="t"/>
          <a:lstStyle/>
          <a:p>
            <a:pPr indent="0" marL="0">
              <a:buNone/>
            </a:pPr>
            <a:r>
              <a:rPr lang="en-US" sz="1500" dirty="0">
                <a:solidFill>
                  <a:schemeClr val="tx2"/>
                </a:solidFill>
              </a:rPr>
              <a:t>Un municipio asequible puede no tener plazas escolares ni médicos para nuevas familias. Atraer población donde no hay holgura dotacional traslada el colapso al entorno rural.</a:t>
            </a:r>
            <a:endParaRPr lang="en-US" sz="1500" dirty="0"/>
          </a:p>
        </p:txBody>
      </p:sp>
      <p:sp>
        <p:nvSpPr>
          <p:cNvPr id="17" name="Tarjeta"/>
          <p:cNvSpPr/>
          <p:nvPr/>
        </p:nvSpPr>
        <p:spPr>
          <a:xfrm>
            <a:off x="8074152" y="1965960"/>
            <a:ext cx="3474720" cy="4206240"/>
          </a:xfrm>
          <a:prstGeom prst="roundRect">
            <a:avLst>
              <a:gd name="adj" fmla="val 2632"/>
            </a:avLst>
          </a:prstGeom>
          <a:solidFill>
            <a:schemeClr val="bg2"/>
          </a:solidFill>
          <a:ln/>
        </p:spPr>
      </p:sp>
      <p:sp>
        <p:nvSpPr>
          <p:cNvPr id="18" name="Círculo icono"/>
          <p:cNvSpPr/>
          <p:nvPr/>
        </p:nvSpPr>
        <p:spPr>
          <a:xfrm>
            <a:off x="8348472" y="2240280"/>
            <a:ext cx="548640" cy="548640"/>
          </a:xfrm>
          <a:prstGeom prst="ellipse">
            <a:avLst/>
          </a:prstGeom>
          <a:solidFill>
            <a:srgbClr val="C0263F"/>
          </a:solidFill>
          <a:ln/>
        </p:spPr>
      </p:sp>
      <p:pic>
        <p:nvPicPr>
          <p:cNvPr id="19" name="Image 2" descr="preencoded.png">    </p:cNvPr>
          <p:cNvPicPr>
            <a:picLocks noChangeAspect="1"/>
          </p:cNvPicPr>
          <p:nvPr/>
        </p:nvPicPr>
        <p:blipFill>
          <a:blip r:embed="rId3"/>
          <a:stretch>
            <a:fillRect/>
          </a:stretch>
        </p:blipFill>
        <p:spPr>
          <a:xfrm>
            <a:off x="8469173" y="2360981"/>
            <a:ext cx="307238" cy="307238"/>
          </a:xfrm>
          <a:prstGeom prst="rect">
            <a:avLst/>
          </a:prstGeom>
        </p:spPr>
      </p:pic>
      <p:sp>
        <p:nvSpPr>
          <p:cNvPr id="20" name="Text 15"/>
          <p:cNvSpPr txBox="1"/>
          <p:nvPr/>
        </p:nvSpPr>
        <p:spPr>
          <a:xfrm>
            <a:off x="8348472" y="3017520"/>
            <a:ext cx="301752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REGLA DE NO COMPENSACIÓN</a:t>
            </a:r>
            <a:endParaRPr lang="en-US" sz="1200" dirty="0"/>
          </a:p>
        </p:txBody>
      </p:sp>
      <p:sp>
        <p:nvSpPr>
          <p:cNvPr id="21" name="Text 16"/>
          <p:cNvSpPr txBox="1"/>
          <p:nvPr/>
        </p:nvSpPr>
        <p:spPr>
          <a:xfrm>
            <a:off x="8348472" y="3337560"/>
            <a:ext cx="2926080" cy="77724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Principio del cuello de botella</a:t>
            </a:r>
            <a:endParaRPr lang="en-US" sz="2100" dirty="0"/>
          </a:p>
        </p:txBody>
      </p:sp>
      <p:sp>
        <p:nvSpPr>
          <p:cNvPr id="22" name="Text 17"/>
          <p:cNvSpPr txBox="1"/>
          <p:nvPr/>
        </p:nvSpPr>
        <p:spPr>
          <a:xfrm>
            <a:off x="8348472" y="4251960"/>
            <a:ext cx="2926080" cy="1783080"/>
          </a:xfrm>
          <a:prstGeom prst="rect">
            <a:avLst/>
          </a:prstGeom>
          <a:noFill/>
          <a:ln/>
        </p:spPr>
        <p:txBody>
          <a:bodyPr wrap="square" lIns="0" tIns="0" rIns="0" bIns="0" rtlCol="0" anchor="t"/>
          <a:lstStyle/>
          <a:p>
            <a:pPr indent="0" marL="0">
              <a:buNone/>
            </a:pPr>
            <a:r>
              <a:rPr lang="en-US" sz="1500" dirty="0">
                <a:solidFill>
                  <a:schemeClr val="tx2"/>
                </a:solidFill>
              </a:rPr>
              <a:t>Según la ley del mínimo de Liebig, la falta de sanidad o educación no se compensa con suelo ni zonas verdes. Más de 1.500 hab/médico o aulas al 95%: el índice queda por debajo de 40.</a:t>
            </a:r>
            <a:endParaRPr lang="en-US" sz="15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2  ·  TRATAMIENTO DE DATOS</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Datos trazables: qué es real y qué es estimado</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600" dirty="0">
                <a:solidFill>
                  <a:schemeClr val="tx2"/>
                </a:solidFill>
              </a:rPr>
              <a:t>Fase 1, ingesta y etiquetado de fuentes. Fase 2, control de calidad.</a:t>
            </a:r>
            <a:endParaRPr lang="en-US" sz="1600" dirty="0"/>
          </a:p>
        </p:txBody>
      </p:sp>
      <p:sp>
        <p:nvSpPr>
          <p:cNvPr id="5" name="Text 3"/>
          <p:cNvSpPr txBox="1"/>
          <p:nvPr/>
        </p:nvSpPr>
        <p:spPr>
          <a:xfrm>
            <a:off x="640080" y="2011680"/>
            <a:ext cx="45720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FASE 1  ·  INGESTA</a:t>
            </a:r>
            <a:endParaRPr lang="en-US" sz="1200" dirty="0"/>
          </a:p>
        </p:txBody>
      </p:sp>
      <p:sp>
        <p:nvSpPr>
          <p:cNvPr id="6" name="Etiqueta fuente"/>
          <p:cNvSpPr/>
          <p:nvPr/>
        </p:nvSpPr>
        <p:spPr>
          <a:xfrm>
            <a:off x="640080" y="2450592"/>
            <a:ext cx="1143000" cy="420624"/>
          </a:xfrm>
          <a:prstGeom prst="roundRect">
            <a:avLst>
              <a:gd name="adj" fmla="val 17391"/>
            </a:avLst>
          </a:prstGeom>
          <a:solidFill>
            <a:schemeClr val="tx1"/>
          </a:solidFill>
          <a:ln/>
        </p:spPr>
      </p:sp>
      <p:sp>
        <p:nvSpPr>
          <p:cNvPr id="7" name="Text 5"/>
          <p:cNvSpPr txBox="1"/>
          <p:nvPr/>
        </p:nvSpPr>
        <p:spPr>
          <a:xfrm>
            <a:off x="640080" y="2450592"/>
            <a:ext cx="1143000" cy="420624"/>
          </a:xfrm>
          <a:prstGeom prst="rect">
            <a:avLst/>
          </a:prstGeom>
          <a:noFill/>
          <a:ln/>
        </p:spPr>
        <p:txBody>
          <a:bodyPr wrap="square" lIns="0" tIns="0" rIns="0" bIns="0" rtlCol="0" anchor="ctr"/>
          <a:lstStyle/>
          <a:p>
            <a:pPr algn="ctr" indent="0" marL="0">
              <a:buNone/>
            </a:pPr>
            <a:r>
              <a:rPr lang="en-US" sz="1200" b="1" dirty="0">
                <a:solidFill>
                  <a:schemeClr val="bg1"/>
                </a:solidFill>
              </a:rPr>
              <a:t>INE</a:t>
            </a:r>
            <a:endParaRPr lang="en-US" sz="1200" dirty="0"/>
          </a:p>
        </p:txBody>
      </p:sp>
      <p:sp>
        <p:nvSpPr>
          <p:cNvPr id="8" name="Text 6"/>
          <p:cNvSpPr txBox="1"/>
          <p:nvPr/>
        </p:nvSpPr>
        <p:spPr>
          <a:xfrm>
            <a:off x="2011680" y="2377440"/>
            <a:ext cx="4114800" cy="685800"/>
          </a:xfrm>
          <a:prstGeom prst="rect">
            <a:avLst/>
          </a:prstGeom>
          <a:noFill/>
          <a:ln/>
        </p:spPr>
        <p:txBody>
          <a:bodyPr wrap="square" lIns="0" tIns="0" rIns="0" bIns="0" rtlCol="0" anchor="t"/>
          <a:lstStyle/>
          <a:p>
            <a:pPr indent="0" marL="0">
              <a:buNone/>
            </a:pPr>
            <a:r>
              <a:rPr lang="en-US" sz="1500" b="1" dirty="0">
                <a:solidFill>
                  <a:schemeClr val="tx1"/>
                </a:solidFill>
              </a:rPr>
              <a:t>Padrón continuo y migraciones</a:t>
            </a:r>
            <a:endParaRPr lang="en-US" sz="1500" dirty="0"/>
          </a:p>
          <a:p>
            <a:pPr indent="0" marL="0">
              <a:buNone/>
            </a:pPr>
            <a:r>
              <a:rPr lang="en-US" sz="1400" dirty="0">
                <a:solidFill>
                  <a:schemeClr val="tx2"/>
                </a:solidFill>
              </a:rPr>
              <a:t>Población histórica y saldo neto (datos reales)</a:t>
            </a:r>
            <a:endParaRPr lang="en-US" sz="1500" dirty="0"/>
          </a:p>
        </p:txBody>
      </p:sp>
      <p:sp>
        <p:nvSpPr>
          <p:cNvPr id="9" name="Etiqueta fuente"/>
          <p:cNvSpPr/>
          <p:nvPr/>
        </p:nvSpPr>
        <p:spPr>
          <a:xfrm>
            <a:off x="640080" y="3236976"/>
            <a:ext cx="1143000" cy="420624"/>
          </a:xfrm>
          <a:prstGeom prst="roundRect">
            <a:avLst>
              <a:gd name="adj" fmla="val 17391"/>
            </a:avLst>
          </a:prstGeom>
          <a:solidFill>
            <a:schemeClr val="tx1"/>
          </a:solidFill>
          <a:ln/>
        </p:spPr>
      </p:sp>
      <p:sp>
        <p:nvSpPr>
          <p:cNvPr id="10" name="Text 8"/>
          <p:cNvSpPr txBox="1"/>
          <p:nvPr/>
        </p:nvSpPr>
        <p:spPr>
          <a:xfrm>
            <a:off x="640080" y="3236976"/>
            <a:ext cx="1143000" cy="420624"/>
          </a:xfrm>
          <a:prstGeom prst="rect">
            <a:avLst/>
          </a:prstGeom>
          <a:noFill/>
          <a:ln/>
        </p:spPr>
        <p:txBody>
          <a:bodyPr wrap="square" lIns="0" tIns="0" rIns="0" bIns="0" rtlCol="0" anchor="ctr"/>
          <a:lstStyle/>
          <a:p>
            <a:pPr algn="ctr" indent="0" marL="0">
              <a:buNone/>
            </a:pPr>
            <a:r>
              <a:rPr lang="en-US" sz="1200" b="1" dirty="0">
                <a:solidFill>
                  <a:schemeClr val="bg1"/>
                </a:solidFill>
              </a:rPr>
              <a:t>CAM</a:t>
            </a:r>
            <a:endParaRPr lang="en-US" sz="1200" dirty="0"/>
          </a:p>
        </p:txBody>
      </p:sp>
      <p:sp>
        <p:nvSpPr>
          <p:cNvPr id="11" name="Text 9"/>
          <p:cNvSpPr txBox="1"/>
          <p:nvPr/>
        </p:nvSpPr>
        <p:spPr>
          <a:xfrm>
            <a:off x="2011680" y="3163824"/>
            <a:ext cx="4114800" cy="685800"/>
          </a:xfrm>
          <a:prstGeom prst="rect">
            <a:avLst/>
          </a:prstGeom>
          <a:noFill/>
          <a:ln/>
        </p:spPr>
        <p:txBody>
          <a:bodyPr wrap="square" lIns="0" tIns="0" rIns="0" bIns="0" rtlCol="0" anchor="t"/>
          <a:lstStyle/>
          <a:p>
            <a:pPr indent="0" marL="0">
              <a:buNone/>
            </a:pPr>
            <a:r>
              <a:rPr lang="en-US" sz="1500" b="1" dirty="0">
                <a:solidFill>
                  <a:schemeClr val="tx1"/>
                </a:solidFill>
              </a:rPr>
              <a:t>Datos abiertos de la Comunidad (CKAN)</a:t>
            </a:r>
            <a:endParaRPr lang="en-US" sz="1500" dirty="0"/>
          </a:p>
          <a:p>
            <a:pPr indent="0" marL="0">
              <a:buNone/>
            </a:pPr>
            <a:r>
              <a:rPr lang="en-US" sz="1400" dirty="0">
                <a:solidFill>
                  <a:schemeClr val="tx2"/>
                </a:solidFill>
              </a:rPr>
              <a:t>Centros de salud en alta (SERMAS) y centros educativos</a:t>
            </a:r>
            <a:endParaRPr lang="en-US" sz="1500" dirty="0"/>
          </a:p>
        </p:txBody>
      </p:sp>
      <p:sp>
        <p:nvSpPr>
          <p:cNvPr id="12" name="Etiqueta fuente"/>
          <p:cNvSpPr/>
          <p:nvPr/>
        </p:nvSpPr>
        <p:spPr>
          <a:xfrm>
            <a:off x="640080" y="4023360"/>
            <a:ext cx="1143000" cy="420624"/>
          </a:xfrm>
          <a:prstGeom prst="roundRect">
            <a:avLst>
              <a:gd name="adj" fmla="val 17391"/>
            </a:avLst>
          </a:prstGeom>
          <a:solidFill>
            <a:schemeClr val="tx1"/>
          </a:solidFill>
          <a:ln/>
        </p:spPr>
      </p:sp>
      <p:sp>
        <p:nvSpPr>
          <p:cNvPr id="13" name="Text 11"/>
          <p:cNvSpPr txBox="1"/>
          <p:nvPr/>
        </p:nvSpPr>
        <p:spPr>
          <a:xfrm>
            <a:off x="640080" y="4023360"/>
            <a:ext cx="1143000" cy="420624"/>
          </a:xfrm>
          <a:prstGeom prst="rect">
            <a:avLst/>
          </a:prstGeom>
          <a:noFill/>
          <a:ln/>
        </p:spPr>
        <p:txBody>
          <a:bodyPr wrap="square" lIns="0" tIns="0" rIns="0" bIns="0" rtlCol="0" anchor="ctr"/>
          <a:lstStyle/>
          <a:p>
            <a:pPr algn="ctr" indent="0" marL="0">
              <a:buNone/>
            </a:pPr>
            <a:r>
              <a:rPr lang="en-US" sz="1200" b="1" dirty="0">
                <a:solidFill>
                  <a:schemeClr val="bg1"/>
                </a:solidFill>
              </a:rPr>
              <a:t>CATASTRO</a:t>
            </a:r>
            <a:endParaRPr lang="en-US" sz="1200" dirty="0"/>
          </a:p>
        </p:txBody>
      </p:sp>
      <p:sp>
        <p:nvSpPr>
          <p:cNvPr id="14" name="Text 12"/>
          <p:cNvSpPr txBox="1"/>
          <p:nvPr/>
        </p:nvSpPr>
        <p:spPr>
          <a:xfrm>
            <a:off x="2011680" y="3950208"/>
            <a:ext cx="4114800" cy="685800"/>
          </a:xfrm>
          <a:prstGeom prst="rect">
            <a:avLst/>
          </a:prstGeom>
          <a:noFill/>
          <a:ln/>
        </p:spPr>
        <p:txBody>
          <a:bodyPr wrap="square" lIns="0" tIns="0" rIns="0" bIns="0" rtlCol="0" anchor="t"/>
          <a:lstStyle/>
          <a:p>
            <a:pPr indent="0" marL="0">
              <a:buNone/>
            </a:pPr>
            <a:r>
              <a:rPr lang="en-US" sz="1500" b="1" dirty="0">
                <a:solidFill>
                  <a:schemeClr val="tx1"/>
                </a:solidFill>
              </a:rPr>
              <a:t>Dirección General del Catastro, 2026</a:t>
            </a:r>
            <a:endParaRPr lang="en-US" sz="1500" dirty="0"/>
          </a:p>
          <a:p>
            <a:pPr indent="0" marL="0">
              <a:buNone/>
            </a:pPr>
            <a:r>
              <a:rPr lang="en-US" sz="1400" dirty="0">
                <a:solidFill>
                  <a:schemeClr val="tx2"/>
                </a:solidFill>
              </a:rPr>
              <a:t>Valor catastral medio (€/m²) y volumen edificado</a:t>
            </a:r>
            <a:endParaRPr lang="en-US" sz="1500" dirty="0"/>
          </a:p>
        </p:txBody>
      </p:sp>
      <p:sp>
        <p:nvSpPr>
          <p:cNvPr id="15" name="Etiqueta fuente"/>
          <p:cNvSpPr/>
          <p:nvPr/>
        </p:nvSpPr>
        <p:spPr>
          <a:xfrm>
            <a:off x="640080" y="4809744"/>
            <a:ext cx="1143000" cy="420624"/>
          </a:xfrm>
          <a:prstGeom prst="roundRect">
            <a:avLst>
              <a:gd name="adj" fmla="val 17391"/>
            </a:avLst>
          </a:prstGeom>
          <a:solidFill>
            <a:schemeClr val="tx1"/>
          </a:solidFill>
          <a:ln/>
        </p:spPr>
      </p:sp>
      <p:sp>
        <p:nvSpPr>
          <p:cNvPr id="16" name="Text 14"/>
          <p:cNvSpPr txBox="1"/>
          <p:nvPr/>
        </p:nvSpPr>
        <p:spPr>
          <a:xfrm>
            <a:off x="640080" y="4809744"/>
            <a:ext cx="1143000" cy="420624"/>
          </a:xfrm>
          <a:prstGeom prst="rect">
            <a:avLst/>
          </a:prstGeom>
          <a:noFill/>
          <a:ln/>
        </p:spPr>
        <p:txBody>
          <a:bodyPr wrap="square" lIns="0" tIns="0" rIns="0" bIns="0" rtlCol="0" anchor="ctr"/>
          <a:lstStyle/>
          <a:p>
            <a:pPr algn="ctr" indent="0" marL="0">
              <a:buNone/>
            </a:pPr>
            <a:r>
              <a:rPr lang="en-US" sz="1200" b="1" dirty="0">
                <a:solidFill>
                  <a:schemeClr val="bg1"/>
                </a:solidFill>
              </a:rPr>
              <a:t>CRTM</a:t>
            </a:r>
            <a:endParaRPr lang="en-US" sz="1200" dirty="0"/>
          </a:p>
        </p:txBody>
      </p:sp>
      <p:sp>
        <p:nvSpPr>
          <p:cNvPr id="17" name="Text 15"/>
          <p:cNvSpPr txBox="1"/>
          <p:nvPr/>
        </p:nvSpPr>
        <p:spPr>
          <a:xfrm>
            <a:off x="2011680" y="4736592"/>
            <a:ext cx="4114800" cy="685800"/>
          </a:xfrm>
          <a:prstGeom prst="rect">
            <a:avLst/>
          </a:prstGeom>
          <a:noFill/>
          <a:ln/>
        </p:spPr>
        <p:txBody>
          <a:bodyPr wrap="square" lIns="0" tIns="0" rIns="0" bIns="0" rtlCol="0" anchor="t"/>
          <a:lstStyle/>
          <a:p>
            <a:pPr indent="0" marL="0">
              <a:buNone/>
            </a:pPr>
            <a:r>
              <a:rPr lang="en-US" sz="1500" b="1" dirty="0">
                <a:solidFill>
                  <a:schemeClr val="tx1"/>
                </a:solidFill>
              </a:rPr>
              <a:t>Consorcio Regional de Transportes</a:t>
            </a:r>
            <a:endParaRPr lang="en-US" sz="1500" dirty="0"/>
          </a:p>
          <a:p>
            <a:pPr indent="0" marL="0">
              <a:buNone/>
            </a:pPr>
            <a:r>
              <a:rPr lang="en-US" sz="1400" dirty="0">
                <a:solidFill>
                  <a:schemeClr val="tx2"/>
                </a:solidFill>
              </a:rPr>
              <a:t>Zonas tarifarias e isócronas medias a Madrid</a:t>
            </a:r>
            <a:endParaRPr lang="en-US" sz="1500" dirty="0"/>
          </a:p>
        </p:txBody>
      </p:sp>
      <p:sp>
        <p:nvSpPr>
          <p:cNvPr id="18" name="Text 16"/>
          <p:cNvSpPr txBox="1"/>
          <p:nvPr/>
        </p:nvSpPr>
        <p:spPr>
          <a:xfrm>
            <a:off x="640080" y="5623560"/>
            <a:ext cx="5486400" cy="457200"/>
          </a:xfrm>
          <a:prstGeom prst="rect">
            <a:avLst/>
          </a:prstGeom>
          <a:noFill/>
          <a:ln/>
        </p:spPr>
        <p:txBody>
          <a:bodyPr wrap="square" lIns="0" tIns="0" rIns="0" bIns="0" rtlCol="0" anchor="t"/>
          <a:lstStyle/>
          <a:p>
            <a:pPr indent="0" marL="0">
              <a:buNone/>
            </a:pPr>
            <a:r>
              <a:rPr lang="en-US" sz="1400" b="1" dirty="0">
                <a:solidFill>
                  <a:schemeClr val="accent1"/>
                </a:solidFill>
              </a:rPr>
              <a:t>Regla de honestidad: </a:t>
            </a:r>
            <a:pPr indent="0" marL="0">
              <a:buNone/>
            </a:pPr>
            <a:r>
              <a:rPr lang="en-US" sz="1400" dirty="0">
                <a:solidFill>
                  <a:schemeClr val="tx2"/>
                </a:solidFill>
              </a:rPr>
              <a:t>cada variable lleva su etiqueta REAL o ESTIMADO.</a:t>
            </a:r>
            <a:endParaRPr lang="en-US" sz="1400" dirty="0"/>
          </a:p>
        </p:txBody>
      </p:sp>
      <p:sp>
        <p:nvSpPr>
          <p:cNvPr id="19" name="Text 17"/>
          <p:cNvSpPr txBox="1"/>
          <p:nvPr/>
        </p:nvSpPr>
        <p:spPr>
          <a:xfrm>
            <a:off x="6675120" y="2011680"/>
            <a:ext cx="45720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FASE 2  ·  CONTROL DE CALIDAD</a:t>
            </a:r>
            <a:endParaRPr lang="en-US" sz="1200" dirty="0"/>
          </a:p>
        </p:txBody>
      </p:sp>
      <p:sp>
        <p:nvSpPr>
          <p:cNvPr id="20" name="Dato"/>
          <p:cNvSpPr/>
          <p:nvPr/>
        </p:nvSpPr>
        <p:spPr>
          <a:xfrm>
            <a:off x="6675120" y="2377440"/>
            <a:ext cx="2359152" cy="1325880"/>
          </a:xfrm>
          <a:prstGeom prst="roundRect">
            <a:avLst>
              <a:gd name="adj" fmla="val 6897"/>
            </a:avLst>
          </a:prstGeom>
          <a:solidFill>
            <a:schemeClr val="bg2"/>
          </a:solidFill>
          <a:ln/>
        </p:spPr>
      </p:sp>
      <p:sp>
        <p:nvSpPr>
          <p:cNvPr id="21" name="Text 19"/>
          <p:cNvSpPr txBox="1"/>
          <p:nvPr/>
        </p:nvSpPr>
        <p:spPr>
          <a:xfrm>
            <a:off x="6876288" y="2487168"/>
            <a:ext cx="2011680" cy="594360"/>
          </a:xfrm>
          <a:prstGeom prst="rect">
            <a:avLst/>
          </a:prstGeom>
          <a:noFill/>
          <a:ln/>
        </p:spPr>
        <p:txBody>
          <a:bodyPr wrap="square" lIns="0" tIns="0" rIns="0" bIns="0" rtlCol="0" anchor="t"/>
          <a:lstStyle/>
          <a:p>
            <a:pPr indent="0" marL="0">
              <a:buNone/>
            </a:pPr>
            <a:r>
              <a:rPr lang="en-US" sz="3800" b="1" dirty="0">
                <a:solidFill>
                  <a:schemeClr val="accent1"/>
                </a:solidFill>
                <a:latin typeface="+mj-lt" pitchFamily="34" charset="0"/>
                <a:ea typeface="+mj-lt" pitchFamily="34" charset="-122"/>
                <a:cs typeface="+mj-lt" pitchFamily="34" charset="-120"/>
              </a:rPr>
              <a:t>92</a:t>
            </a:r>
            <a:endParaRPr lang="en-US" sz="3800" dirty="0"/>
          </a:p>
        </p:txBody>
      </p:sp>
      <p:sp>
        <p:nvSpPr>
          <p:cNvPr id="22" name="Text 20"/>
          <p:cNvSpPr txBox="1"/>
          <p:nvPr/>
        </p:nvSpPr>
        <p:spPr>
          <a:xfrm>
            <a:off x="6876288" y="3090672"/>
            <a:ext cx="2011680" cy="548640"/>
          </a:xfrm>
          <a:prstGeom prst="rect">
            <a:avLst/>
          </a:prstGeom>
          <a:noFill/>
          <a:ln/>
        </p:spPr>
        <p:txBody>
          <a:bodyPr wrap="square" lIns="0" tIns="0" rIns="0" bIns="0" rtlCol="0" anchor="t"/>
          <a:lstStyle/>
          <a:p>
            <a:pPr indent="0" marL="0">
              <a:buNone/>
            </a:pPr>
            <a:r>
              <a:rPr lang="en-US" sz="1400" dirty="0">
                <a:solidFill>
                  <a:schemeClr val="tx2"/>
                </a:solidFill>
              </a:rPr>
              <a:t>columnas del panel verificadas</a:t>
            </a:r>
            <a:endParaRPr lang="en-US" sz="1400" dirty="0"/>
          </a:p>
        </p:txBody>
      </p:sp>
      <p:sp>
        <p:nvSpPr>
          <p:cNvPr id="23" name="Dato"/>
          <p:cNvSpPr/>
          <p:nvPr/>
        </p:nvSpPr>
        <p:spPr>
          <a:xfrm>
            <a:off x="9189720" y="2377440"/>
            <a:ext cx="2359152" cy="1325880"/>
          </a:xfrm>
          <a:prstGeom prst="roundRect">
            <a:avLst>
              <a:gd name="adj" fmla="val 6897"/>
            </a:avLst>
          </a:prstGeom>
          <a:solidFill>
            <a:schemeClr val="bg2"/>
          </a:solidFill>
          <a:ln/>
        </p:spPr>
      </p:sp>
      <p:sp>
        <p:nvSpPr>
          <p:cNvPr id="24" name="Text 22"/>
          <p:cNvSpPr txBox="1"/>
          <p:nvPr/>
        </p:nvSpPr>
        <p:spPr>
          <a:xfrm>
            <a:off x="9390888" y="2487168"/>
            <a:ext cx="2011680" cy="594360"/>
          </a:xfrm>
          <a:prstGeom prst="rect">
            <a:avLst/>
          </a:prstGeom>
          <a:noFill/>
          <a:ln/>
        </p:spPr>
        <p:txBody>
          <a:bodyPr wrap="square" lIns="0" tIns="0" rIns="0" bIns="0" rtlCol="0" anchor="t"/>
          <a:lstStyle/>
          <a:p>
            <a:pPr indent="0" marL="0">
              <a:buNone/>
            </a:pPr>
            <a:r>
              <a:rPr lang="en-US" sz="3800" b="1" dirty="0">
                <a:solidFill>
                  <a:schemeClr val="accent1"/>
                </a:solidFill>
                <a:latin typeface="+mj-lt" pitchFamily="34" charset="0"/>
                <a:ea typeface="+mj-lt" pitchFamily="34" charset="-122"/>
                <a:cs typeface="+mj-lt" pitchFamily="34" charset="-120"/>
              </a:rPr>
              <a:t>0</a:t>
            </a:r>
            <a:endParaRPr lang="en-US" sz="3800" dirty="0"/>
          </a:p>
        </p:txBody>
      </p:sp>
      <p:sp>
        <p:nvSpPr>
          <p:cNvPr id="25" name="Text 23"/>
          <p:cNvSpPr txBox="1"/>
          <p:nvPr/>
        </p:nvSpPr>
        <p:spPr>
          <a:xfrm>
            <a:off x="9390888" y="3090672"/>
            <a:ext cx="2011680" cy="548640"/>
          </a:xfrm>
          <a:prstGeom prst="rect">
            <a:avLst/>
          </a:prstGeom>
          <a:noFill/>
          <a:ln/>
        </p:spPr>
        <p:txBody>
          <a:bodyPr wrap="square" lIns="0" tIns="0" rIns="0" bIns="0" rtlCol="0" anchor="t"/>
          <a:lstStyle/>
          <a:p>
            <a:pPr indent="0" marL="0">
              <a:buNone/>
            </a:pPr>
            <a:r>
              <a:rPr lang="en-US" sz="1400" dirty="0">
                <a:solidFill>
                  <a:schemeClr val="tx2"/>
                </a:solidFill>
              </a:rPr>
              <a:t>valores ausentes en las variables de modelado</a:t>
            </a:r>
            <a:endParaRPr lang="en-US" sz="1400" dirty="0"/>
          </a:p>
        </p:txBody>
      </p:sp>
      <p:sp>
        <p:nvSpPr>
          <p:cNvPr id="26" name="Dato"/>
          <p:cNvSpPr/>
          <p:nvPr/>
        </p:nvSpPr>
        <p:spPr>
          <a:xfrm>
            <a:off x="6675120" y="3840480"/>
            <a:ext cx="2359152" cy="1325880"/>
          </a:xfrm>
          <a:prstGeom prst="roundRect">
            <a:avLst>
              <a:gd name="adj" fmla="val 6897"/>
            </a:avLst>
          </a:prstGeom>
          <a:solidFill>
            <a:schemeClr val="bg2"/>
          </a:solidFill>
          <a:ln/>
        </p:spPr>
      </p:sp>
      <p:sp>
        <p:nvSpPr>
          <p:cNvPr id="27" name="Text 25"/>
          <p:cNvSpPr txBox="1"/>
          <p:nvPr/>
        </p:nvSpPr>
        <p:spPr>
          <a:xfrm>
            <a:off x="6876288" y="3950208"/>
            <a:ext cx="2011680" cy="594360"/>
          </a:xfrm>
          <a:prstGeom prst="rect">
            <a:avLst/>
          </a:prstGeom>
          <a:noFill/>
          <a:ln/>
        </p:spPr>
        <p:txBody>
          <a:bodyPr wrap="square" lIns="0" tIns="0" rIns="0" bIns="0" rtlCol="0" anchor="t"/>
          <a:lstStyle/>
          <a:p>
            <a:pPr indent="0" marL="0">
              <a:buNone/>
            </a:pPr>
            <a:r>
              <a:rPr lang="en-US" sz="3800" b="1" dirty="0">
                <a:solidFill>
                  <a:schemeClr val="accent1"/>
                </a:solidFill>
                <a:latin typeface="+mj-lt" pitchFamily="34" charset="0"/>
                <a:ea typeface="+mj-lt" pitchFamily="34" charset="-122"/>
                <a:cs typeface="+mj-lt" pitchFamily="34" charset="-120"/>
              </a:rPr>
              <a:t>20</a:t>
            </a:r>
            <a:endParaRPr lang="en-US" sz="3800" dirty="0"/>
          </a:p>
        </p:txBody>
      </p:sp>
      <p:sp>
        <p:nvSpPr>
          <p:cNvPr id="28" name="Text 26"/>
          <p:cNvSpPr txBox="1"/>
          <p:nvPr/>
        </p:nvSpPr>
        <p:spPr>
          <a:xfrm>
            <a:off x="6876288" y="4553712"/>
            <a:ext cx="2011680" cy="548640"/>
          </a:xfrm>
          <a:prstGeom prst="rect">
            <a:avLst/>
          </a:prstGeom>
          <a:noFill/>
          <a:ln/>
        </p:spPr>
        <p:txBody>
          <a:bodyPr wrap="square" lIns="0" tIns="0" rIns="0" bIns="0" rtlCol="0" anchor="t"/>
          <a:lstStyle/>
          <a:p>
            <a:pPr indent="0" marL="0">
              <a:buNone/>
            </a:pPr>
            <a:r>
              <a:rPr lang="en-US" sz="1400" dirty="0">
                <a:solidFill>
                  <a:schemeClr val="tx2"/>
                </a:solidFill>
              </a:rPr>
              <a:t>códigos INE únicos, sin repetidos</a:t>
            </a:r>
            <a:endParaRPr lang="en-US" sz="1400" dirty="0"/>
          </a:p>
        </p:txBody>
      </p:sp>
      <p:sp>
        <p:nvSpPr>
          <p:cNvPr id="29" name="Dato"/>
          <p:cNvSpPr/>
          <p:nvPr/>
        </p:nvSpPr>
        <p:spPr>
          <a:xfrm>
            <a:off x="9189720" y="3840480"/>
            <a:ext cx="2359152" cy="1325880"/>
          </a:xfrm>
          <a:prstGeom prst="roundRect">
            <a:avLst>
              <a:gd name="adj" fmla="val 6897"/>
            </a:avLst>
          </a:prstGeom>
          <a:solidFill>
            <a:schemeClr val="bg2"/>
          </a:solidFill>
          <a:ln/>
        </p:spPr>
      </p:sp>
      <p:sp>
        <p:nvSpPr>
          <p:cNvPr id="30" name="Text 28"/>
          <p:cNvSpPr txBox="1"/>
          <p:nvPr/>
        </p:nvSpPr>
        <p:spPr>
          <a:xfrm>
            <a:off x="9390888" y="3950208"/>
            <a:ext cx="2011680" cy="594360"/>
          </a:xfrm>
          <a:prstGeom prst="rect">
            <a:avLst/>
          </a:prstGeom>
          <a:noFill/>
          <a:ln/>
        </p:spPr>
        <p:txBody>
          <a:bodyPr wrap="square" lIns="0" tIns="0" rIns="0" bIns="0" rtlCol="0" anchor="t"/>
          <a:lstStyle/>
          <a:p>
            <a:pPr indent="0" marL="0">
              <a:buNone/>
            </a:pPr>
            <a:r>
              <a:rPr lang="en-US" sz="3800" b="1" dirty="0">
                <a:solidFill>
                  <a:schemeClr val="accent1"/>
                </a:solidFill>
                <a:latin typeface="+mj-lt" pitchFamily="34" charset="0"/>
                <a:ea typeface="+mj-lt" pitchFamily="34" charset="-122"/>
                <a:cs typeface="+mj-lt" pitchFamily="34" charset="-120"/>
              </a:rPr>
              <a:t>36</a:t>
            </a:r>
            <a:endParaRPr lang="en-US" sz="3800" dirty="0"/>
          </a:p>
        </p:txBody>
      </p:sp>
      <p:sp>
        <p:nvSpPr>
          <p:cNvPr id="31" name="Text 29"/>
          <p:cNvSpPr txBox="1"/>
          <p:nvPr/>
        </p:nvSpPr>
        <p:spPr>
          <a:xfrm>
            <a:off x="9390888" y="4553712"/>
            <a:ext cx="2011680" cy="548640"/>
          </a:xfrm>
          <a:prstGeom prst="rect">
            <a:avLst/>
          </a:prstGeom>
          <a:noFill/>
          <a:ln/>
        </p:spPr>
        <p:txBody>
          <a:bodyPr wrap="square" lIns="0" tIns="0" rIns="0" bIns="0" rtlCol="0" anchor="t"/>
          <a:lstStyle/>
          <a:p>
            <a:pPr indent="0" marL="0">
              <a:buNone/>
            </a:pPr>
            <a:r>
              <a:rPr lang="en-US" sz="1400" dirty="0">
                <a:solidFill>
                  <a:schemeClr val="tx2"/>
                </a:solidFill>
              </a:rPr>
              <a:t>pruebas unitarias y de integración</a:t>
            </a:r>
            <a:endParaRPr lang="en-US" sz="1400" dirty="0"/>
          </a:p>
        </p:txBody>
      </p:sp>
      <p:sp>
        <p:nvSpPr>
          <p:cNvPr id="32" name="Text 30"/>
          <p:cNvSpPr txBox="1"/>
          <p:nvPr/>
        </p:nvSpPr>
        <p:spPr>
          <a:xfrm>
            <a:off x="6675120" y="5349240"/>
            <a:ext cx="4873752" cy="457200"/>
          </a:xfrm>
          <a:prstGeom prst="rect">
            <a:avLst/>
          </a:prstGeom>
          <a:noFill/>
          <a:ln/>
        </p:spPr>
        <p:txBody>
          <a:bodyPr wrap="square" lIns="0" tIns="0" rIns="0" bIns="0" rtlCol="0" anchor="t"/>
          <a:lstStyle/>
          <a:p>
            <a:pPr indent="0" marL="0">
              <a:buNone/>
            </a:pPr>
            <a:r>
              <a:rPr lang="en-US" sz="1400" dirty="0">
                <a:solidFill>
                  <a:schemeClr val="tx2"/>
                </a:solidFill>
              </a:rPr>
              <a:t>Todos los municipios tienen entre 1 y 49.999 habitantes, y precios, ocupaciones y cupos son positivos.</a:t>
            </a:r>
            <a:endParaRPr lang="en-US" sz="1400" dirty="0"/>
          </a:p>
        </p:txBody>
      </p:sp>
      <p:sp>
        <p:nvSpPr>
          <p:cNvPr id="33" name="Text 31"/>
          <p:cNvSpPr txBox="1"/>
          <p:nvPr/>
        </p:nvSpPr>
        <p:spPr>
          <a:xfrm>
            <a:off x="6675120" y="5870448"/>
            <a:ext cx="4873752" cy="27432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data/validated/municipios_panel_validado.csv</a:t>
            </a:r>
            <a:endParaRPr lang="en-US" sz="12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3  ·  PERFIL CIUDADANO Y PRIVACIDAD</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Perfil ciudadano y privacidad por diseño</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600" dirty="0">
                <a:solidFill>
                  <a:schemeClr val="tx2"/>
                </a:solidFill>
              </a:rPr>
              <a:t>Python y Oracle como caminos paralelos, con garantía de privacidad (RGPD)</a:t>
            </a:r>
            <a:endParaRPr lang="en-US" sz="1600" dirty="0"/>
          </a:p>
        </p:txBody>
      </p:sp>
      <p:sp>
        <p:nvSpPr>
          <p:cNvPr id="5" name="Text 3"/>
          <p:cNvSpPr txBox="1"/>
          <p:nvPr/>
        </p:nvSpPr>
        <p:spPr>
          <a:xfrm>
            <a:off x="640080" y="2011680"/>
            <a:ext cx="54864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LO QUE INTRODUCE EL CIUDADANO</a:t>
            </a:r>
            <a:endParaRPr lang="en-US" sz="1200" dirty="0"/>
          </a:p>
        </p:txBody>
      </p:sp>
      <p:sp>
        <p:nvSpPr>
          <p:cNvPr id="6" name="Parámetro"/>
          <p:cNvSpPr/>
          <p:nvPr/>
        </p:nvSpPr>
        <p:spPr>
          <a:xfrm>
            <a:off x="640080" y="2377440"/>
            <a:ext cx="3200400" cy="960120"/>
          </a:xfrm>
          <a:prstGeom prst="roundRect">
            <a:avLst>
              <a:gd name="adj" fmla="val 9524"/>
            </a:avLst>
          </a:prstGeom>
          <a:solidFill>
            <a:schemeClr val="bg2"/>
          </a:solidFill>
          <a:ln/>
        </p:spPr>
      </p:sp>
      <p:sp>
        <p:nvSpPr>
          <p:cNvPr id="7" name="Círculo icono"/>
          <p:cNvSpPr/>
          <p:nvPr/>
        </p:nvSpPr>
        <p:spPr>
          <a:xfrm>
            <a:off x="804672" y="2624328"/>
            <a:ext cx="457200" cy="457200"/>
          </a:xfrm>
          <a:prstGeom prst="ellipse">
            <a:avLst/>
          </a:prstGeom>
          <a:solidFill>
            <a:srgbClr val="161A26"/>
          </a:solidFill>
          <a:ln/>
        </p:spPr>
      </p:sp>
      <p:pic>
        <p:nvPicPr>
          <p:cNvPr id="8" name="Image 0" descr="preencoded.png">    </p:cNvPr>
          <p:cNvPicPr>
            <a:picLocks noChangeAspect="1"/>
          </p:cNvPicPr>
          <p:nvPr/>
        </p:nvPicPr>
        <p:blipFill>
          <a:blip r:embed="rId1"/>
          <a:stretch>
            <a:fillRect/>
          </a:stretch>
        </p:blipFill>
        <p:spPr>
          <a:xfrm>
            <a:off x="905256" y="2724912"/>
            <a:ext cx="256032" cy="256032"/>
          </a:xfrm>
          <a:prstGeom prst="rect">
            <a:avLst/>
          </a:prstGeom>
        </p:spPr>
      </p:pic>
      <p:sp>
        <p:nvSpPr>
          <p:cNvPr id="9" name="Text 6"/>
          <p:cNvSpPr txBox="1"/>
          <p:nvPr/>
        </p:nvSpPr>
        <p:spPr>
          <a:xfrm>
            <a:off x="1417320" y="2505456"/>
            <a:ext cx="2331720" cy="777240"/>
          </a:xfrm>
          <a:prstGeom prst="rect">
            <a:avLst/>
          </a:prstGeom>
          <a:noFill/>
          <a:ln/>
        </p:spPr>
        <p:txBody>
          <a:bodyPr wrap="square" lIns="0" tIns="0" rIns="0" bIns="0" rtlCol="0" anchor="t"/>
          <a:lstStyle/>
          <a:p>
            <a:pPr indent="0" marL="0">
              <a:buNone/>
            </a:pPr>
            <a:r>
              <a:rPr lang="en-US" sz="1400" b="1" dirty="0">
                <a:solidFill>
                  <a:schemeClr val="tx1"/>
                </a:solidFill>
              </a:rPr>
              <a:t>Presupuesto de vivienda</a:t>
            </a:r>
            <a:endParaRPr lang="en-US" sz="1400" dirty="0"/>
          </a:p>
          <a:p>
            <a:pPr indent="0" marL="0">
              <a:buNone/>
            </a:pPr>
            <a:r>
              <a:rPr lang="en-US" sz="1400" dirty="0">
                <a:solidFill>
                  <a:schemeClr val="tx2"/>
                </a:solidFill>
              </a:rPr>
              <a:t>Total en euros o máximo por m²</a:t>
            </a:r>
            <a:endParaRPr lang="en-US" sz="1400" dirty="0"/>
          </a:p>
        </p:txBody>
      </p:sp>
      <p:sp>
        <p:nvSpPr>
          <p:cNvPr id="10" name="Parámetro"/>
          <p:cNvSpPr/>
          <p:nvPr/>
        </p:nvSpPr>
        <p:spPr>
          <a:xfrm>
            <a:off x="4023360" y="2377440"/>
            <a:ext cx="3200400" cy="960120"/>
          </a:xfrm>
          <a:prstGeom prst="roundRect">
            <a:avLst>
              <a:gd name="adj" fmla="val 9524"/>
            </a:avLst>
          </a:prstGeom>
          <a:solidFill>
            <a:schemeClr val="bg2"/>
          </a:solidFill>
          <a:ln/>
        </p:spPr>
      </p:sp>
      <p:sp>
        <p:nvSpPr>
          <p:cNvPr id="11" name="Círculo icono"/>
          <p:cNvSpPr/>
          <p:nvPr/>
        </p:nvSpPr>
        <p:spPr>
          <a:xfrm>
            <a:off x="4187952" y="2624328"/>
            <a:ext cx="457200" cy="457200"/>
          </a:xfrm>
          <a:prstGeom prst="ellipse">
            <a:avLst/>
          </a:prstGeom>
          <a:solidFill>
            <a:srgbClr val="161A26"/>
          </a:solidFill>
          <a:ln/>
        </p:spPr>
      </p:sp>
      <p:pic>
        <p:nvPicPr>
          <p:cNvPr id="12" name="Image 1" descr="preencoded.png">    </p:cNvPr>
          <p:cNvPicPr>
            <a:picLocks noChangeAspect="1"/>
          </p:cNvPicPr>
          <p:nvPr/>
        </p:nvPicPr>
        <p:blipFill>
          <a:blip r:embed="rId2"/>
          <a:stretch>
            <a:fillRect/>
          </a:stretch>
        </p:blipFill>
        <p:spPr>
          <a:xfrm>
            <a:off x="4288536" y="2724912"/>
            <a:ext cx="256032" cy="256032"/>
          </a:xfrm>
          <a:prstGeom prst="rect">
            <a:avLst/>
          </a:prstGeom>
        </p:spPr>
      </p:pic>
      <p:sp>
        <p:nvSpPr>
          <p:cNvPr id="13" name="Text 9"/>
          <p:cNvSpPr txBox="1"/>
          <p:nvPr/>
        </p:nvSpPr>
        <p:spPr>
          <a:xfrm>
            <a:off x="4800600" y="2505456"/>
            <a:ext cx="2331720" cy="777240"/>
          </a:xfrm>
          <a:prstGeom prst="rect">
            <a:avLst/>
          </a:prstGeom>
          <a:noFill/>
          <a:ln/>
        </p:spPr>
        <p:txBody>
          <a:bodyPr wrap="square" lIns="0" tIns="0" rIns="0" bIns="0" rtlCol="0" anchor="t"/>
          <a:lstStyle/>
          <a:p>
            <a:pPr indent="0" marL="0">
              <a:buNone/>
            </a:pPr>
            <a:r>
              <a:rPr lang="en-US" sz="1400" b="1" dirty="0">
                <a:solidFill>
                  <a:schemeClr val="tx1"/>
                </a:solidFill>
              </a:rPr>
              <a:t>Ingresos netos del hogar</a:t>
            </a:r>
            <a:endParaRPr lang="en-US" sz="1400" dirty="0"/>
          </a:p>
          <a:p>
            <a:pPr indent="0" marL="0">
              <a:buNone/>
            </a:pPr>
            <a:r>
              <a:rPr lang="en-US" sz="1400" dirty="0">
                <a:solidFill>
                  <a:schemeClr val="tx2"/>
                </a:solidFill>
              </a:rPr>
              <a:t>Esfuerzo sostenible por debajo del 30%</a:t>
            </a:r>
            <a:endParaRPr lang="en-US" sz="1400" dirty="0"/>
          </a:p>
        </p:txBody>
      </p:sp>
      <p:sp>
        <p:nvSpPr>
          <p:cNvPr id="14" name="Parámetro"/>
          <p:cNvSpPr/>
          <p:nvPr/>
        </p:nvSpPr>
        <p:spPr>
          <a:xfrm>
            <a:off x="640080" y="3447288"/>
            <a:ext cx="3200400" cy="960120"/>
          </a:xfrm>
          <a:prstGeom prst="roundRect">
            <a:avLst>
              <a:gd name="adj" fmla="val 9524"/>
            </a:avLst>
          </a:prstGeom>
          <a:solidFill>
            <a:schemeClr val="bg2"/>
          </a:solidFill>
          <a:ln/>
        </p:spPr>
      </p:sp>
      <p:sp>
        <p:nvSpPr>
          <p:cNvPr id="15" name="Círculo icono"/>
          <p:cNvSpPr/>
          <p:nvPr/>
        </p:nvSpPr>
        <p:spPr>
          <a:xfrm>
            <a:off x="804672" y="3694176"/>
            <a:ext cx="457200" cy="457200"/>
          </a:xfrm>
          <a:prstGeom prst="ellipse">
            <a:avLst/>
          </a:prstGeom>
          <a:solidFill>
            <a:srgbClr val="161A26"/>
          </a:solidFill>
          <a:ln/>
        </p:spPr>
      </p:sp>
      <p:pic>
        <p:nvPicPr>
          <p:cNvPr id="16" name="Image 2" descr="preencoded.png">    </p:cNvPr>
          <p:cNvPicPr>
            <a:picLocks noChangeAspect="1"/>
          </p:cNvPicPr>
          <p:nvPr/>
        </p:nvPicPr>
        <p:blipFill>
          <a:blip r:embed="rId3"/>
          <a:stretch>
            <a:fillRect/>
          </a:stretch>
        </p:blipFill>
        <p:spPr>
          <a:xfrm>
            <a:off x="905256" y="3794760"/>
            <a:ext cx="256032" cy="256032"/>
          </a:xfrm>
          <a:prstGeom prst="rect">
            <a:avLst/>
          </a:prstGeom>
        </p:spPr>
      </p:pic>
      <p:sp>
        <p:nvSpPr>
          <p:cNvPr id="17" name="Text 12"/>
          <p:cNvSpPr txBox="1"/>
          <p:nvPr/>
        </p:nvSpPr>
        <p:spPr>
          <a:xfrm>
            <a:off x="1417320" y="3575304"/>
            <a:ext cx="2331720" cy="777240"/>
          </a:xfrm>
          <a:prstGeom prst="rect">
            <a:avLst/>
          </a:prstGeom>
          <a:noFill/>
          <a:ln/>
        </p:spPr>
        <p:txBody>
          <a:bodyPr wrap="square" lIns="0" tIns="0" rIns="0" bIns="0" rtlCol="0" anchor="t"/>
          <a:lstStyle/>
          <a:p>
            <a:pPr indent="0" marL="0">
              <a:buNone/>
            </a:pPr>
            <a:r>
              <a:rPr lang="en-US" sz="1400" b="1" dirty="0">
                <a:solidFill>
                  <a:schemeClr val="tx1"/>
                </a:solidFill>
              </a:rPr>
              <a:t>Tiempo máximo de conexión</a:t>
            </a:r>
            <a:endParaRPr lang="en-US" sz="1400" dirty="0"/>
          </a:p>
          <a:p>
            <a:pPr indent="0" marL="0">
              <a:buNone/>
            </a:pPr>
            <a:r>
              <a:rPr lang="en-US" sz="1400" dirty="0">
                <a:solidFill>
                  <a:schemeClr val="tx2"/>
                </a:solidFill>
              </a:rPr>
              <a:t>Minutos al trabajo o a Madrid</a:t>
            </a:r>
            <a:endParaRPr lang="en-US" sz="1400" dirty="0"/>
          </a:p>
        </p:txBody>
      </p:sp>
      <p:sp>
        <p:nvSpPr>
          <p:cNvPr id="18" name="Parámetro"/>
          <p:cNvSpPr/>
          <p:nvPr/>
        </p:nvSpPr>
        <p:spPr>
          <a:xfrm>
            <a:off x="4023360" y="3447288"/>
            <a:ext cx="3200400" cy="960120"/>
          </a:xfrm>
          <a:prstGeom prst="roundRect">
            <a:avLst>
              <a:gd name="adj" fmla="val 9524"/>
            </a:avLst>
          </a:prstGeom>
          <a:solidFill>
            <a:schemeClr val="bg2"/>
          </a:solidFill>
          <a:ln/>
        </p:spPr>
      </p:sp>
      <p:sp>
        <p:nvSpPr>
          <p:cNvPr id="19" name="Círculo icono"/>
          <p:cNvSpPr/>
          <p:nvPr/>
        </p:nvSpPr>
        <p:spPr>
          <a:xfrm>
            <a:off x="4187952" y="3694176"/>
            <a:ext cx="457200" cy="457200"/>
          </a:xfrm>
          <a:prstGeom prst="ellipse">
            <a:avLst/>
          </a:prstGeom>
          <a:solidFill>
            <a:srgbClr val="161A26"/>
          </a:solidFill>
          <a:ln/>
        </p:spPr>
      </p:sp>
      <p:pic>
        <p:nvPicPr>
          <p:cNvPr id="20" name="Image 3" descr="preencoded.png">    </p:cNvPr>
          <p:cNvPicPr>
            <a:picLocks noChangeAspect="1"/>
          </p:cNvPicPr>
          <p:nvPr/>
        </p:nvPicPr>
        <p:blipFill>
          <a:blip r:embed="rId4"/>
          <a:stretch>
            <a:fillRect/>
          </a:stretch>
        </p:blipFill>
        <p:spPr>
          <a:xfrm>
            <a:off x="4288536" y="3794760"/>
            <a:ext cx="256032" cy="256032"/>
          </a:xfrm>
          <a:prstGeom prst="rect">
            <a:avLst/>
          </a:prstGeom>
        </p:spPr>
      </p:pic>
      <p:sp>
        <p:nvSpPr>
          <p:cNvPr id="21" name="Text 15"/>
          <p:cNvSpPr txBox="1"/>
          <p:nvPr/>
        </p:nvSpPr>
        <p:spPr>
          <a:xfrm>
            <a:off x="4800600" y="3575304"/>
            <a:ext cx="2331720" cy="777240"/>
          </a:xfrm>
          <a:prstGeom prst="rect">
            <a:avLst/>
          </a:prstGeom>
          <a:noFill/>
          <a:ln/>
        </p:spPr>
        <p:txBody>
          <a:bodyPr wrap="square" lIns="0" tIns="0" rIns="0" bIns="0" rtlCol="0" anchor="t"/>
          <a:lstStyle/>
          <a:p>
            <a:pPr indent="0" marL="0">
              <a:buNone/>
            </a:pPr>
            <a:r>
              <a:rPr lang="en-US" sz="1400" b="1" dirty="0">
                <a:solidFill>
                  <a:schemeClr val="tx1"/>
                </a:solidFill>
              </a:rPr>
              <a:t>Modo de transporte</a:t>
            </a:r>
            <a:endParaRPr lang="en-US" sz="1400" dirty="0"/>
          </a:p>
          <a:p>
            <a:pPr indent="0" marL="0">
              <a:buNone/>
            </a:pPr>
            <a:r>
              <a:rPr lang="en-US" sz="1400" dirty="0">
                <a:solidFill>
                  <a:schemeClr val="tx2"/>
                </a:solidFill>
              </a:rPr>
              <a:t>Público (CRTM) o vehículo privado</a:t>
            </a:r>
            <a:endParaRPr lang="en-US" sz="1400" dirty="0"/>
          </a:p>
        </p:txBody>
      </p:sp>
      <p:sp>
        <p:nvSpPr>
          <p:cNvPr id="22" name="Parámetro"/>
          <p:cNvSpPr/>
          <p:nvPr/>
        </p:nvSpPr>
        <p:spPr>
          <a:xfrm>
            <a:off x="640080" y="4517136"/>
            <a:ext cx="3200400" cy="960120"/>
          </a:xfrm>
          <a:prstGeom prst="roundRect">
            <a:avLst>
              <a:gd name="adj" fmla="val 9524"/>
            </a:avLst>
          </a:prstGeom>
          <a:solidFill>
            <a:schemeClr val="bg2"/>
          </a:solidFill>
          <a:ln/>
        </p:spPr>
      </p:sp>
      <p:sp>
        <p:nvSpPr>
          <p:cNvPr id="23" name="Círculo icono"/>
          <p:cNvSpPr/>
          <p:nvPr/>
        </p:nvSpPr>
        <p:spPr>
          <a:xfrm>
            <a:off x="804672" y="4764024"/>
            <a:ext cx="457200" cy="457200"/>
          </a:xfrm>
          <a:prstGeom prst="ellipse">
            <a:avLst/>
          </a:prstGeom>
          <a:solidFill>
            <a:srgbClr val="161A26"/>
          </a:solidFill>
          <a:ln/>
        </p:spPr>
      </p:sp>
      <p:pic>
        <p:nvPicPr>
          <p:cNvPr id="24" name="Image 4" descr="preencoded.png">    </p:cNvPr>
          <p:cNvPicPr>
            <a:picLocks noChangeAspect="1"/>
          </p:cNvPicPr>
          <p:nvPr/>
        </p:nvPicPr>
        <p:blipFill>
          <a:blip r:embed="rId5"/>
          <a:stretch>
            <a:fillRect/>
          </a:stretch>
        </p:blipFill>
        <p:spPr>
          <a:xfrm>
            <a:off x="905256" y="4864608"/>
            <a:ext cx="256032" cy="256032"/>
          </a:xfrm>
          <a:prstGeom prst="rect">
            <a:avLst/>
          </a:prstGeom>
        </p:spPr>
      </p:pic>
      <p:sp>
        <p:nvSpPr>
          <p:cNvPr id="25" name="Text 18"/>
          <p:cNvSpPr txBox="1"/>
          <p:nvPr/>
        </p:nvSpPr>
        <p:spPr>
          <a:xfrm>
            <a:off x="1417320" y="4645152"/>
            <a:ext cx="2331720" cy="777240"/>
          </a:xfrm>
          <a:prstGeom prst="rect">
            <a:avLst/>
          </a:prstGeom>
          <a:noFill/>
          <a:ln/>
        </p:spPr>
        <p:txBody>
          <a:bodyPr wrap="square" lIns="0" tIns="0" rIns="0" bIns="0" rtlCol="0" anchor="t"/>
          <a:lstStyle/>
          <a:p>
            <a:pPr indent="0" marL="0">
              <a:buNone/>
            </a:pPr>
            <a:r>
              <a:rPr lang="en-US" sz="1400" b="1" dirty="0">
                <a:solidFill>
                  <a:schemeClr val="tx1"/>
                </a:solidFill>
              </a:rPr>
              <a:t>Composición familiar</a:t>
            </a:r>
            <a:endParaRPr lang="en-US" sz="1400" dirty="0"/>
          </a:p>
          <a:p>
            <a:pPr indent="0" marL="0">
              <a:buNone/>
            </a:pPr>
            <a:r>
              <a:rPr lang="en-US" sz="1400" dirty="0">
                <a:solidFill>
                  <a:schemeClr val="tx2"/>
                </a:solidFill>
              </a:rPr>
              <a:t>Hijos y edades: ajusta las plazas escolares</a:t>
            </a:r>
            <a:endParaRPr lang="en-US" sz="1400" dirty="0"/>
          </a:p>
        </p:txBody>
      </p:sp>
      <p:sp>
        <p:nvSpPr>
          <p:cNvPr id="26" name="Parámetro"/>
          <p:cNvSpPr/>
          <p:nvPr/>
        </p:nvSpPr>
        <p:spPr>
          <a:xfrm>
            <a:off x="4023360" y="4517136"/>
            <a:ext cx="3200400" cy="960120"/>
          </a:xfrm>
          <a:prstGeom prst="roundRect">
            <a:avLst>
              <a:gd name="adj" fmla="val 9524"/>
            </a:avLst>
          </a:prstGeom>
          <a:solidFill>
            <a:schemeClr val="bg2"/>
          </a:solidFill>
          <a:ln/>
        </p:spPr>
      </p:sp>
      <p:sp>
        <p:nvSpPr>
          <p:cNvPr id="27" name="Círculo icono"/>
          <p:cNvSpPr/>
          <p:nvPr/>
        </p:nvSpPr>
        <p:spPr>
          <a:xfrm>
            <a:off x="4187952" y="4764024"/>
            <a:ext cx="457200" cy="457200"/>
          </a:xfrm>
          <a:prstGeom prst="ellipse">
            <a:avLst/>
          </a:prstGeom>
          <a:solidFill>
            <a:srgbClr val="161A26"/>
          </a:solidFill>
          <a:ln/>
        </p:spPr>
      </p:sp>
      <p:pic>
        <p:nvPicPr>
          <p:cNvPr id="28" name="Image 5" descr="preencoded.png">    </p:cNvPr>
          <p:cNvPicPr>
            <a:picLocks noChangeAspect="1"/>
          </p:cNvPicPr>
          <p:nvPr/>
        </p:nvPicPr>
        <p:blipFill>
          <a:blip r:embed="rId6"/>
          <a:stretch>
            <a:fillRect/>
          </a:stretch>
        </p:blipFill>
        <p:spPr>
          <a:xfrm>
            <a:off x="4288536" y="4864608"/>
            <a:ext cx="256032" cy="256032"/>
          </a:xfrm>
          <a:prstGeom prst="rect">
            <a:avLst/>
          </a:prstGeom>
        </p:spPr>
      </p:pic>
      <p:sp>
        <p:nvSpPr>
          <p:cNvPr id="29" name="Text 21"/>
          <p:cNvSpPr txBox="1"/>
          <p:nvPr/>
        </p:nvSpPr>
        <p:spPr>
          <a:xfrm>
            <a:off x="4800600" y="4645152"/>
            <a:ext cx="2331720" cy="777240"/>
          </a:xfrm>
          <a:prstGeom prst="rect">
            <a:avLst/>
          </a:prstGeom>
          <a:noFill/>
          <a:ln/>
        </p:spPr>
        <p:txBody>
          <a:bodyPr wrap="square" lIns="0" tIns="0" rIns="0" bIns="0" rtlCol="0" anchor="t"/>
          <a:lstStyle/>
          <a:p>
            <a:pPr indent="0" marL="0">
              <a:buNone/>
            </a:pPr>
            <a:r>
              <a:rPr lang="en-US" sz="1400" b="1" dirty="0">
                <a:solidFill>
                  <a:schemeClr val="tx1"/>
                </a:solidFill>
              </a:rPr>
              <a:t>Régimen de tenencia</a:t>
            </a:r>
            <a:endParaRPr lang="en-US" sz="1400" dirty="0"/>
          </a:p>
          <a:p>
            <a:pPr indent="0" marL="0">
              <a:buNone/>
            </a:pPr>
            <a:r>
              <a:rPr lang="en-US" sz="1400" dirty="0">
                <a:solidFill>
                  <a:schemeClr val="tx2"/>
                </a:solidFill>
              </a:rPr>
              <a:t>Compra o alquiler</a:t>
            </a:r>
            <a:endParaRPr lang="en-US" sz="1400" dirty="0"/>
          </a:p>
        </p:txBody>
      </p:sp>
      <p:sp>
        <p:nvSpPr>
          <p:cNvPr id="30" name="Text 22"/>
          <p:cNvSpPr txBox="1"/>
          <p:nvPr/>
        </p:nvSpPr>
        <p:spPr>
          <a:xfrm>
            <a:off x="640080" y="5623560"/>
            <a:ext cx="6583680" cy="548640"/>
          </a:xfrm>
          <a:prstGeom prst="rect">
            <a:avLst/>
          </a:prstGeom>
          <a:noFill/>
          <a:ln/>
        </p:spPr>
        <p:txBody>
          <a:bodyPr wrap="square" lIns="0" tIns="0" rIns="0" bIns="0" rtlCol="0" anchor="t"/>
          <a:lstStyle/>
          <a:p>
            <a:pPr indent="0" marL="0">
              <a:buNone/>
            </a:pPr>
            <a:r>
              <a:rPr lang="en-US" sz="1400" dirty="0">
                <a:solidFill>
                  <a:schemeClr val="tx2"/>
                </a:solidFill>
              </a:rPr>
              <a:t>Un módulo (config/perfiles.py) convierte las respuestas en pesos que suman 1,0 y reordena los municipios sin tocar el ICA objetivo.</a:t>
            </a:r>
            <a:endParaRPr lang="en-US" sz="1400" dirty="0"/>
          </a:p>
        </p:txBody>
      </p:sp>
      <p:sp>
        <p:nvSpPr>
          <p:cNvPr id="31" name="Text 23"/>
          <p:cNvSpPr txBox="1"/>
          <p:nvPr/>
        </p:nvSpPr>
        <p:spPr>
          <a:xfrm>
            <a:off x="7589520" y="2011680"/>
            <a:ext cx="393192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DOS CAMINOS PARALELOS</a:t>
            </a:r>
            <a:endParaRPr lang="en-US" sz="1200" dirty="0"/>
          </a:p>
        </p:txBody>
      </p:sp>
      <p:sp>
        <p:nvSpPr>
          <p:cNvPr id="32" name="Camino Python"/>
          <p:cNvSpPr/>
          <p:nvPr/>
        </p:nvSpPr>
        <p:spPr>
          <a:xfrm>
            <a:off x="7589520" y="2377440"/>
            <a:ext cx="1783080" cy="1051560"/>
          </a:xfrm>
          <a:prstGeom prst="roundRect">
            <a:avLst>
              <a:gd name="adj" fmla="val 8696"/>
            </a:avLst>
          </a:prstGeom>
          <a:solidFill>
            <a:schemeClr val="bg2"/>
          </a:solidFill>
          <a:ln/>
        </p:spPr>
      </p:sp>
      <p:sp>
        <p:nvSpPr>
          <p:cNvPr id="33" name="Text 25"/>
          <p:cNvSpPr txBox="1"/>
          <p:nvPr/>
        </p:nvSpPr>
        <p:spPr>
          <a:xfrm>
            <a:off x="7726680" y="2514600"/>
            <a:ext cx="1554480" cy="914400"/>
          </a:xfrm>
          <a:prstGeom prst="rect">
            <a:avLst/>
          </a:prstGeom>
          <a:noFill/>
          <a:ln/>
        </p:spPr>
        <p:txBody>
          <a:bodyPr wrap="square" lIns="0" tIns="0" rIns="0" bIns="0" rtlCol="0" anchor="t"/>
          <a:lstStyle/>
          <a:p>
            <a:pPr indent="0" marL="0">
              <a:buNone/>
            </a:pPr>
            <a:r>
              <a:rPr lang="en-US" sz="1600" b="1" dirty="0">
                <a:solidFill>
                  <a:schemeClr val="tx1"/>
                </a:solidFill>
              </a:rPr>
              <a:t>Python</a:t>
            </a:r>
            <a:endParaRPr lang="en-US" sz="1600" dirty="0"/>
          </a:p>
          <a:p>
            <a:pPr indent="0" marL="0">
              <a:buNone/>
            </a:pPr>
            <a:r>
              <a:rPr lang="en-US" sz="1400" dirty="0">
                <a:solidFill>
                  <a:schemeClr val="tx2"/>
                </a:solidFill>
              </a:rPr>
              <a:t>Lee el CSV validado</a:t>
            </a:r>
            <a:endParaRPr lang="en-US" sz="1600" dirty="0"/>
          </a:p>
        </p:txBody>
      </p:sp>
      <p:sp>
        <p:nvSpPr>
          <p:cNvPr id="34" name="Text 26"/>
          <p:cNvSpPr txBox="1"/>
          <p:nvPr/>
        </p:nvSpPr>
        <p:spPr>
          <a:xfrm>
            <a:off x="9372600" y="2624328"/>
            <a:ext cx="393192" cy="548640"/>
          </a:xfrm>
          <a:prstGeom prst="rect">
            <a:avLst/>
          </a:prstGeom>
          <a:noFill/>
          <a:ln/>
        </p:spPr>
        <p:txBody>
          <a:bodyPr wrap="square" lIns="0" tIns="0" rIns="0" bIns="0" rtlCol="0" anchor="t"/>
          <a:lstStyle/>
          <a:p>
            <a:pPr algn="ctr" indent="0" marL="0">
              <a:buNone/>
            </a:pPr>
            <a:r>
              <a:rPr lang="en-US" sz="2800" b="1" dirty="0">
                <a:solidFill>
                  <a:schemeClr val="accent1"/>
                </a:solidFill>
                <a:latin typeface="+mj-lt" pitchFamily="34" charset="0"/>
                <a:ea typeface="+mj-lt" pitchFamily="34" charset="-122"/>
                <a:cs typeface="+mj-lt" pitchFamily="34" charset="-120"/>
              </a:rPr>
              <a:t>=</a:t>
            </a:r>
            <a:endParaRPr lang="en-US" sz="2800" dirty="0"/>
          </a:p>
        </p:txBody>
      </p:sp>
      <p:sp>
        <p:nvSpPr>
          <p:cNvPr id="35" name="Camino Oracle"/>
          <p:cNvSpPr/>
          <p:nvPr/>
        </p:nvSpPr>
        <p:spPr>
          <a:xfrm>
            <a:off x="9765792" y="2377440"/>
            <a:ext cx="1783080" cy="1051560"/>
          </a:xfrm>
          <a:prstGeom prst="roundRect">
            <a:avLst>
              <a:gd name="adj" fmla="val 8696"/>
            </a:avLst>
          </a:prstGeom>
          <a:solidFill>
            <a:schemeClr val="bg2"/>
          </a:solidFill>
          <a:ln/>
        </p:spPr>
      </p:sp>
      <p:sp>
        <p:nvSpPr>
          <p:cNvPr id="36" name="Text 28"/>
          <p:cNvSpPr txBox="1"/>
          <p:nvPr/>
        </p:nvSpPr>
        <p:spPr>
          <a:xfrm>
            <a:off x="9902952" y="2514600"/>
            <a:ext cx="1554480" cy="914400"/>
          </a:xfrm>
          <a:prstGeom prst="rect">
            <a:avLst/>
          </a:prstGeom>
          <a:noFill/>
          <a:ln/>
        </p:spPr>
        <p:txBody>
          <a:bodyPr wrap="square" lIns="0" tIns="0" rIns="0" bIns="0" rtlCol="0" anchor="t"/>
          <a:lstStyle/>
          <a:p>
            <a:pPr indent="0" marL="0">
              <a:buNone/>
            </a:pPr>
            <a:r>
              <a:rPr lang="en-US" sz="1600" b="1" dirty="0">
                <a:solidFill>
                  <a:schemeClr val="tx1"/>
                </a:solidFill>
              </a:rPr>
              <a:t>Oracle APEX</a:t>
            </a:r>
            <a:endParaRPr lang="en-US" sz="1600" dirty="0"/>
          </a:p>
          <a:p>
            <a:pPr indent="0" marL="0">
              <a:buNone/>
            </a:pPr>
            <a:r>
              <a:rPr lang="en-US" sz="1400" dirty="0">
                <a:solidFill>
                  <a:schemeClr val="tx2"/>
                </a:solidFill>
              </a:rPr>
              <a:t>Autónomo, sin llamar a Python</a:t>
            </a:r>
            <a:endParaRPr lang="en-US" sz="1600" dirty="0"/>
          </a:p>
        </p:txBody>
      </p:sp>
      <p:sp>
        <p:nvSpPr>
          <p:cNvPr id="37" name="Text 29"/>
          <p:cNvSpPr txBox="1"/>
          <p:nvPr/>
        </p:nvSpPr>
        <p:spPr>
          <a:xfrm>
            <a:off x="7589520" y="3566160"/>
            <a:ext cx="3959352" cy="502920"/>
          </a:xfrm>
          <a:prstGeom prst="rect">
            <a:avLst/>
          </a:prstGeom>
          <a:noFill/>
          <a:ln/>
        </p:spPr>
        <p:txBody>
          <a:bodyPr wrap="square" lIns="0" tIns="0" rIns="0" bIns="0" rtlCol="0" anchor="t"/>
          <a:lstStyle/>
          <a:p>
            <a:pPr indent="0" marL="0">
              <a:buNone/>
            </a:pPr>
            <a:r>
              <a:rPr lang="en-US" sz="1400" dirty="0">
                <a:solidFill>
                  <a:schemeClr val="tx2"/>
                </a:solidFill>
              </a:rPr>
              <a:t>Los tests comprueban que ambos producen los mismos pesos y rankings.</a:t>
            </a:r>
            <a:endParaRPr lang="en-US" sz="1400" dirty="0"/>
          </a:p>
        </p:txBody>
      </p:sp>
      <p:sp>
        <p:nvSpPr>
          <p:cNvPr id="38" name="Privacidad"/>
          <p:cNvSpPr/>
          <p:nvPr/>
        </p:nvSpPr>
        <p:spPr>
          <a:xfrm>
            <a:off x="7589520" y="4160520"/>
            <a:ext cx="3959352" cy="2011680"/>
          </a:xfrm>
          <a:prstGeom prst="roundRect">
            <a:avLst>
              <a:gd name="adj" fmla="val 4545"/>
            </a:avLst>
          </a:prstGeom>
          <a:solidFill>
            <a:schemeClr val="tx1"/>
          </a:solidFill>
          <a:ln/>
        </p:spPr>
      </p:sp>
      <p:sp>
        <p:nvSpPr>
          <p:cNvPr id="39" name="Círculo icono"/>
          <p:cNvSpPr/>
          <p:nvPr/>
        </p:nvSpPr>
        <p:spPr>
          <a:xfrm>
            <a:off x="7818120" y="4343400"/>
            <a:ext cx="457200" cy="457200"/>
          </a:xfrm>
          <a:prstGeom prst="ellipse">
            <a:avLst/>
          </a:prstGeom>
          <a:solidFill>
            <a:srgbClr val="C0263F"/>
          </a:solidFill>
          <a:ln/>
        </p:spPr>
      </p:sp>
      <p:pic>
        <p:nvPicPr>
          <p:cNvPr id="40" name="Image 6" descr="preencoded.png">    </p:cNvPr>
          <p:cNvPicPr>
            <a:picLocks noChangeAspect="1"/>
          </p:cNvPicPr>
          <p:nvPr/>
        </p:nvPicPr>
        <p:blipFill>
          <a:blip r:embed="rId7"/>
          <a:stretch>
            <a:fillRect/>
          </a:stretch>
        </p:blipFill>
        <p:spPr>
          <a:xfrm>
            <a:off x="7918704" y="4443984"/>
            <a:ext cx="256032" cy="256032"/>
          </a:xfrm>
          <a:prstGeom prst="rect">
            <a:avLst/>
          </a:prstGeom>
        </p:spPr>
      </p:pic>
      <p:sp>
        <p:nvSpPr>
          <p:cNvPr id="41" name="Text 32"/>
          <p:cNvSpPr txBox="1"/>
          <p:nvPr/>
        </p:nvSpPr>
        <p:spPr>
          <a:xfrm>
            <a:off x="8412480" y="4434840"/>
            <a:ext cx="2926080" cy="320040"/>
          </a:xfrm>
          <a:prstGeom prst="rect">
            <a:avLst/>
          </a:prstGeom>
          <a:noFill/>
          <a:ln/>
        </p:spPr>
        <p:txBody>
          <a:bodyPr wrap="square" lIns="0" tIns="0" rIns="0" bIns="0" rtlCol="0" anchor="t"/>
          <a:lstStyle/>
          <a:p>
            <a:pPr indent="0" marL="0">
              <a:buNone/>
            </a:pPr>
            <a:r>
              <a:rPr lang="en-US" sz="1600" b="1" dirty="0">
                <a:solidFill>
                  <a:schemeClr val="bg1"/>
                </a:solidFill>
              </a:rPr>
              <a:t>Privacidad estricta</a:t>
            </a:r>
            <a:endParaRPr lang="en-US" sz="1600" dirty="0"/>
          </a:p>
        </p:txBody>
      </p:sp>
      <p:sp>
        <p:nvSpPr>
          <p:cNvPr id="42" name="Text 33"/>
          <p:cNvSpPr txBox="1"/>
          <p:nvPr/>
        </p:nvSpPr>
        <p:spPr>
          <a:xfrm>
            <a:off x="7818120" y="4983480"/>
            <a:ext cx="3520440" cy="1097280"/>
          </a:xfrm>
          <a:prstGeom prst="rect">
            <a:avLst/>
          </a:prstGeom>
          <a:noFill/>
          <a:ln/>
        </p:spPr>
        <p:txBody>
          <a:bodyPr wrap="square" lIns="0" tIns="0" rIns="0" bIns="0" rtlCol="0" anchor="t"/>
          <a:lstStyle/>
          <a:p>
            <a:pPr indent="0" marL="0">
              <a:buNone/>
            </a:pPr>
            <a:r>
              <a:rPr lang="en-US" sz="1400" dirty="0">
                <a:solidFill>
                  <a:schemeClr val="bg2"/>
                </a:solidFill>
              </a:rPr>
              <a:t>Oracle no guarda ningún dato personal, solo reglas de ponderación (cada hijo suma 0,05 a educación). Los datos del ciudadano son parámetros de sesión y nunca se escriben en disco.</a:t>
            </a:r>
            <a:endParaRPr lang="en-US" sz="14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4  ·  ECOSISTEMA DE MODELOS</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Cinco modelos, una ficha municipal</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500" i="1" dirty="0">
                <a:solidFill>
                  <a:schemeClr val="tx2"/>
                </a:solidFill>
              </a:rPr>
              <a:t>«M1 dice si es asequible, M2 si tiene servicios, M3 si va a crecer, M4 cuánta gente cabe y M5 cuál te conviene»</a:t>
            </a:r>
            <a:endParaRPr lang="en-US" sz="1500" dirty="0"/>
          </a:p>
        </p:txBody>
      </p:sp>
      <p:sp>
        <p:nvSpPr>
          <p:cNvPr id="5" name="Modelo M1"/>
          <p:cNvSpPr/>
          <p:nvPr/>
        </p:nvSpPr>
        <p:spPr>
          <a:xfrm>
            <a:off x="640080" y="2103120"/>
            <a:ext cx="2002536" cy="4069080"/>
          </a:xfrm>
          <a:prstGeom prst="roundRect">
            <a:avLst>
              <a:gd name="adj" fmla="val 4566"/>
            </a:avLst>
          </a:prstGeom>
          <a:solidFill>
            <a:schemeClr val="bg2"/>
          </a:solidFill>
          <a:ln/>
        </p:spPr>
      </p:sp>
      <p:sp>
        <p:nvSpPr>
          <p:cNvPr id="6" name="Text 4"/>
          <p:cNvSpPr txBox="1"/>
          <p:nvPr/>
        </p:nvSpPr>
        <p:spPr>
          <a:xfrm>
            <a:off x="841248" y="2331720"/>
            <a:ext cx="1554480" cy="64008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M1</a:t>
            </a:r>
            <a:endParaRPr lang="en-US" sz="4000" dirty="0"/>
          </a:p>
        </p:txBody>
      </p:sp>
      <p:sp>
        <p:nvSpPr>
          <p:cNvPr id="7" name="Text 5"/>
          <p:cNvSpPr txBox="1"/>
          <p:nvPr/>
        </p:nvSpPr>
        <p:spPr>
          <a:xfrm>
            <a:off x="841248" y="3108960"/>
            <a:ext cx="1645920" cy="594360"/>
          </a:xfrm>
          <a:prstGeom prst="rect">
            <a:avLst/>
          </a:prstGeom>
          <a:noFill/>
          <a:ln/>
        </p:spPr>
        <p:txBody>
          <a:bodyPr wrap="square" lIns="0" tIns="0" rIns="0" bIns="0" rtlCol="0" anchor="t"/>
          <a:lstStyle/>
          <a:p>
            <a:pPr indent="0" marL="0">
              <a:buNone/>
            </a:pPr>
            <a:r>
              <a:rPr lang="en-US" sz="1600" b="1" dirty="0">
                <a:solidFill>
                  <a:schemeClr val="tx1"/>
                </a:solidFill>
              </a:rPr>
              <a:t>Asequibilidad y precio (AVM)</a:t>
            </a:r>
            <a:endParaRPr lang="en-US" sz="1600" dirty="0"/>
          </a:p>
        </p:txBody>
      </p:sp>
      <p:sp>
        <p:nvSpPr>
          <p:cNvPr id="8" name="Text 6"/>
          <p:cNvSpPr txBox="1"/>
          <p:nvPr/>
        </p:nvSpPr>
        <p:spPr>
          <a:xfrm>
            <a:off x="841248" y="3794760"/>
            <a:ext cx="1645920" cy="685800"/>
          </a:xfrm>
          <a:prstGeom prst="rect">
            <a:avLst/>
          </a:prstGeom>
          <a:noFill/>
          <a:ln/>
        </p:spPr>
        <p:txBody>
          <a:bodyPr wrap="square" lIns="0" tIns="0" rIns="0" bIns="0" rtlCol="0" anchor="t"/>
          <a:lstStyle/>
          <a:p>
            <a:pPr indent="0" marL="0">
              <a:buNone/>
            </a:pPr>
            <a:r>
              <a:rPr lang="en-US" sz="1400" i="1" dirty="0">
                <a:solidFill>
                  <a:schemeClr val="tx2"/>
                </a:solidFill>
              </a:rPr>
              <a:t>¿Puedo permitirme vivir aquí?</a:t>
            </a:r>
            <a:endParaRPr lang="en-US" sz="1400" dirty="0"/>
          </a:p>
        </p:txBody>
      </p:sp>
      <p:sp>
        <p:nvSpPr>
          <p:cNvPr id="9" name="Text 7"/>
          <p:cNvSpPr txBox="1"/>
          <p:nvPr/>
        </p:nvSpPr>
        <p:spPr>
          <a:xfrm>
            <a:off x="841248" y="4572000"/>
            <a:ext cx="1645920" cy="1463040"/>
          </a:xfrm>
          <a:prstGeom prst="rect">
            <a:avLst/>
          </a:prstGeom>
          <a:noFill/>
          <a:ln/>
        </p:spPr>
        <p:txBody>
          <a:bodyPr wrap="square" lIns="0" tIns="0" rIns="0" bIns="0" rtlCol="0" anchor="t"/>
          <a:lstStyle/>
          <a:p>
            <a:pPr indent="0" marL="0">
              <a:buNone/>
            </a:pPr>
            <a:r>
              <a:rPr lang="en-US" sz="1400" dirty="0">
                <a:solidFill>
                  <a:schemeClr val="tx2"/>
                </a:solidFill>
              </a:rPr>
              <a:t>Precio predicho (€/m²), esfuerzo familiar (% de la renta) y brecha de mercado.</a:t>
            </a:r>
            <a:endParaRPr lang="en-US" sz="1400" dirty="0"/>
          </a:p>
        </p:txBody>
      </p:sp>
      <p:sp>
        <p:nvSpPr>
          <p:cNvPr id="10" name="Modelo M2"/>
          <p:cNvSpPr/>
          <p:nvPr/>
        </p:nvSpPr>
        <p:spPr>
          <a:xfrm>
            <a:off x="2866644" y="2103120"/>
            <a:ext cx="2002536" cy="4069080"/>
          </a:xfrm>
          <a:prstGeom prst="roundRect">
            <a:avLst>
              <a:gd name="adj" fmla="val 4566"/>
            </a:avLst>
          </a:prstGeom>
          <a:solidFill>
            <a:schemeClr val="bg2"/>
          </a:solidFill>
          <a:ln/>
        </p:spPr>
      </p:sp>
      <p:sp>
        <p:nvSpPr>
          <p:cNvPr id="11" name="Text 9"/>
          <p:cNvSpPr txBox="1"/>
          <p:nvPr/>
        </p:nvSpPr>
        <p:spPr>
          <a:xfrm>
            <a:off x="3067812" y="2331720"/>
            <a:ext cx="1554480" cy="64008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M2</a:t>
            </a:r>
            <a:endParaRPr lang="en-US" sz="4000" dirty="0"/>
          </a:p>
        </p:txBody>
      </p:sp>
      <p:sp>
        <p:nvSpPr>
          <p:cNvPr id="12" name="Text 10"/>
          <p:cNvSpPr txBox="1"/>
          <p:nvPr/>
        </p:nvSpPr>
        <p:spPr>
          <a:xfrm>
            <a:off x="3067812" y="3108960"/>
            <a:ext cx="1645920" cy="594360"/>
          </a:xfrm>
          <a:prstGeom prst="rect">
            <a:avLst/>
          </a:prstGeom>
          <a:noFill/>
          <a:ln/>
        </p:spPr>
        <p:txBody>
          <a:bodyPr wrap="square" lIns="0" tIns="0" rIns="0" bIns="0" rtlCol="0" anchor="t"/>
          <a:lstStyle/>
          <a:p>
            <a:pPr indent="0" marL="0">
              <a:buNone/>
            </a:pPr>
            <a:r>
              <a:rPr lang="en-US" sz="1600" b="1" dirty="0">
                <a:solidFill>
                  <a:schemeClr val="tx1"/>
                </a:solidFill>
              </a:rPr>
              <a:t>Dotación e infraestructuras</a:t>
            </a:r>
            <a:endParaRPr lang="en-US" sz="1600" dirty="0"/>
          </a:p>
        </p:txBody>
      </p:sp>
      <p:sp>
        <p:nvSpPr>
          <p:cNvPr id="13" name="Text 11"/>
          <p:cNvSpPr txBox="1"/>
          <p:nvPr/>
        </p:nvSpPr>
        <p:spPr>
          <a:xfrm>
            <a:off x="3067812" y="3794760"/>
            <a:ext cx="1645920" cy="685800"/>
          </a:xfrm>
          <a:prstGeom prst="rect">
            <a:avLst/>
          </a:prstGeom>
          <a:noFill/>
          <a:ln/>
        </p:spPr>
        <p:txBody>
          <a:bodyPr wrap="square" lIns="0" tIns="0" rIns="0" bIns="0" rtlCol="0" anchor="t"/>
          <a:lstStyle/>
          <a:p>
            <a:pPr indent="0" marL="0">
              <a:buNone/>
            </a:pPr>
            <a:r>
              <a:rPr lang="en-US" sz="1400" i="1" dirty="0">
                <a:solidFill>
                  <a:schemeClr val="tx2"/>
                </a:solidFill>
              </a:rPr>
              <a:t>¿Qué tal servicios y conexión?</a:t>
            </a:r>
            <a:endParaRPr lang="en-US" sz="1400" dirty="0"/>
          </a:p>
        </p:txBody>
      </p:sp>
      <p:sp>
        <p:nvSpPr>
          <p:cNvPr id="14" name="Text 12"/>
          <p:cNvSpPr txBox="1"/>
          <p:nvPr/>
        </p:nvSpPr>
        <p:spPr>
          <a:xfrm>
            <a:off x="3067812" y="4572000"/>
            <a:ext cx="1645920" cy="1463040"/>
          </a:xfrm>
          <a:prstGeom prst="rect">
            <a:avLst/>
          </a:prstGeom>
          <a:noFill/>
          <a:ln/>
        </p:spPr>
        <p:txBody>
          <a:bodyPr wrap="square" lIns="0" tIns="0" rIns="0" bIns="0" rtlCol="0" anchor="t"/>
          <a:lstStyle/>
          <a:p>
            <a:pPr indent="0" marL="0">
              <a:buNone/>
            </a:pPr>
            <a:r>
              <a:rPr lang="en-US" sz="1400" dirty="0">
                <a:solidFill>
                  <a:schemeClr val="tx2"/>
                </a:solidFill>
              </a:rPr>
              <a:t>Cuatro subíndices de 0 a 100: sanidad, educación, conectividad y calidad residencial.</a:t>
            </a:r>
            <a:endParaRPr lang="en-US" sz="1400" dirty="0"/>
          </a:p>
        </p:txBody>
      </p:sp>
      <p:sp>
        <p:nvSpPr>
          <p:cNvPr id="15" name="Modelo M3"/>
          <p:cNvSpPr/>
          <p:nvPr/>
        </p:nvSpPr>
        <p:spPr>
          <a:xfrm>
            <a:off x="5093208" y="2103120"/>
            <a:ext cx="2002536" cy="4069080"/>
          </a:xfrm>
          <a:prstGeom prst="roundRect">
            <a:avLst>
              <a:gd name="adj" fmla="val 4566"/>
            </a:avLst>
          </a:prstGeom>
          <a:solidFill>
            <a:schemeClr val="bg2"/>
          </a:solidFill>
          <a:ln/>
        </p:spPr>
      </p:sp>
      <p:sp>
        <p:nvSpPr>
          <p:cNvPr id="16" name="Text 14"/>
          <p:cNvSpPr txBox="1"/>
          <p:nvPr/>
        </p:nvSpPr>
        <p:spPr>
          <a:xfrm>
            <a:off x="5294376" y="2331720"/>
            <a:ext cx="1554480" cy="64008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M3</a:t>
            </a:r>
            <a:endParaRPr lang="en-US" sz="4000" dirty="0"/>
          </a:p>
        </p:txBody>
      </p:sp>
      <p:sp>
        <p:nvSpPr>
          <p:cNvPr id="17" name="Text 15"/>
          <p:cNvSpPr txBox="1"/>
          <p:nvPr/>
        </p:nvSpPr>
        <p:spPr>
          <a:xfrm>
            <a:off x="5294376" y="3108960"/>
            <a:ext cx="1645920" cy="594360"/>
          </a:xfrm>
          <a:prstGeom prst="rect">
            <a:avLst/>
          </a:prstGeom>
          <a:noFill/>
          <a:ln/>
        </p:spPr>
        <p:txBody>
          <a:bodyPr wrap="square" lIns="0" tIns="0" rIns="0" bIns="0" rtlCol="0" anchor="t"/>
          <a:lstStyle/>
          <a:p>
            <a:pPr indent="0" marL="0">
              <a:buNone/>
            </a:pPr>
            <a:r>
              <a:rPr lang="en-US" sz="1600" b="1" dirty="0">
                <a:solidFill>
                  <a:schemeClr val="tx1"/>
                </a:solidFill>
              </a:rPr>
              <a:t>Demografía y series temporales</a:t>
            </a:r>
            <a:endParaRPr lang="en-US" sz="1600" dirty="0"/>
          </a:p>
        </p:txBody>
      </p:sp>
      <p:sp>
        <p:nvSpPr>
          <p:cNvPr id="18" name="Text 16"/>
          <p:cNvSpPr txBox="1"/>
          <p:nvPr/>
        </p:nvSpPr>
        <p:spPr>
          <a:xfrm>
            <a:off x="5294376" y="3794760"/>
            <a:ext cx="1645920" cy="685800"/>
          </a:xfrm>
          <a:prstGeom prst="rect">
            <a:avLst/>
          </a:prstGeom>
          <a:noFill/>
          <a:ln/>
        </p:spPr>
        <p:txBody>
          <a:bodyPr wrap="square" lIns="0" tIns="0" rIns="0" bIns="0" rtlCol="0" anchor="t"/>
          <a:lstStyle/>
          <a:p>
            <a:pPr indent="0" marL="0">
              <a:buNone/>
            </a:pPr>
            <a:r>
              <a:rPr lang="en-US" sz="1400" i="1" dirty="0">
                <a:solidFill>
                  <a:schemeClr val="tx2"/>
                </a:solidFill>
              </a:rPr>
              <a:t>¿Va a crecer o a vaciarse?</a:t>
            </a:r>
            <a:endParaRPr lang="en-US" sz="1400" dirty="0"/>
          </a:p>
        </p:txBody>
      </p:sp>
      <p:sp>
        <p:nvSpPr>
          <p:cNvPr id="19" name="Text 17"/>
          <p:cNvSpPr txBox="1"/>
          <p:nvPr/>
        </p:nvSpPr>
        <p:spPr>
          <a:xfrm>
            <a:off x="5294376" y="4572000"/>
            <a:ext cx="1645920" cy="1463040"/>
          </a:xfrm>
          <a:prstGeom prst="rect">
            <a:avLst/>
          </a:prstGeom>
          <a:noFill/>
          <a:ln/>
        </p:spPr>
        <p:txBody>
          <a:bodyPr wrap="square" lIns="0" tIns="0" rIns="0" bIns="0" rtlCol="0" anchor="t"/>
          <a:lstStyle/>
          <a:p>
            <a:pPr indent="0" marL="0">
              <a:buNone/>
            </a:pPr>
            <a:r>
              <a:rPr lang="en-US" sz="1400" dirty="0">
                <a:solidFill>
                  <a:schemeClr val="tx2"/>
                </a:solidFill>
              </a:rPr>
              <a:t>Proyección a 5 y 10 años (2030 y 2035) y año estimado de saturación.</a:t>
            </a:r>
            <a:endParaRPr lang="en-US" sz="1400" dirty="0"/>
          </a:p>
        </p:txBody>
      </p:sp>
      <p:sp>
        <p:nvSpPr>
          <p:cNvPr id="20" name="Modelo M4"/>
          <p:cNvSpPr/>
          <p:nvPr/>
        </p:nvSpPr>
        <p:spPr>
          <a:xfrm>
            <a:off x="7319772" y="2103120"/>
            <a:ext cx="2002536" cy="4069080"/>
          </a:xfrm>
          <a:prstGeom prst="roundRect">
            <a:avLst>
              <a:gd name="adj" fmla="val 4566"/>
            </a:avLst>
          </a:prstGeom>
          <a:solidFill>
            <a:schemeClr val="tx1"/>
          </a:solidFill>
          <a:ln/>
        </p:spPr>
      </p:sp>
      <p:sp>
        <p:nvSpPr>
          <p:cNvPr id="21" name="Text 19"/>
          <p:cNvSpPr txBox="1"/>
          <p:nvPr/>
        </p:nvSpPr>
        <p:spPr>
          <a:xfrm>
            <a:off x="7520940" y="2331720"/>
            <a:ext cx="1554480" cy="640080"/>
          </a:xfrm>
          <a:prstGeom prst="rect">
            <a:avLst/>
          </a:prstGeom>
          <a:noFill/>
          <a:ln/>
        </p:spPr>
        <p:txBody>
          <a:bodyPr wrap="square" lIns="0" tIns="0" rIns="0" bIns="0" rtlCol="0" anchor="t"/>
          <a:lstStyle/>
          <a:p>
            <a:pPr indent="0" marL="0">
              <a:buNone/>
            </a:pPr>
            <a:r>
              <a:rPr lang="en-US" sz="4000" b="1" dirty="0">
                <a:solidFill>
                  <a:schemeClr val="accent6"/>
                </a:solidFill>
                <a:latin typeface="+mj-lt" pitchFamily="34" charset="0"/>
                <a:ea typeface="+mj-lt" pitchFamily="34" charset="-122"/>
                <a:cs typeface="+mj-lt" pitchFamily="34" charset="-120"/>
              </a:rPr>
              <a:t>M4</a:t>
            </a:r>
            <a:endParaRPr lang="en-US" sz="4000" dirty="0"/>
          </a:p>
        </p:txBody>
      </p:sp>
      <p:sp>
        <p:nvSpPr>
          <p:cNvPr id="22" name="Text 20"/>
          <p:cNvSpPr txBox="1"/>
          <p:nvPr/>
        </p:nvSpPr>
        <p:spPr>
          <a:xfrm>
            <a:off x="7520940" y="3108960"/>
            <a:ext cx="1645920" cy="594360"/>
          </a:xfrm>
          <a:prstGeom prst="rect">
            <a:avLst/>
          </a:prstGeom>
          <a:noFill/>
          <a:ln/>
        </p:spPr>
        <p:txBody>
          <a:bodyPr wrap="square" lIns="0" tIns="0" rIns="0" bIns="0" rtlCol="0" anchor="t"/>
          <a:lstStyle/>
          <a:p>
            <a:pPr indent="0" marL="0">
              <a:buNone/>
            </a:pPr>
            <a:r>
              <a:rPr lang="en-US" sz="1600" b="1" dirty="0">
                <a:solidFill>
                  <a:schemeClr val="bg1"/>
                </a:solidFill>
              </a:rPr>
              <a:t>Capacidad neta de carga (ICA)</a:t>
            </a:r>
            <a:endParaRPr lang="en-US" sz="1600" dirty="0"/>
          </a:p>
        </p:txBody>
      </p:sp>
      <p:sp>
        <p:nvSpPr>
          <p:cNvPr id="23" name="Text 21"/>
          <p:cNvSpPr txBox="1"/>
          <p:nvPr/>
        </p:nvSpPr>
        <p:spPr>
          <a:xfrm>
            <a:off x="7520940" y="3794760"/>
            <a:ext cx="1645920" cy="685800"/>
          </a:xfrm>
          <a:prstGeom prst="rect">
            <a:avLst/>
          </a:prstGeom>
          <a:noFill/>
          <a:ln/>
        </p:spPr>
        <p:txBody>
          <a:bodyPr wrap="square" lIns="0" tIns="0" rIns="0" bIns="0" rtlCol="0" anchor="t"/>
          <a:lstStyle/>
          <a:p>
            <a:pPr indent="0" marL="0">
              <a:buNone/>
            </a:pPr>
            <a:r>
              <a:rPr lang="en-US" sz="1400" i="1" dirty="0">
                <a:solidFill>
                  <a:schemeClr val="accent5"/>
                </a:solidFill>
              </a:rPr>
              <a:t>¿Cuánta gente cabe y qué se rompe?</a:t>
            </a:r>
            <a:endParaRPr lang="en-US" sz="1400" dirty="0"/>
          </a:p>
        </p:txBody>
      </p:sp>
      <p:sp>
        <p:nvSpPr>
          <p:cNvPr id="24" name="Text 22"/>
          <p:cNvSpPr txBox="1"/>
          <p:nvPr/>
        </p:nvSpPr>
        <p:spPr>
          <a:xfrm>
            <a:off x="7520940" y="4572000"/>
            <a:ext cx="1645920" cy="1463040"/>
          </a:xfrm>
          <a:prstGeom prst="rect">
            <a:avLst/>
          </a:prstGeom>
          <a:noFill/>
          <a:ln/>
        </p:spPr>
        <p:txBody>
          <a:bodyPr wrap="square" lIns="0" tIns="0" rIns="0" bIns="0" rtlCol="0" anchor="t"/>
          <a:lstStyle/>
          <a:p>
            <a:pPr indent="0" marL="0">
              <a:buNone/>
            </a:pPr>
            <a:r>
              <a:rPr lang="en-US" sz="1400" dirty="0">
                <a:solidFill>
                  <a:schemeClr val="bg2"/>
                </a:solidFill>
              </a:rPr>
              <a:t>Habitantes adicionales sostenibles e identificación del factor limitante.</a:t>
            </a:r>
            <a:endParaRPr lang="en-US" sz="1400" dirty="0"/>
          </a:p>
        </p:txBody>
      </p:sp>
      <p:sp>
        <p:nvSpPr>
          <p:cNvPr id="25" name="Modelo M5"/>
          <p:cNvSpPr/>
          <p:nvPr/>
        </p:nvSpPr>
        <p:spPr>
          <a:xfrm>
            <a:off x="9546336" y="2103120"/>
            <a:ext cx="2002536" cy="4069080"/>
          </a:xfrm>
          <a:prstGeom prst="roundRect">
            <a:avLst>
              <a:gd name="adj" fmla="val 4566"/>
            </a:avLst>
          </a:prstGeom>
          <a:solidFill>
            <a:schemeClr val="bg2"/>
          </a:solidFill>
          <a:ln/>
        </p:spPr>
      </p:sp>
      <p:sp>
        <p:nvSpPr>
          <p:cNvPr id="26" name="Text 24"/>
          <p:cNvSpPr txBox="1"/>
          <p:nvPr/>
        </p:nvSpPr>
        <p:spPr>
          <a:xfrm>
            <a:off x="9747504" y="2331720"/>
            <a:ext cx="1554480" cy="64008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M5</a:t>
            </a:r>
            <a:endParaRPr lang="en-US" sz="4000" dirty="0"/>
          </a:p>
        </p:txBody>
      </p:sp>
      <p:sp>
        <p:nvSpPr>
          <p:cNvPr id="27" name="Text 25"/>
          <p:cNvSpPr txBox="1"/>
          <p:nvPr/>
        </p:nvSpPr>
        <p:spPr>
          <a:xfrm>
            <a:off x="9747504" y="3108960"/>
            <a:ext cx="1645920" cy="594360"/>
          </a:xfrm>
          <a:prstGeom prst="rect">
            <a:avLst/>
          </a:prstGeom>
          <a:noFill/>
          <a:ln/>
        </p:spPr>
        <p:txBody>
          <a:bodyPr wrap="square" lIns="0" tIns="0" rIns="0" bIns="0" rtlCol="0" anchor="t"/>
          <a:lstStyle/>
          <a:p>
            <a:pPr indent="0" marL="0">
              <a:buNone/>
            </a:pPr>
            <a:r>
              <a:rPr lang="en-US" sz="1600" b="1" dirty="0">
                <a:solidFill>
                  <a:schemeClr val="tx1"/>
                </a:solidFill>
              </a:rPr>
              <a:t>Recomendador y optimizador</a:t>
            </a:r>
            <a:endParaRPr lang="en-US" sz="1600" dirty="0"/>
          </a:p>
        </p:txBody>
      </p:sp>
      <p:sp>
        <p:nvSpPr>
          <p:cNvPr id="28" name="Text 26"/>
          <p:cNvSpPr txBox="1"/>
          <p:nvPr/>
        </p:nvSpPr>
        <p:spPr>
          <a:xfrm>
            <a:off x="9747504" y="3794760"/>
            <a:ext cx="1645920" cy="685800"/>
          </a:xfrm>
          <a:prstGeom prst="rect">
            <a:avLst/>
          </a:prstGeom>
          <a:noFill/>
          <a:ln/>
        </p:spPr>
        <p:txBody>
          <a:bodyPr wrap="square" lIns="0" tIns="0" rIns="0" bIns="0" rtlCol="0" anchor="t"/>
          <a:lstStyle/>
          <a:p>
            <a:pPr indent="0" marL="0">
              <a:buNone/>
            </a:pPr>
            <a:r>
              <a:rPr lang="en-US" sz="1400" i="1" dirty="0">
                <a:solidFill>
                  <a:schemeClr val="tx2"/>
                </a:solidFill>
              </a:rPr>
              <a:t>¿Cuál encaja conmigo?</a:t>
            </a:r>
            <a:endParaRPr lang="en-US" sz="1400" dirty="0"/>
          </a:p>
        </p:txBody>
      </p:sp>
      <p:sp>
        <p:nvSpPr>
          <p:cNvPr id="29" name="Text 27"/>
          <p:cNvSpPr txBox="1"/>
          <p:nvPr/>
        </p:nvSpPr>
        <p:spPr>
          <a:xfrm>
            <a:off x="9747504" y="4572000"/>
            <a:ext cx="1645920" cy="1463040"/>
          </a:xfrm>
          <a:prstGeom prst="rect">
            <a:avLst/>
          </a:prstGeom>
          <a:noFill/>
          <a:ln/>
        </p:spPr>
        <p:txBody>
          <a:bodyPr wrap="square" lIns="0" tIns="0" rIns="0" bIns="0" rtlCol="0" anchor="t"/>
          <a:lstStyle/>
          <a:p>
            <a:pPr indent="0" marL="0">
              <a:buNone/>
            </a:pPr>
            <a:r>
              <a:rPr lang="en-US" sz="1400" dirty="0">
                <a:solidFill>
                  <a:schemeClr val="tx2"/>
                </a:solidFill>
              </a:rPr>
              <a:t>Ranking adaptado al perfil ciudadano y optimización de la inversión pública.</a:t>
            </a:r>
            <a:endParaRPr lang="en-US" sz="14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5  ·  CLARIDAD METODOLÓGICA</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Evaluar, predecir y simular no es lo mismo</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600" dirty="0">
                <a:solidFill>
                  <a:schemeClr val="tx2"/>
                </a:solidFill>
              </a:rPr>
              <a:t>Evaluar el presente, predecir el futuro y simular escenarios</a:t>
            </a:r>
            <a:endParaRPr lang="en-US" sz="1600" dirty="0"/>
          </a:p>
        </p:txBody>
      </p:sp>
      <p:sp>
        <p:nvSpPr>
          <p:cNvPr id="5" name="Tarjeta"/>
          <p:cNvSpPr/>
          <p:nvPr/>
        </p:nvSpPr>
        <p:spPr>
          <a:xfrm>
            <a:off x="640080" y="1965960"/>
            <a:ext cx="3474720" cy="4206240"/>
          </a:xfrm>
          <a:prstGeom prst="roundRect">
            <a:avLst>
              <a:gd name="adj" fmla="val 2632"/>
            </a:avLst>
          </a:prstGeom>
          <a:solidFill>
            <a:schemeClr val="bg2"/>
          </a:solidFill>
          <a:ln/>
        </p:spPr>
      </p:sp>
      <p:sp>
        <p:nvSpPr>
          <p:cNvPr id="6" name="Círculo icono"/>
          <p:cNvSpPr/>
          <p:nvPr/>
        </p:nvSpPr>
        <p:spPr>
          <a:xfrm>
            <a:off x="914400" y="2221992"/>
            <a:ext cx="548640" cy="548640"/>
          </a:xfrm>
          <a:prstGeom prst="ellipse">
            <a:avLst/>
          </a:prstGeom>
          <a:solidFill>
            <a:srgbClr val="C0263F"/>
          </a:solidFill>
          <a:ln/>
        </p:spPr>
      </p:sp>
      <p:pic>
        <p:nvPicPr>
          <p:cNvPr id="7" name="Image 0" descr="preencoded.png">    </p:cNvPr>
          <p:cNvPicPr>
            <a:picLocks noChangeAspect="1"/>
          </p:cNvPicPr>
          <p:nvPr/>
        </p:nvPicPr>
        <p:blipFill>
          <a:blip r:embed="rId1"/>
          <a:stretch>
            <a:fillRect/>
          </a:stretch>
        </p:blipFill>
        <p:spPr>
          <a:xfrm>
            <a:off x="1035101" y="2342693"/>
            <a:ext cx="307238" cy="307238"/>
          </a:xfrm>
          <a:prstGeom prst="rect">
            <a:avLst/>
          </a:prstGeom>
        </p:spPr>
      </p:pic>
      <p:sp>
        <p:nvSpPr>
          <p:cNvPr id="8" name="Text 5"/>
          <p:cNvSpPr txBox="1"/>
          <p:nvPr/>
        </p:nvSpPr>
        <p:spPr>
          <a:xfrm>
            <a:off x="1645920" y="2295144"/>
            <a:ext cx="2286000"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Evaluar</a:t>
            </a:r>
            <a:endParaRPr lang="en-US" sz="2400" dirty="0"/>
          </a:p>
        </p:txBody>
      </p:sp>
      <p:sp>
        <p:nvSpPr>
          <p:cNvPr id="9" name="Text 6"/>
          <p:cNvSpPr txBox="1"/>
          <p:nvPr/>
        </p:nvSpPr>
        <p:spPr>
          <a:xfrm>
            <a:off x="914400" y="2990088"/>
            <a:ext cx="2926080" cy="594360"/>
          </a:xfrm>
          <a:prstGeom prst="rect">
            <a:avLst/>
          </a:prstGeom>
          <a:noFill/>
          <a:ln/>
        </p:spPr>
        <p:txBody>
          <a:bodyPr wrap="square" lIns="0" tIns="0" rIns="0" bIns="0" rtlCol="0" anchor="t"/>
          <a:lstStyle/>
          <a:p>
            <a:pPr indent="0" marL="0">
              <a:buNone/>
            </a:pPr>
            <a:r>
              <a:rPr lang="en-US" sz="1600" i="1" dirty="0">
                <a:solidFill>
                  <a:schemeClr val="tx1"/>
                </a:solidFill>
              </a:rPr>
              <a:t>¿Qué municipio encaja con lo que pido?</a:t>
            </a:r>
            <a:endParaRPr lang="en-US" sz="1600" dirty="0"/>
          </a:p>
        </p:txBody>
      </p:sp>
      <p:sp>
        <p:nvSpPr>
          <p:cNvPr id="10" name="Text 7"/>
          <p:cNvSpPr txBox="1"/>
          <p:nvPr/>
        </p:nvSpPr>
        <p:spPr>
          <a:xfrm>
            <a:off x="914400" y="3749040"/>
            <a:ext cx="292608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NECESITA</a:t>
            </a:r>
            <a:endParaRPr lang="en-US" sz="1100" dirty="0"/>
          </a:p>
        </p:txBody>
      </p:sp>
      <p:sp>
        <p:nvSpPr>
          <p:cNvPr id="11" name="Text 8"/>
          <p:cNvSpPr txBox="1"/>
          <p:nvPr/>
        </p:nvSpPr>
        <p:spPr>
          <a:xfrm>
            <a:off x="914400" y="3968496"/>
            <a:ext cx="2926080" cy="502920"/>
          </a:xfrm>
          <a:prstGeom prst="rect">
            <a:avLst/>
          </a:prstGeom>
          <a:noFill/>
          <a:ln/>
        </p:spPr>
        <p:txBody>
          <a:bodyPr wrap="square" lIns="0" tIns="0" rIns="0" bIns="0" rtlCol="0" anchor="t"/>
          <a:lstStyle/>
          <a:p>
            <a:pPr indent="0" marL="0">
              <a:buNone/>
            </a:pPr>
            <a:r>
              <a:rPr lang="en-US" sz="1400" dirty="0">
                <a:solidFill>
                  <a:schemeClr val="tx2"/>
                </a:solidFill>
              </a:rPr>
              <a:t>Ningún dato del futuro: lo observado ya existe hoy.</a:t>
            </a:r>
            <a:endParaRPr lang="en-US" sz="1400" dirty="0"/>
          </a:p>
        </p:txBody>
      </p:sp>
      <p:sp>
        <p:nvSpPr>
          <p:cNvPr id="12" name="Text 9"/>
          <p:cNvSpPr txBox="1"/>
          <p:nvPr/>
        </p:nvSpPr>
        <p:spPr>
          <a:xfrm>
            <a:off x="914400" y="4526280"/>
            <a:ext cx="292608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FUNCIÓN</a:t>
            </a:r>
            <a:endParaRPr lang="en-US" sz="1100" dirty="0"/>
          </a:p>
        </p:txBody>
      </p:sp>
      <p:sp>
        <p:nvSpPr>
          <p:cNvPr id="13" name="Text 10"/>
          <p:cNvSpPr txBox="1"/>
          <p:nvPr/>
        </p:nvSpPr>
        <p:spPr>
          <a:xfrm>
            <a:off x="914400" y="4745736"/>
            <a:ext cx="2926080" cy="502920"/>
          </a:xfrm>
          <a:prstGeom prst="rect">
            <a:avLst/>
          </a:prstGeom>
          <a:noFill/>
          <a:ln/>
        </p:spPr>
        <p:txBody>
          <a:bodyPr wrap="square" lIns="0" tIns="0" rIns="0" bIns="0" rtlCol="0" anchor="t"/>
          <a:lstStyle/>
          <a:p>
            <a:pPr indent="0" marL="0">
              <a:buNone/>
            </a:pPr>
            <a:r>
              <a:rPr lang="en-US" sz="1400" dirty="0">
                <a:solidFill>
                  <a:schemeClr val="tx2"/>
                </a:solidFill>
              </a:rPr>
              <a:t>Reordenar municipios según preferencias declaradas.</a:t>
            </a:r>
            <a:endParaRPr lang="en-US" sz="1400" dirty="0"/>
          </a:p>
        </p:txBody>
      </p:sp>
      <p:sp>
        <p:nvSpPr>
          <p:cNvPr id="14" name="Text 11"/>
          <p:cNvSpPr txBox="1"/>
          <p:nvPr/>
        </p:nvSpPr>
        <p:spPr>
          <a:xfrm>
            <a:off x="914400" y="5303520"/>
            <a:ext cx="292608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IMPLEMENTACIÓN</a:t>
            </a:r>
            <a:endParaRPr lang="en-US" sz="1100" dirty="0"/>
          </a:p>
        </p:txBody>
      </p:sp>
      <p:sp>
        <p:nvSpPr>
          <p:cNvPr id="15" name="Text 12"/>
          <p:cNvSpPr txBox="1"/>
          <p:nvPr/>
        </p:nvSpPr>
        <p:spPr>
          <a:xfrm>
            <a:off x="914400" y="5522976"/>
            <a:ext cx="2926080" cy="502920"/>
          </a:xfrm>
          <a:prstGeom prst="rect">
            <a:avLst/>
          </a:prstGeom>
          <a:noFill/>
          <a:ln/>
        </p:spPr>
        <p:txBody>
          <a:bodyPr wrap="square" lIns="0" tIns="0" rIns="0" bIns="0" rtlCol="0" anchor="t"/>
          <a:lstStyle/>
          <a:p>
            <a:pPr indent="0" marL="0">
              <a:buNone/>
            </a:pPr>
            <a:r>
              <a:rPr lang="en-US" sz="1400" dirty="0">
                <a:solidFill>
                  <a:schemeClr val="tx2"/>
                </a:solidFill>
              </a:rPr>
              <a:t>Ranking adaptativo por perfiles (C2 / M5).</a:t>
            </a:r>
            <a:endParaRPr lang="en-US" sz="1400" dirty="0"/>
          </a:p>
        </p:txBody>
      </p:sp>
      <p:sp>
        <p:nvSpPr>
          <p:cNvPr id="16" name="Tarjeta"/>
          <p:cNvSpPr/>
          <p:nvPr/>
        </p:nvSpPr>
        <p:spPr>
          <a:xfrm>
            <a:off x="4357116" y="1965960"/>
            <a:ext cx="3474720" cy="4206240"/>
          </a:xfrm>
          <a:prstGeom prst="roundRect">
            <a:avLst>
              <a:gd name="adj" fmla="val 2632"/>
            </a:avLst>
          </a:prstGeom>
          <a:solidFill>
            <a:schemeClr val="bg2"/>
          </a:solidFill>
          <a:ln/>
        </p:spPr>
      </p:sp>
      <p:sp>
        <p:nvSpPr>
          <p:cNvPr id="17" name="Círculo icono"/>
          <p:cNvSpPr/>
          <p:nvPr/>
        </p:nvSpPr>
        <p:spPr>
          <a:xfrm>
            <a:off x="4631436" y="2221992"/>
            <a:ext cx="548640" cy="548640"/>
          </a:xfrm>
          <a:prstGeom prst="ellipse">
            <a:avLst/>
          </a:prstGeom>
          <a:solidFill>
            <a:srgbClr val="C0263F"/>
          </a:solidFill>
          <a:ln/>
        </p:spPr>
      </p:sp>
      <p:pic>
        <p:nvPicPr>
          <p:cNvPr id="18" name="Image 1" descr="preencoded.png">    </p:cNvPr>
          <p:cNvPicPr>
            <a:picLocks noChangeAspect="1"/>
          </p:cNvPicPr>
          <p:nvPr/>
        </p:nvPicPr>
        <p:blipFill>
          <a:blip r:embed="rId2"/>
          <a:stretch>
            <a:fillRect/>
          </a:stretch>
        </p:blipFill>
        <p:spPr>
          <a:xfrm>
            <a:off x="4752137" y="2342693"/>
            <a:ext cx="307238" cy="307238"/>
          </a:xfrm>
          <a:prstGeom prst="rect">
            <a:avLst/>
          </a:prstGeom>
        </p:spPr>
      </p:pic>
      <p:sp>
        <p:nvSpPr>
          <p:cNvPr id="19" name="Text 15"/>
          <p:cNvSpPr txBox="1"/>
          <p:nvPr/>
        </p:nvSpPr>
        <p:spPr>
          <a:xfrm>
            <a:off x="5362956" y="2295144"/>
            <a:ext cx="2286000"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Predecir</a:t>
            </a:r>
            <a:endParaRPr lang="en-US" sz="2400" dirty="0"/>
          </a:p>
        </p:txBody>
      </p:sp>
      <p:sp>
        <p:nvSpPr>
          <p:cNvPr id="20" name="Text 16"/>
          <p:cNvSpPr txBox="1"/>
          <p:nvPr/>
        </p:nvSpPr>
        <p:spPr>
          <a:xfrm>
            <a:off x="4631436" y="2990088"/>
            <a:ext cx="2926080" cy="594360"/>
          </a:xfrm>
          <a:prstGeom prst="rect">
            <a:avLst/>
          </a:prstGeom>
          <a:noFill/>
          <a:ln/>
        </p:spPr>
        <p:txBody>
          <a:bodyPr wrap="square" lIns="0" tIns="0" rIns="0" bIns="0" rtlCol="0" anchor="t"/>
          <a:lstStyle/>
          <a:p>
            <a:pPr indent="0" marL="0">
              <a:buNone/>
            </a:pPr>
            <a:r>
              <a:rPr lang="en-US" sz="1600" i="1" dirty="0">
                <a:solidFill>
                  <a:schemeClr val="tx1"/>
                </a:solidFill>
              </a:rPr>
              <a:t>¿Qué pasará en este municipio en 2030?</a:t>
            </a:r>
            <a:endParaRPr lang="en-US" sz="1600" dirty="0"/>
          </a:p>
        </p:txBody>
      </p:sp>
      <p:sp>
        <p:nvSpPr>
          <p:cNvPr id="21" name="Text 17"/>
          <p:cNvSpPr txBox="1"/>
          <p:nvPr/>
        </p:nvSpPr>
        <p:spPr>
          <a:xfrm>
            <a:off x="4631436" y="3749040"/>
            <a:ext cx="292608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NECESITA</a:t>
            </a:r>
            <a:endParaRPr lang="en-US" sz="1100" dirty="0"/>
          </a:p>
        </p:txBody>
      </p:sp>
      <p:sp>
        <p:nvSpPr>
          <p:cNvPr id="22" name="Text 18"/>
          <p:cNvSpPr txBox="1"/>
          <p:nvPr/>
        </p:nvSpPr>
        <p:spPr>
          <a:xfrm>
            <a:off x="4631436" y="3968496"/>
            <a:ext cx="2926080" cy="502920"/>
          </a:xfrm>
          <a:prstGeom prst="rect">
            <a:avLst/>
          </a:prstGeom>
          <a:noFill/>
          <a:ln/>
        </p:spPr>
        <p:txBody>
          <a:bodyPr wrap="square" lIns="0" tIns="0" rIns="0" bIns="0" rtlCol="0" anchor="t"/>
          <a:lstStyle/>
          <a:p>
            <a:pPr indent="0" marL="0">
              <a:buNone/>
            </a:pPr>
            <a:r>
              <a:rPr lang="en-US" sz="1400" dirty="0">
                <a:solidFill>
                  <a:schemeClr val="tx2"/>
                </a:solidFill>
              </a:rPr>
              <a:t>Estimar una incógnita futura con series temporales.</a:t>
            </a:r>
            <a:endParaRPr lang="en-US" sz="1400" dirty="0"/>
          </a:p>
        </p:txBody>
      </p:sp>
      <p:sp>
        <p:nvSpPr>
          <p:cNvPr id="23" name="Text 19"/>
          <p:cNvSpPr txBox="1"/>
          <p:nvPr/>
        </p:nvSpPr>
        <p:spPr>
          <a:xfrm>
            <a:off x="4631436" y="4526280"/>
            <a:ext cx="292608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FUNCIÓN</a:t>
            </a:r>
            <a:endParaRPr lang="en-US" sz="1100" dirty="0"/>
          </a:p>
        </p:txBody>
      </p:sp>
      <p:sp>
        <p:nvSpPr>
          <p:cNvPr id="24" name="Text 20"/>
          <p:cNvSpPr txBox="1"/>
          <p:nvPr/>
        </p:nvSpPr>
        <p:spPr>
          <a:xfrm>
            <a:off x="4631436" y="4745736"/>
            <a:ext cx="2926080" cy="502920"/>
          </a:xfrm>
          <a:prstGeom prst="rect">
            <a:avLst/>
          </a:prstGeom>
          <a:noFill/>
          <a:ln/>
        </p:spPr>
        <p:txBody>
          <a:bodyPr wrap="square" lIns="0" tIns="0" rIns="0" bIns="0" rtlCol="0" anchor="t"/>
          <a:lstStyle/>
          <a:p>
            <a:pPr indent="0" marL="0">
              <a:buNone/>
            </a:pPr>
            <a:r>
              <a:rPr lang="en-US" sz="1400" dirty="0">
                <a:solidFill>
                  <a:schemeClr val="tx2"/>
                </a:solidFill>
              </a:rPr>
              <a:t>Anticipar población y año de saturación.</a:t>
            </a:r>
            <a:endParaRPr lang="en-US" sz="1400" dirty="0"/>
          </a:p>
        </p:txBody>
      </p:sp>
      <p:sp>
        <p:nvSpPr>
          <p:cNvPr id="25" name="Text 21"/>
          <p:cNvSpPr txBox="1"/>
          <p:nvPr/>
        </p:nvSpPr>
        <p:spPr>
          <a:xfrm>
            <a:off x="4631436" y="5303520"/>
            <a:ext cx="292608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IMPLEMENTACIÓN</a:t>
            </a:r>
            <a:endParaRPr lang="en-US" sz="1100" dirty="0"/>
          </a:p>
        </p:txBody>
      </p:sp>
      <p:sp>
        <p:nvSpPr>
          <p:cNvPr id="26" name="Text 22"/>
          <p:cNvSpPr txBox="1"/>
          <p:nvPr/>
        </p:nvSpPr>
        <p:spPr>
          <a:xfrm>
            <a:off x="4631436" y="5522976"/>
            <a:ext cx="2926080" cy="502920"/>
          </a:xfrm>
          <a:prstGeom prst="rect">
            <a:avLst/>
          </a:prstGeom>
          <a:noFill/>
          <a:ln/>
        </p:spPr>
        <p:txBody>
          <a:bodyPr wrap="square" lIns="0" tIns="0" rIns="0" bIns="0" rtlCol="0" anchor="t"/>
          <a:lstStyle/>
          <a:p>
            <a:pPr indent="0" marL="0">
              <a:buNone/>
            </a:pPr>
            <a:r>
              <a:rPr lang="en-US" sz="1400" dirty="0">
                <a:solidFill>
                  <a:schemeClr val="tx2"/>
                </a:solidFill>
              </a:rPr>
              <a:t>Modelo M3 (población 2030/2035 y año de colapso).</a:t>
            </a:r>
            <a:endParaRPr lang="en-US" sz="1400" dirty="0"/>
          </a:p>
        </p:txBody>
      </p:sp>
      <p:sp>
        <p:nvSpPr>
          <p:cNvPr id="27" name="Tarjeta"/>
          <p:cNvSpPr/>
          <p:nvPr/>
        </p:nvSpPr>
        <p:spPr>
          <a:xfrm>
            <a:off x="8074152" y="1965960"/>
            <a:ext cx="3474720" cy="4206240"/>
          </a:xfrm>
          <a:prstGeom prst="roundRect">
            <a:avLst>
              <a:gd name="adj" fmla="val 2632"/>
            </a:avLst>
          </a:prstGeom>
          <a:solidFill>
            <a:schemeClr val="bg2"/>
          </a:solidFill>
          <a:ln/>
        </p:spPr>
      </p:sp>
      <p:sp>
        <p:nvSpPr>
          <p:cNvPr id="28" name="Círculo icono"/>
          <p:cNvSpPr/>
          <p:nvPr/>
        </p:nvSpPr>
        <p:spPr>
          <a:xfrm>
            <a:off x="8348472" y="2221992"/>
            <a:ext cx="548640" cy="548640"/>
          </a:xfrm>
          <a:prstGeom prst="ellipse">
            <a:avLst/>
          </a:prstGeom>
          <a:solidFill>
            <a:srgbClr val="C0263F"/>
          </a:solidFill>
          <a:ln/>
        </p:spPr>
      </p:sp>
      <p:pic>
        <p:nvPicPr>
          <p:cNvPr id="29" name="Image 2" descr="preencoded.png">    </p:cNvPr>
          <p:cNvPicPr>
            <a:picLocks noChangeAspect="1"/>
          </p:cNvPicPr>
          <p:nvPr/>
        </p:nvPicPr>
        <p:blipFill>
          <a:blip r:embed="rId3"/>
          <a:stretch>
            <a:fillRect/>
          </a:stretch>
        </p:blipFill>
        <p:spPr>
          <a:xfrm>
            <a:off x="8469173" y="2342693"/>
            <a:ext cx="307238" cy="307238"/>
          </a:xfrm>
          <a:prstGeom prst="rect">
            <a:avLst/>
          </a:prstGeom>
        </p:spPr>
      </p:pic>
      <p:sp>
        <p:nvSpPr>
          <p:cNvPr id="30" name="Text 25"/>
          <p:cNvSpPr txBox="1"/>
          <p:nvPr/>
        </p:nvSpPr>
        <p:spPr>
          <a:xfrm>
            <a:off x="9079992" y="2295144"/>
            <a:ext cx="2286000"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Simular</a:t>
            </a:r>
            <a:endParaRPr lang="en-US" sz="2400" dirty="0"/>
          </a:p>
        </p:txBody>
      </p:sp>
      <p:sp>
        <p:nvSpPr>
          <p:cNvPr id="31" name="Text 26"/>
          <p:cNvSpPr txBox="1"/>
          <p:nvPr/>
        </p:nvSpPr>
        <p:spPr>
          <a:xfrm>
            <a:off x="8348472" y="2990088"/>
            <a:ext cx="2926080" cy="594360"/>
          </a:xfrm>
          <a:prstGeom prst="rect">
            <a:avLst/>
          </a:prstGeom>
          <a:noFill/>
          <a:ln/>
        </p:spPr>
        <p:txBody>
          <a:bodyPr wrap="square" lIns="0" tIns="0" rIns="0" bIns="0" rtlCol="0" anchor="t"/>
          <a:lstStyle/>
          <a:p>
            <a:pPr indent="0" marL="0">
              <a:buNone/>
            </a:pPr>
            <a:r>
              <a:rPr lang="en-US" sz="1600" i="1" dirty="0">
                <a:solidFill>
                  <a:schemeClr val="tx1"/>
                </a:solidFill>
              </a:rPr>
              <a:t>¿Qué pasa si invierto X o llegan N personas?</a:t>
            </a:r>
            <a:endParaRPr lang="en-US" sz="1600" dirty="0"/>
          </a:p>
        </p:txBody>
      </p:sp>
      <p:sp>
        <p:nvSpPr>
          <p:cNvPr id="32" name="Text 27"/>
          <p:cNvSpPr txBox="1"/>
          <p:nvPr/>
        </p:nvSpPr>
        <p:spPr>
          <a:xfrm>
            <a:off x="8348472" y="3749040"/>
            <a:ext cx="292608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NECESITA</a:t>
            </a:r>
            <a:endParaRPr lang="en-US" sz="1100" dirty="0"/>
          </a:p>
        </p:txBody>
      </p:sp>
      <p:sp>
        <p:nvSpPr>
          <p:cNvPr id="33" name="Text 28"/>
          <p:cNvSpPr txBox="1"/>
          <p:nvPr/>
        </p:nvSpPr>
        <p:spPr>
          <a:xfrm>
            <a:off x="8348472" y="3968496"/>
            <a:ext cx="2926080" cy="502920"/>
          </a:xfrm>
          <a:prstGeom prst="rect">
            <a:avLst/>
          </a:prstGeom>
          <a:noFill/>
          <a:ln/>
        </p:spPr>
        <p:txBody>
          <a:bodyPr wrap="square" lIns="0" tIns="0" rIns="0" bIns="0" rtlCol="0" anchor="t"/>
          <a:lstStyle/>
          <a:p>
            <a:pPr indent="0" marL="0">
              <a:buNone/>
            </a:pPr>
            <a:r>
              <a:rPr lang="en-US" sz="1400" dirty="0">
                <a:solidFill>
                  <a:schemeClr val="tx2"/>
                </a:solidFill>
              </a:rPr>
              <a:t>No predice: recalcula con reglas normativas ante supuestos (what-if).</a:t>
            </a:r>
            <a:endParaRPr lang="en-US" sz="1400" dirty="0"/>
          </a:p>
        </p:txBody>
      </p:sp>
      <p:sp>
        <p:nvSpPr>
          <p:cNvPr id="34" name="Text 29"/>
          <p:cNvSpPr txBox="1"/>
          <p:nvPr/>
        </p:nvSpPr>
        <p:spPr>
          <a:xfrm>
            <a:off x="8348472" y="4526280"/>
            <a:ext cx="292608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FUNCIÓN</a:t>
            </a:r>
            <a:endParaRPr lang="en-US" sz="1100" dirty="0"/>
          </a:p>
        </p:txBody>
      </p:sp>
      <p:sp>
        <p:nvSpPr>
          <p:cNvPr id="35" name="Text 30"/>
          <p:cNvSpPr txBox="1"/>
          <p:nvPr/>
        </p:nvSpPr>
        <p:spPr>
          <a:xfrm>
            <a:off x="8348472" y="4745736"/>
            <a:ext cx="2926080" cy="502920"/>
          </a:xfrm>
          <a:prstGeom prst="rect">
            <a:avLst/>
          </a:prstGeom>
          <a:noFill/>
          <a:ln/>
        </p:spPr>
        <p:txBody>
          <a:bodyPr wrap="square" lIns="0" tIns="0" rIns="0" bIns="0" rtlCol="0" anchor="t"/>
          <a:lstStyle/>
          <a:p>
            <a:pPr indent="0" marL="0">
              <a:buNone/>
            </a:pPr>
            <a:r>
              <a:rPr lang="en-US" sz="1400" dirty="0">
                <a:solidFill>
                  <a:schemeClr val="tx2"/>
                </a:solidFill>
              </a:rPr>
              <a:t>Medir impacto presupuestario y cuellos de botella.</a:t>
            </a:r>
            <a:endParaRPr lang="en-US" sz="1400" dirty="0"/>
          </a:p>
        </p:txBody>
      </p:sp>
      <p:sp>
        <p:nvSpPr>
          <p:cNvPr id="36" name="Text 31"/>
          <p:cNvSpPr txBox="1"/>
          <p:nvPr/>
        </p:nvSpPr>
        <p:spPr>
          <a:xfrm>
            <a:off x="8348472" y="5303520"/>
            <a:ext cx="292608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IMPLEMENTACIÓN</a:t>
            </a:r>
            <a:endParaRPr lang="en-US" sz="1100" dirty="0"/>
          </a:p>
        </p:txBody>
      </p:sp>
      <p:sp>
        <p:nvSpPr>
          <p:cNvPr id="37" name="Text 32"/>
          <p:cNvSpPr txBox="1"/>
          <p:nvPr/>
        </p:nvSpPr>
        <p:spPr>
          <a:xfrm>
            <a:off x="8348472" y="5522976"/>
            <a:ext cx="2926080" cy="502920"/>
          </a:xfrm>
          <a:prstGeom prst="rect">
            <a:avLst/>
          </a:prstGeom>
          <a:noFill/>
          <a:ln/>
        </p:spPr>
        <p:txBody>
          <a:bodyPr wrap="square" lIns="0" tIns="0" rIns="0" bIns="0" rtlCol="0" anchor="t"/>
          <a:lstStyle/>
          <a:p>
            <a:pPr indent="0" marL="0">
              <a:buNone/>
            </a:pPr>
            <a:r>
              <a:rPr lang="en-US" sz="1400" dirty="0">
                <a:solidFill>
                  <a:schemeClr val="tx2"/>
                </a:solidFill>
              </a:rPr>
              <a:t>Simulador what-if y optimizador Simplex.</a:t>
            </a:r>
            <a:endParaRPr lang="en-US" sz="14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6  ·  VALIDACIÓN CIENTÍFICA</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¿Cómo sabemos que el modelo es bueno?</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600" dirty="0">
                <a:solidFill>
                  <a:schemeClr val="tx2"/>
                </a:solidFill>
              </a:rPr>
              <a:t>Proyectamos de 2020 a 2025 sin ver el dato real y lo comparamos con el padrón oficial</a:t>
            </a:r>
            <a:endParaRPr lang="en-US" sz="1600" dirty="0"/>
          </a:p>
        </p:txBody>
      </p:sp>
      <p:sp>
        <p:nvSpPr>
          <p:cNvPr id="5" name="Número paso"/>
          <p:cNvSpPr/>
          <p:nvPr/>
        </p:nvSpPr>
        <p:spPr>
          <a:xfrm>
            <a:off x="640080" y="2048256"/>
            <a:ext cx="310896" cy="310896"/>
          </a:xfrm>
          <a:prstGeom prst="ellipse">
            <a:avLst/>
          </a:prstGeom>
          <a:solidFill>
            <a:schemeClr val="tx1"/>
          </a:solidFill>
          <a:ln/>
        </p:spPr>
      </p:sp>
      <p:sp>
        <p:nvSpPr>
          <p:cNvPr id="6" name="Text 4"/>
          <p:cNvSpPr txBox="1"/>
          <p:nvPr/>
        </p:nvSpPr>
        <p:spPr>
          <a:xfrm>
            <a:off x="640080" y="204825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5"/>
          <p:cNvSpPr txBox="1"/>
          <p:nvPr/>
        </p:nvSpPr>
        <p:spPr>
          <a:xfrm>
            <a:off x="1143000" y="2048256"/>
            <a:ext cx="4297680" cy="310896"/>
          </a:xfrm>
          <a:prstGeom prst="rect">
            <a:avLst/>
          </a:prstGeom>
          <a:noFill/>
          <a:ln/>
        </p:spPr>
        <p:txBody>
          <a:bodyPr wrap="square" lIns="0" tIns="0" rIns="0" bIns="0" rtlCol="0" anchor="ctr"/>
          <a:lstStyle/>
          <a:p>
            <a:pPr indent="0" marL="0">
              <a:buNone/>
            </a:pPr>
            <a:r>
              <a:rPr lang="en-US" sz="1500" dirty="0">
                <a:solidFill>
                  <a:schemeClr val="tx1"/>
                </a:solidFill>
              </a:rPr>
              <a:t>Población real de 2015 y 2020 (INE)</a:t>
            </a:r>
            <a:endParaRPr lang="en-US" sz="1500" dirty="0"/>
          </a:p>
        </p:txBody>
      </p:sp>
      <p:sp>
        <p:nvSpPr>
          <p:cNvPr id="8" name="Número paso"/>
          <p:cNvSpPr/>
          <p:nvPr/>
        </p:nvSpPr>
        <p:spPr>
          <a:xfrm>
            <a:off x="640080" y="2505456"/>
            <a:ext cx="310896" cy="310896"/>
          </a:xfrm>
          <a:prstGeom prst="ellipse">
            <a:avLst/>
          </a:prstGeom>
          <a:solidFill>
            <a:schemeClr val="tx1"/>
          </a:solidFill>
          <a:ln/>
        </p:spPr>
      </p:sp>
      <p:sp>
        <p:nvSpPr>
          <p:cNvPr id="9" name="Text 7"/>
          <p:cNvSpPr txBox="1"/>
          <p:nvPr/>
        </p:nvSpPr>
        <p:spPr>
          <a:xfrm>
            <a:off x="640080" y="250545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8"/>
          <p:cNvSpPr txBox="1"/>
          <p:nvPr/>
        </p:nvSpPr>
        <p:spPr>
          <a:xfrm>
            <a:off x="1143000" y="2505456"/>
            <a:ext cx="4297680" cy="310896"/>
          </a:xfrm>
          <a:prstGeom prst="rect">
            <a:avLst/>
          </a:prstGeom>
          <a:noFill/>
          <a:ln/>
        </p:spPr>
        <p:txBody>
          <a:bodyPr wrap="square" lIns="0" tIns="0" rIns="0" bIns="0" rtlCol="0" anchor="ctr"/>
          <a:lstStyle/>
          <a:p>
            <a:pPr indent="0" marL="0">
              <a:buNone/>
            </a:pPr>
            <a:r>
              <a:rPr lang="en-US" sz="1500" dirty="0">
                <a:solidFill>
                  <a:schemeClr val="tx1"/>
                </a:solidFill>
              </a:rPr>
              <a:t>Tasa anual geométrica de crecimiento</a:t>
            </a:r>
            <a:endParaRPr lang="en-US" sz="1500" dirty="0"/>
          </a:p>
        </p:txBody>
      </p:sp>
      <p:sp>
        <p:nvSpPr>
          <p:cNvPr id="11" name="Número paso"/>
          <p:cNvSpPr/>
          <p:nvPr/>
        </p:nvSpPr>
        <p:spPr>
          <a:xfrm>
            <a:off x="640080" y="2962656"/>
            <a:ext cx="310896" cy="310896"/>
          </a:xfrm>
          <a:prstGeom prst="ellipse">
            <a:avLst/>
          </a:prstGeom>
          <a:solidFill>
            <a:schemeClr val="tx1"/>
          </a:solidFill>
          <a:ln/>
        </p:spPr>
      </p:sp>
      <p:sp>
        <p:nvSpPr>
          <p:cNvPr id="12" name="Text 10"/>
          <p:cNvSpPr txBox="1"/>
          <p:nvPr/>
        </p:nvSpPr>
        <p:spPr>
          <a:xfrm>
            <a:off x="640080" y="296265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11"/>
          <p:cNvSpPr txBox="1"/>
          <p:nvPr/>
        </p:nvSpPr>
        <p:spPr>
          <a:xfrm>
            <a:off x="1143000" y="2962656"/>
            <a:ext cx="4297680" cy="310896"/>
          </a:xfrm>
          <a:prstGeom prst="rect">
            <a:avLst/>
          </a:prstGeom>
          <a:noFill/>
          <a:ln/>
        </p:spPr>
        <p:txBody>
          <a:bodyPr wrap="square" lIns="0" tIns="0" rIns="0" bIns="0" rtlCol="0" anchor="ctr"/>
          <a:lstStyle/>
          <a:p>
            <a:pPr indent="0" marL="0">
              <a:buNone/>
            </a:pPr>
            <a:r>
              <a:rPr lang="en-US" sz="1500" dirty="0">
                <a:solidFill>
                  <a:schemeClr val="tx1"/>
                </a:solidFill>
              </a:rPr>
              <a:t>Proyección a 2025 sin ver el dato real</a:t>
            </a:r>
            <a:endParaRPr lang="en-US" sz="1500" dirty="0"/>
          </a:p>
        </p:txBody>
      </p:sp>
      <p:sp>
        <p:nvSpPr>
          <p:cNvPr id="14" name="Número paso"/>
          <p:cNvSpPr/>
          <p:nvPr/>
        </p:nvSpPr>
        <p:spPr>
          <a:xfrm>
            <a:off x="640080" y="3419856"/>
            <a:ext cx="310896" cy="310896"/>
          </a:xfrm>
          <a:prstGeom prst="ellipse">
            <a:avLst/>
          </a:prstGeom>
          <a:solidFill>
            <a:schemeClr val="tx1"/>
          </a:solidFill>
          <a:ln/>
        </p:spPr>
      </p:sp>
      <p:sp>
        <p:nvSpPr>
          <p:cNvPr id="15" name="Text 13"/>
          <p:cNvSpPr txBox="1"/>
          <p:nvPr/>
        </p:nvSpPr>
        <p:spPr>
          <a:xfrm>
            <a:off x="640080" y="341985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Text 14"/>
          <p:cNvSpPr txBox="1"/>
          <p:nvPr/>
        </p:nvSpPr>
        <p:spPr>
          <a:xfrm>
            <a:off x="1143000" y="3419856"/>
            <a:ext cx="4297680" cy="310896"/>
          </a:xfrm>
          <a:prstGeom prst="rect">
            <a:avLst/>
          </a:prstGeom>
          <a:noFill/>
          <a:ln/>
        </p:spPr>
        <p:txBody>
          <a:bodyPr wrap="square" lIns="0" tIns="0" rIns="0" bIns="0" rtlCol="0" anchor="ctr"/>
          <a:lstStyle/>
          <a:p>
            <a:pPr indent="0" marL="0">
              <a:buNone/>
            </a:pPr>
            <a:r>
              <a:rPr lang="en-US" sz="1500" dirty="0">
                <a:solidFill>
                  <a:schemeClr val="tx1"/>
                </a:solidFill>
              </a:rPr>
              <a:t>Contraste con el padrón oficial de 2025</a:t>
            </a:r>
            <a:endParaRPr lang="en-US" sz="1500" dirty="0"/>
          </a:p>
        </p:txBody>
      </p:sp>
      <p:sp>
        <p:nvSpPr>
          <p:cNvPr id="17" name="Número paso"/>
          <p:cNvSpPr/>
          <p:nvPr/>
        </p:nvSpPr>
        <p:spPr>
          <a:xfrm>
            <a:off x="640080" y="3877056"/>
            <a:ext cx="310896" cy="310896"/>
          </a:xfrm>
          <a:prstGeom prst="ellipse">
            <a:avLst/>
          </a:prstGeom>
          <a:solidFill>
            <a:schemeClr val="tx1"/>
          </a:solidFill>
          <a:ln/>
        </p:spPr>
      </p:sp>
      <p:sp>
        <p:nvSpPr>
          <p:cNvPr id="18" name="Text 16"/>
          <p:cNvSpPr txBox="1"/>
          <p:nvPr/>
        </p:nvSpPr>
        <p:spPr>
          <a:xfrm>
            <a:off x="640080" y="387705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9" name="Text 17"/>
          <p:cNvSpPr txBox="1"/>
          <p:nvPr/>
        </p:nvSpPr>
        <p:spPr>
          <a:xfrm>
            <a:off x="1143000" y="3877056"/>
            <a:ext cx="4297680" cy="310896"/>
          </a:xfrm>
          <a:prstGeom prst="rect">
            <a:avLst/>
          </a:prstGeom>
          <a:noFill/>
          <a:ln/>
        </p:spPr>
        <p:txBody>
          <a:bodyPr wrap="square" lIns="0" tIns="0" rIns="0" bIns="0" rtlCol="0" anchor="ctr"/>
          <a:lstStyle/>
          <a:p>
            <a:pPr indent="0" marL="0">
              <a:buNone/>
            </a:pPr>
            <a:r>
              <a:rPr lang="en-US" sz="1500" dirty="0">
                <a:solidFill>
                  <a:schemeClr val="tx1"/>
                </a:solidFill>
              </a:rPr>
              <a:t>Error en porcentaje y en habitantes</a:t>
            </a:r>
            <a:endParaRPr lang="en-US" sz="1500" dirty="0"/>
          </a:p>
        </p:txBody>
      </p:sp>
      <p:sp>
        <p:nvSpPr>
          <p:cNvPr id="20" name="Dato error modelo"/>
          <p:cNvSpPr/>
          <p:nvPr/>
        </p:nvSpPr>
        <p:spPr>
          <a:xfrm>
            <a:off x="640080" y="4526280"/>
            <a:ext cx="2560320" cy="1645920"/>
          </a:xfrm>
          <a:prstGeom prst="roundRect">
            <a:avLst>
              <a:gd name="adj" fmla="val 5556"/>
            </a:avLst>
          </a:prstGeom>
          <a:solidFill>
            <a:schemeClr val="tx1"/>
          </a:solidFill>
          <a:ln/>
        </p:spPr>
      </p:sp>
      <p:sp>
        <p:nvSpPr>
          <p:cNvPr id="21" name="Text 19"/>
          <p:cNvSpPr txBox="1"/>
          <p:nvPr/>
        </p:nvSpPr>
        <p:spPr>
          <a:xfrm>
            <a:off x="841248" y="4636008"/>
            <a:ext cx="2194560" cy="640080"/>
          </a:xfrm>
          <a:prstGeom prst="rect">
            <a:avLst/>
          </a:prstGeom>
          <a:noFill/>
          <a:ln/>
        </p:spPr>
        <p:txBody>
          <a:bodyPr wrap="square" lIns="0" tIns="0" rIns="0" bIns="0" rtlCol="0" anchor="t"/>
          <a:lstStyle/>
          <a:p>
            <a:pPr indent="0" marL="0">
              <a:buNone/>
            </a:pPr>
            <a:r>
              <a:rPr lang="en-US" sz="4000" b="1" dirty="0">
                <a:solidFill>
                  <a:schemeClr val="accent6"/>
                </a:solidFill>
                <a:latin typeface="+mj-lt" pitchFamily="34" charset="0"/>
                <a:ea typeface="+mj-lt" pitchFamily="34" charset="-122"/>
                <a:cs typeface="+mj-lt" pitchFamily="34" charset="-120"/>
              </a:rPr>
              <a:t>1,55%</a:t>
            </a:r>
            <a:endParaRPr lang="en-US" sz="4000" dirty="0"/>
          </a:p>
        </p:txBody>
      </p:sp>
      <p:sp>
        <p:nvSpPr>
          <p:cNvPr id="22" name="Text 20"/>
          <p:cNvSpPr txBox="1"/>
          <p:nvPr/>
        </p:nvSpPr>
        <p:spPr>
          <a:xfrm>
            <a:off x="841248" y="5349240"/>
            <a:ext cx="2194560" cy="731520"/>
          </a:xfrm>
          <a:prstGeom prst="rect">
            <a:avLst/>
          </a:prstGeom>
          <a:noFill/>
          <a:ln/>
        </p:spPr>
        <p:txBody>
          <a:bodyPr wrap="square" lIns="0" tIns="0" rIns="0" bIns="0" rtlCol="0" anchor="t"/>
          <a:lstStyle/>
          <a:p>
            <a:pPr indent="0" marL="0">
              <a:buNone/>
            </a:pPr>
            <a:r>
              <a:rPr lang="en-US" sz="1400" dirty="0">
                <a:solidFill>
                  <a:schemeClr val="bg1"/>
                </a:solidFill>
              </a:rPr>
              <a:t>error mediano de nuestra proyección a 5 años</a:t>
            </a:r>
            <a:endParaRPr lang="en-US" sz="1400" dirty="0"/>
          </a:p>
        </p:txBody>
      </p:sp>
      <p:sp>
        <p:nvSpPr>
          <p:cNvPr id="23" name="Dato error estático"/>
          <p:cNvSpPr/>
          <p:nvPr/>
        </p:nvSpPr>
        <p:spPr>
          <a:xfrm>
            <a:off x="3383280" y="4526280"/>
            <a:ext cx="2560320" cy="1645920"/>
          </a:xfrm>
          <a:prstGeom prst="roundRect">
            <a:avLst>
              <a:gd name="adj" fmla="val 5556"/>
            </a:avLst>
          </a:prstGeom>
          <a:solidFill>
            <a:schemeClr val="bg2"/>
          </a:solidFill>
          <a:ln/>
        </p:spPr>
      </p:sp>
      <p:sp>
        <p:nvSpPr>
          <p:cNvPr id="24" name="Text 22"/>
          <p:cNvSpPr txBox="1"/>
          <p:nvPr/>
        </p:nvSpPr>
        <p:spPr>
          <a:xfrm>
            <a:off x="3584448" y="4636008"/>
            <a:ext cx="2194560" cy="640080"/>
          </a:xfrm>
          <a:prstGeom prst="rect">
            <a:avLst/>
          </a:prstGeom>
          <a:noFill/>
          <a:ln/>
        </p:spPr>
        <p:txBody>
          <a:bodyPr wrap="square" lIns="0" tIns="0" rIns="0" bIns="0" rtlCol="0" anchor="t"/>
          <a:lstStyle/>
          <a:p>
            <a:pPr indent="0" marL="0">
              <a:buNone/>
            </a:pPr>
            <a:r>
              <a:rPr lang="en-US" sz="4000" b="1" dirty="0">
                <a:solidFill>
                  <a:schemeClr val="tx2"/>
                </a:solidFill>
                <a:latin typeface="+mj-lt" pitchFamily="34" charset="0"/>
                <a:ea typeface="+mj-lt" pitchFamily="34" charset="-122"/>
                <a:cs typeface="+mj-lt" pitchFamily="34" charset="-120"/>
              </a:rPr>
              <a:t>7,02%</a:t>
            </a:r>
            <a:endParaRPr lang="en-US" sz="4000" dirty="0"/>
          </a:p>
        </p:txBody>
      </p:sp>
      <p:sp>
        <p:nvSpPr>
          <p:cNvPr id="25" name="Text 23"/>
          <p:cNvSpPr txBox="1"/>
          <p:nvPr/>
        </p:nvSpPr>
        <p:spPr>
          <a:xfrm>
            <a:off x="3584448" y="5349240"/>
            <a:ext cx="2194560" cy="731520"/>
          </a:xfrm>
          <a:prstGeom prst="rect">
            <a:avLst/>
          </a:prstGeom>
          <a:noFill/>
          <a:ln/>
        </p:spPr>
        <p:txBody>
          <a:bodyPr wrap="square" lIns="0" tIns="0" rIns="0" bIns="0" rtlCol="0" anchor="t"/>
          <a:lstStyle/>
          <a:p>
            <a:pPr indent="0" marL="0">
              <a:buNone/>
            </a:pPr>
            <a:r>
              <a:rPr lang="en-US" sz="1400" dirty="0">
                <a:solidFill>
                  <a:schemeClr val="tx2"/>
                </a:solidFill>
              </a:rPr>
              <a:t>error mediano si se asume que nada cambia</a:t>
            </a:r>
            <a:endParaRPr lang="en-US" sz="1400" dirty="0"/>
          </a:p>
        </p:txBody>
      </p:sp>
      <p:sp>
        <p:nvSpPr>
          <p:cNvPr id="26" name="Text 24"/>
          <p:cNvSpPr txBox="1"/>
          <p:nvPr/>
        </p:nvSpPr>
        <p:spPr>
          <a:xfrm>
            <a:off x="6355080" y="2011680"/>
            <a:ext cx="521208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ERROR DE LA PROYECCIÓN 2020 → 2025 (%)</a:t>
            </a:r>
            <a:endParaRPr lang="en-US" sz="1200" dirty="0"/>
          </a:p>
        </p:txBody>
      </p:sp>
      <p:graphicFrame>
        <p:nvGraphicFramePr>
          <p:cNvPr id="27" name="Chart 0" descr=""/>
          <p:cNvGraphicFramePr/>
          <p:nvPr/>
        </p:nvGraphicFramePr>
        <p:xfrm>
          <a:off x="6263640" y="2286000"/>
          <a:ext cx="5303520" cy="3200400"/>
        </p:xfrm>
        <a:graphic xmlns:a="http://schemas.openxmlformats.org/drawingml/2006/main">
          <a:graphicData uri="http://schemas.openxmlformats.org/drawingml/2006/chart">
            <c:chart xmlns:c="http://schemas.openxmlformats.org/drawingml/2006/chart" r:id="rId1"/>
          </a:graphicData>
        </a:graphic>
      </p:graphicFrame>
      <p:sp>
        <p:nvSpPr>
          <p:cNvPr id="28" name="Text 25"/>
          <p:cNvSpPr txBox="1"/>
          <p:nvPr/>
        </p:nvSpPr>
        <p:spPr>
          <a:xfrm>
            <a:off x="6355080" y="5577840"/>
            <a:ext cx="5193792" cy="594360"/>
          </a:xfrm>
          <a:prstGeom prst="rect">
            <a:avLst/>
          </a:prstGeom>
          <a:noFill/>
          <a:ln/>
        </p:spPr>
        <p:txBody>
          <a:bodyPr wrap="square" lIns="0" tIns="0" rIns="0" bIns="0" rtlCol="0" anchor="t"/>
          <a:lstStyle/>
          <a:p>
            <a:pPr indent="0" marL="0">
              <a:buNone/>
            </a:pPr>
            <a:r>
              <a:rPr lang="en-US" sz="1400" dirty="0">
                <a:solidFill>
                  <a:schemeClr val="tx2"/>
                </a:solidFill>
              </a:rPr>
              <a:t>La mitad de los municipios queda por debajo del 1,55%. En uno de 5.000 habitantes, el desvío típico ronda las 78 personas.</a:t>
            </a:r>
            <a:endParaRPr lang="en-US" sz="14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7  ·  JUSTIFICACIÓN DEL PROBLEMA</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El ICA mide capacidad, no atractivo</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600" dirty="0">
                <a:solidFill>
                  <a:schemeClr val="tx2"/>
                </a:solidFill>
              </a:rPr>
              <a:t>Esa paradoja justifica la herramienta: crece más quien menos capacidad tiene</a:t>
            </a:r>
            <a:endParaRPr lang="en-US" sz="1600" dirty="0"/>
          </a:p>
        </p:txBody>
      </p:sp>
      <p:sp>
        <p:nvSpPr>
          <p:cNvPr id="5" name="Text 3"/>
          <p:cNvSpPr txBox="1"/>
          <p:nvPr/>
        </p:nvSpPr>
        <p:spPr>
          <a:xfrm>
            <a:off x="640080" y="2011680"/>
            <a:ext cx="45720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EL LÍMITE, DICHO CON HONESTIDAD</a:t>
            </a:r>
            <a:endParaRPr lang="en-US" sz="1200" dirty="0"/>
          </a:p>
        </p:txBody>
      </p:sp>
      <p:sp>
        <p:nvSpPr>
          <p:cNvPr id="6" name="Tarjeta"/>
          <p:cNvSpPr/>
          <p:nvPr/>
        </p:nvSpPr>
        <p:spPr>
          <a:xfrm>
            <a:off x="640080" y="2331720"/>
            <a:ext cx="4572000" cy="2834640"/>
          </a:xfrm>
          <a:prstGeom prst="roundRect">
            <a:avLst>
              <a:gd name="adj" fmla="val 3226"/>
            </a:avLst>
          </a:prstGeom>
          <a:solidFill>
            <a:schemeClr val="bg2"/>
          </a:solidFill>
          <a:ln/>
        </p:spPr>
      </p:sp>
      <p:sp>
        <p:nvSpPr>
          <p:cNvPr id="7" name="Text 5"/>
          <p:cNvSpPr txBox="1"/>
          <p:nvPr/>
        </p:nvSpPr>
        <p:spPr>
          <a:xfrm>
            <a:off x="914400" y="2514600"/>
            <a:ext cx="4023360" cy="777240"/>
          </a:xfrm>
          <a:prstGeom prst="rect">
            <a:avLst/>
          </a:prstGeom>
          <a:noFill/>
          <a:ln/>
        </p:spPr>
        <p:txBody>
          <a:bodyPr wrap="square" lIns="0" tIns="0" rIns="0" bIns="0" rtlCol="0" anchor="t"/>
          <a:lstStyle/>
          <a:p>
            <a:pPr indent="0" marL="0">
              <a:buNone/>
            </a:pPr>
            <a:r>
              <a:rPr lang="en-US" sz="5200" b="1" dirty="0">
                <a:solidFill>
                  <a:schemeClr val="accent1"/>
                </a:solidFill>
                <a:latin typeface="+mj-lt" pitchFamily="34" charset="0"/>
                <a:ea typeface="+mj-lt" pitchFamily="34" charset="-122"/>
                <a:cs typeface="+mj-lt" pitchFamily="34" charset="-120"/>
              </a:rPr>
              <a:t>ρ = 0,10</a:t>
            </a:r>
            <a:endParaRPr lang="en-US" sz="5200" dirty="0"/>
          </a:p>
        </p:txBody>
      </p:sp>
      <p:sp>
        <p:nvSpPr>
          <p:cNvPr id="8" name="Text 6"/>
          <p:cNvSpPr txBox="1"/>
          <p:nvPr/>
        </p:nvSpPr>
        <p:spPr>
          <a:xfrm>
            <a:off x="914400" y="3520440"/>
            <a:ext cx="4023360" cy="502920"/>
          </a:xfrm>
          <a:prstGeom prst="rect">
            <a:avLst/>
          </a:prstGeom>
          <a:noFill/>
          <a:ln/>
        </p:spPr>
        <p:txBody>
          <a:bodyPr wrap="square" lIns="0" tIns="0" rIns="0" bIns="0" rtlCol="0" anchor="t"/>
          <a:lstStyle/>
          <a:p>
            <a:pPr indent="0" marL="0">
              <a:buNone/>
            </a:pPr>
            <a:r>
              <a:rPr lang="en-US" sz="1400" b="1" dirty="0">
                <a:solidFill>
                  <a:schemeClr val="tx1"/>
                </a:solidFill>
              </a:rPr>
              <a:t>Correlación entre el ICA y el crecimiento espontáneo: no significativa.</a:t>
            </a:r>
            <a:endParaRPr lang="en-US" sz="1400" dirty="0"/>
          </a:p>
        </p:txBody>
      </p:sp>
      <p:sp>
        <p:nvSpPr>
          <p:cNvPr id="9" name="Text 7"/>
          <p:cNvSpPr txBox="1"/>
          <p:nvPr/>
        </p:nvSpPr>
        <p:spPr>
          <a:xfrm>
            <a:off x="914400" y="4114800"/>
            <a:ext cx="4023360" cy="1005840"/>
          </a:xfrm>
          <a:prstGeom prst="rect">
            <a:avLst/>
          </a:prstGeom>
          <a:noFill/>
          <a:ln/>
        </p:spPr>
        <p:txBody>
          <a:bodyPr wrap="square" lIns="0" tIns="0" rIns="0" bIns="0" rtlCol="0" anchor="t"/>
          <a:lstStyle/>
          <a:p>
            <a:pPr indent="0" marL="0">
              <a:buNone/>
            </a:pPr>
            <a:r>
              <a:rPr lang="en-US" sz="1400" dirty="0">
                <a:solidFill>
                  <a:schemeClr val="tx2"/>
                </a:solidFill>
              </a:rPr>
              <a:t>El ICA mide dónde hay infraestructura para crecer sin colapsar servicios. La gente no se muda adonde sobran plazas escolares, sino adonde hay alquiler barato o inercia urbana.</a:t>
            </a:r>
            <a:endParaRPr lang="en-US" sz="1400" dirty="0"/>
          </a:p>
        </p:txBody>
      </p:sp>
      <p:sp>
        <p:nvSpPr>
          <p:cNvPr id="10" name="Text 8"/>
          <p:cNvSpPr txBox="1"/>
          <p:nvPr/>
        </p:nvSpPr>
        <p:spPr>
          <a:xfrm>
            <a:off x="5486400" y="2011680"/>
            <a:ext cx="603504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LOS QUE MÁS CRECEN, MENOS CAPACIDAD TIENEN</a:t>
            </a:r>
            <a:endParaRPr lang="en-US" sz="1200" dirty="0"/>
          </a:p>
        </p:txBody>
      </p:sp>
      <p:sp>
        <p:nvSpPr>
          <p:cNvPr id="11" name="Caso Villa del Prado"/>
          <p:cNvSpPr/>
          <p:nvPr/>
        </p:nvSpPr>
        <p:spPr>
          <a:xfrm>
            <a:off x="5486400" y="2331720"/>
            <a:ext cx="6062472" cy="1371600"/>
          </a:xfrm>
          <a:prstGeom prst="roundRect">
            <a:avLst>
              <a:gd name="adj" fmla="val 6667"/>
            </a:avLst>
          </a:prstGeom>
          <a:solidFill>
            <a:schemeClr val="bg2"/>
          </a:solidFill>
          <a:ln/>
        </p:spPr>
      </p:sp>
      <p:sp>
        <p:nvSpPr>
          <p:cNvPr id="12" name="Text 10"/>
          <p:cNvSpPr txBox="1"/>
          <p:nvPr/>
        </p:nvSpPr>
        <p:spPr>
          <a:xfrm>
            <a:off x="5715000" y="2532888"/>
            <a:ext cx="1828800" cy="59436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+16,2%</a:t>
            </a:r>
            <a:endParaRPr lang="en-US" sz="3600" dirty="0"/>
          </a:p>
        </p:txBody>
      </p:sp>
      <p:sp>
        <p:nvSpPr>
          <p:cNvPr id="13" name="Text 11"/>
          <p:cNvSpPr txBox="1"/>
          <p:nvPr/>
        </p:nvSpPr>
        <p:spPr>
          <a:xfrm>
            <a:off x="5715000" y="3172968"/>
            <a:ext cx="1828800" cy="274320"/>
          </a:xfrm>
          <a:prstGeom prst="rect">
            <a:avLst/>
          </a:prstGeom>
          <a:noFill/>
          <a:ln/>
        </p:spPr>
        <p:txBody>
          <a:bodyPr wrap="square" lIns="0" tIns="0" rIns="0" bIns="0" rtlCol="0" anchor="t"/>
          <a:lstStyle/>
          <a:p>
            <a:pPr indent="0" marL="0">
              <a:buNone/>
            </a:pPr>
            <a:r>
              <a:rPr lang="en-US" sz="1200" dirty="0">
                <a:solidFill>
                  <a:schemeClr val="tx2"/>
                </a:solidFill>
              </a:rPr>
              <a:t>2020 a 2025</a:t>
            </a:r>
            <a:endParaRPr lang="en-US" sz="1200" dirty="0"/>
          </a:p>
        </p:txBody>
      </p:sp>
      <p:sp>
        <p:nvSpPr>
          <p:cNvPr id="14" name="Text 12"/>
          <p:cNvSpPr txBox="1"/>
          <p:nvPr/>
        </p:nvSpPr>
        <p:spPr>
          <a:xfrm>
            <a:off x="7726680" y="2514600"/>
            <a:ext cx="3657600" cy="1051560"/>
          </a:xfrm>
          <a:prstGeom prst="rect">
            <a:avLst/>
          </a:prstGeom>
          <a:noFill/>
          <a:ln/>
        </p:spPr>
        <p:txBody>
          <a:bodyPr wrap="square" lIns="0" tIns="0" rIns="0" bIns="0" rtlCol="0" anchor="t"/>
          <a:lstStyle/>
          <a:p>
            <a:pPr indent="0" marL="0">
              <a:buNone/>
            </a:pPr>
            <a:r>
              <a:rPr lang="en-US" sz="1800" b="1" dirty="0">
                <a:solidFill>
                  <a:schemeClr val="tx1"/>
                </a:solidFill>
              </a:rPr>
              <a:t>Villa del Prado</a:t>
            </a:r>
            <a:endParaRPr lang="en-US" sz="1800" dirty="0"/>
          </a:p>
          <a:p>
            <a:pPr indent="0" marL="0">
              <a:buNone/>
            </a:pPr>
            <a:r>
              <a:rPr lang="en-US" sz="1400" dirty="0">
                <a:solidFill>
                  <a:schemeClr val="tx2"/>
                </a:solidFill>
              </a:rPr>
              <a:t>ICA 36,9: capacidad baja. Centro de salud y consultorios sobrecargados.</a:t>
            </a:r>
            <a:endParaRPr lang="en-US" sz="1800" dirty="0"/>
          </a:p>
        </p:txBody>
      </p:sp>
      <p:sp>
        <p:nvSpPr>
          <p:cNvPr id="15" name="Caso Navalcarnero"/>
          <p:cNvSpPr/>
          <p:nvPr/>
        </p:nvSpPr>
        <p:spPr>
          <a:xfrm>
            <a:off x="5486400" y="3840480"/>
            <a:ext cx="6062472" cy="1371600"/>
          </a:xfrm>
          <a:prstGeom prst="roundRect">
            <a:avLst>
              <a:gd name="adj" fmla="val 6667"/>
            </a:avLst>
          </a:prstGeom>
          <a:solidFill>
            <a:schemeClr val="bg2"/>
          </a:solidFill>
          <a:ln/>
        </p:spPr>
      </p:sp>
      <p:sp>
        <p:nvSpPr>
          <p:cNvPr id="16" name="Text 14"/>
          <p:cNvSpPr txBox="1"/>
          <p:nvPr/>
        </p:nvSpPr>
        <p:spPr>
          <a:xfrm>
            <a:off x="5715000" y="4041648"/>
            <a:ext cx="1828800" cy="59436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+11,2%</a:t>
            </a:r>
            <a:endParaRPr lang="en-US" sz="3600" dirty="0"/>
          </a:p>
        </p:txBody>
      </p:sp>
      <p:sp>
        <p:nvSpPr>
          <p:cNvPr id="17" name="Text 15"/>
          <p:cNvSpPr txBox="1"/>
          <p:nvPr/>
        </p:nvSpPr>
        <p:spPr>
          <a:xfrm>
            <a:off x="5715000" y="4681728"/>
            <a:ext cx="1828800" cy="274320"/>
          </a:xfrm>
          <a:prstGeom prst="rect">
            <a:avLst/>
          </a:prstGeom>
          <a:noFill/>
          <a:ln/>
        </p:spPr>
        <p:txBody>
          <a:bodyPr wrap="square" lIns="0" tIns="0" rIns="0" bIns="0" rtlCol="0" anchor="t"/>
          <a:lstStyle/>
          <a:p>
            <a:pPr indent="0" marL="0">
              <a:buNone/>
            </a:pPr>
            <a:r>
              <a:rPr lang="en-US" sz="1200" dirty="0">
                <a:solidFill>
                  <a:schemeClr val="tx2"/>
                </a:solidFill>
              </a:rPr>
              <a:t>31.979 habitantes</a:t>
            </a:r>
            <a:endParaRPr lang="en-US" sz="1200" dirty="0"/>
          </a:p>
        </p:txBody>
      </p:sp>
      <p:sp>
        <p:nvSpPr>
          <p:cNvPr id="18" name="Text 16"/>
          <p:cNvSpPr txBox="1"/>
          <p:nvPr/>
        </p:nvSpPr>
        <p:spPr>
          <a:xfrm>
            <a:off x="7726680" y="4023360"/>
            <a:ext cx="3657600" cy="1051560"/>
          </a:xfrm>
          <a:prstGeom prst="rect">
            <a:avLst/>
          </a:prstGeom>
          <a:noFill/>
          <a:ln/>
        </p:spPr>
        <p:txBody>
          <a:bodyPr wrap="square" lIns="0" tIns="0" rIns="0" bIns="0" rtlCol="0" anchor="t"/>
          <a:lstStyle/>
          <a:p>
            <a:pPr indent="0" marL="0">
              <a:buNone/>
            </a:pPr>
            <a:r>
              <a:rPr lang="en-US" sz="1800" b="1" dirty="0">
                <a:solidFill>
                  <a:schemeClr val="tx1"/>
                </a:solidFill>
              </a:rPr>
              <a:t>Navalcarnero</a:t>
            </a:r>
            <a:endParaRPr lang="en-US" sz="1800" dirty="0"/>
          </a:p>
          <a:p>
            <a:pPr indent="0" marL="0">
              <a:buNone/>
            </a:pPr>
            <a:r>
              <a:rPr lang="en-US" sz="1400" dirty="0">
                <a:solidFill>
                  <a:schemeClr val="tx2"/>
                </a:solidFill>
              </a:rPr>
              <a:t>ICA 24,5: alerta roja, con 1.667 hab/médico y aulas al 95,2%.</a:t>
            </a:r>
            <a:endParaRPr lang="en-US" sz="1800" dirty="0"/>
          </a:p>
        </p:txBody>
      </p:sp>
      <p:sp>
        <p:nvSpPr>
          <p:cNvPr id="19" name="Conclusión"/>
          <p:cNvSpPr/>
          <p:nvPr/>
        </p:nvSpPr>
        <p:spPr>
          <a:xfrm>
            <a:off x="640080" y="5394960"/>
            <a:ext cx="10908792" cy="777240"/>
          </a:xfrm>
          <a:prstGeom prst="roundRect">
            <a:avLst>
              <a:gd name="adj" fmla="val 11765"/>
            </a:avLst>
          </a:prstGeom>
          <a:solidFill>
            <a:schemeClr val="tx1"/>
          </a:solidFill>
          <a:ln/>
        </p:spPr>
      </p:sp>
      <p:sp>
        <p:nvSpPr>
          <p:cNvPr id="20" name="Text 18"/>
          <p:cNvSpPr txBox="1"/>
          <p:nvPr/>
        </p:nvSpPr>
        <p:spPr>
          <a:xfrm>
            <a:off x="914400" y="5394960"/>
            <a:ext cx="10332720" cy="777240"/>
          </a:xfrm>
          <a:prstGeom prst="rect">
            <a:avLst/>
          </a:prstGeom>
          <a:noFill/>
          <a:ln/>
        </p:spPr>
        <p:txBody>
          <a:bodyPr wrap="square" lIns="0" tIns="0" rIns="0" bIns="0" rtlCol="0" anchor="ctr"/>
          <a:lstStyle/>
          <a:p>
            <a:pPr indent="0" marL="0">
              <a:buNone/>
            </a:pPr>
            <a:r>
              <a:rPr lang="en-US" sz="1600" b="1" dirty="0">
                <a:solidFill>
                  <a:schemeClr val="bg1"/>
                </a:solidFill>
              </a:rPr>
              <a:t>Sin intervención, la inercia seguirá llenando municipios ya saturados. MadridNext reorienta ese flujo hacia donde hay capacidad real.</a:t>
            </a:r>
            <a:endParaRPr lang="en-US" sz="16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8  ·  DIAGNÓSTICO Y CONTROL</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El semáforo ICA y la alerta no compensatoria</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600" dirty="0">
                <a:solidFill>
                  <a:schemeClr val="tx2"/>
                </a:solidFill>
              </a:rPr>
              <a:t>Umbrales de capacidad e interrupción automática del encaje</a:t>
            </a:r>
            <a:endParaRPr lang="en-US" sz="1600" dirty="0"/>
          </a:p>
        </p:txBody>
      </p:sp>
      <p:sp>
        <p:nvSpPr>
          <p:cNvPr id="5" name="Nivel ALTA"/>
          <p:cNvSpPr/>
          <p:nvPr/>
        </p:nvSpPr>
        <p:spPr>
          <a:xfrm>
            <a:off x="640080" y="1965960"/>
            <a:ext cx="3474720" cy="2697480"/>
          </a:xfrm>
          <a:prstGeom prst="roundRect">
            <a:avLst>
              <a:gd name="adj" fmla="val 3390"/>
            </a:avLst>
          </a:prstGeom>
          <a:solidFill>
            <a:schemeClr val="bg2"/>
          </a:solidFill>
          <a:ln/>
        </p:spPr>
      </p:sp>
      <p:sp>
        <p:nvSpPr>
          <p:cNvPr id="6" name="Luz semáforo"/>
          <p:cNvSpPr/>
          <p:nvPr/>
        </p:nvSpPr>
        <p:spPr>
          <a:xfrm>
            <a:off x="914400" y="2240280"/>
            <a:ext cx="237744" cy="237744"/>
          </a:xfrm>
          <a:prstGeom prst="ellipse">
            <a:avLst/>
          </a:prstGeom>
          <a:solidFill>
            <a:srgbClr val="2E7D5B"/>
          </a:solidFill>
          <a:ln/>
        </p:spPr>
      </p:sp>
      <p:sp>
        <p:nvSpPr>
          <p:cNvPr id="7" name="Text 5"/>
          <p:cNvSpPr txBox="1"/>
          <p:nvPr/>
        </p:nvSpPr>
        <p:spPr>
          <a:xfrm>
            <a:off x="1280160" y="2221992"/>
            <a:ext cx="2286000" cy="274320"/>
          </a:xfrm>
          <a:prstGeom prst="rect">
            <a:avLst/>
          </a:prstGeom>
          <a:noFill/>
          <a:ln/>
        </p:spPr>
        <p:txBody>
          <a:bodyPr wrap="square" lIns="0" tIns="0" rIns="0" bIns="0" rtlCol="0" anchor="ctr"/>
          <a:lstStyle/>
          <a:p>
            <a:pPr indent="0" marL="0">
              <a:buNone/>
            </a:pPr>
            <a:r>
              <a:rPr lang="en-US" sz="1300" b="1" spc="200" kern="0" dirty="0">
                <a:solidFill>
                  <a:schemeClr val="tx1"/>
                </a:solidFill>
              </a:rPr>
              <a:t>ALTA</a:t>
            </a:r>
            <a:endParaRPr lang="en-US" sz="1300" dirty="0"/>
          </a:p>
        </p:txBody>
      </p:sp>
      <p:sp>
        <p:nvSpPr>
          <p:cNvPr id="8" name="Text 6"/>
          <p:cNvSpPr txBox="1"/>
          <p:nvPr/>
        </p:nvSpPr>
        <p:spPr>
          <a:xfrm>
            <a:off x="914400" y="2606040"/>
            <a:ext cx="2926080" cy="731520"/>
          </a:xfrm>
          <a:prstGeom prst="rect">
            <a:avLst/>
          </a:prstGeom>
          <a:noFill/>
          <a:ln/>
        </p:spPr>
        <p:txBody>
          <a:bodyPr wrap="square" lIns="0" tIns="0" rIns="0" bIns="0" rtlCol="0" anchor="t"/>
          <a:lstStyle/>
          <a:p>
            <a:pPr indent="0" marL="0">
              <a:buNone/>
            </a:pPr>
            <a:r>
              <a:rPr lang="en-US" sz="4200" b="1" dirty="0">
                <a:solidFill>
                  <a:schemeClr val="accent2"/>
                </a:solidFill>
                <a:latin typeface="+mj-lt" pitchFamily="34" charset="0"/>
                <a:ea typeface="+mj-lt" pitchFamily="34" charset="-122"/>
                <a:cs typeface="+mj-lt" pitchFamily="34" charset="-120"/>
              </a:rPr>
              <a:t>≥ 60</a:t>
            </a:r>
            <a:endParaRPr lang="en-US" sz="4200" dirty="0"/>
          </a:p>
        </p:txBody>
      </p:sp>
      <p:sp>
        <p:nvSpPr>
          <p:cNvPr id="9" name="Text 7"/>
          <p:cNvSpPr txBox="1"/>
          <p:nvPr/>
        </p:nvSpPr>
        <p:spPr>
          <a:xfrm>
            <a:off x="914400" y="3337560"/>
            <a:ext cx="2926080" cy="320040"/>
          </a:xfrm>
          <a:prstGeom prst="rect">
            <a:avLst/>
          </a:prstGeom>
          <a:noFill/>
          <a:ln/>
        </p:spPr>
        <p:txBody>
          <a:bodyPr wrap="square" lIns="0" tIns="0" rIns="0" bIns="0" rtlCol="0" anchor="t"/>
          <a:lstStyle/>
          <a:p>
            <a:pPr indent="0" marL="0">
              <a:buNone/>
            </a:pPr>
            <a:r>
              <a:rPr lang="en-US" sz="1600" b="1" dirty="0">
                <a:solidFill>
                  <a:schemeClr val="tx1"/>
                </a:solidFill>
              </a:rPr>
              <a:t>Mucho margen de acogida</a:t>
            </a:r>
            <a:endParaRPr lang="en-US" sz="1600" dirty="0"/>
          </a:p>
        </p:txBody>
      </p:sp>
      <p:sp>
        <p:nvSpPr>
          <p:cNvPr id="10" name="Text 8"/>
          <p:cNvSpPr txBox="1"/>
          <p:nvPr/>
        </p:nvSpPr>
        <p:spPr>
          <a:xfrm>
            <a:off x="914400" y="3703320"/>
            <a:ext cx="2926080" cy="868680"/>
          </a:xfrm>
          <a:prstGeom prst="rect">
            <a:avLst/>
          </a:prstGeom>
          <a:noFill/>
          <a:ln/>
        </p:spPr>
        <p:txBody>
          <a:bodyPr wrap="square" lIns="0" tIns="0" rIns="0" bIns="0" rtlCol="0" anchor="t"/>
          <a:lstStyle/>
          <a:p>
            <a:pPr indent="0" marL="0">
              <a:buNone/>
            </a:pPr>
            <a:r>
              <a:rPr lang="en-US" sz="1400" dirty="0">
                <a:solidFill>
                  <a:schemeClr val="tx2"/>
                </a:solidFill>
              </a:rPr>
              <a:t>Absorbe población de inmediato sin comprometer colegios ni consultorios. Ej.: Robledo 66,7 y Buitrago 62,5.</a:t>
            </a:r>
            <a:endParaRPr lang="en-US" sz="1400" dirty="0"/>
          </a:p>
        </p:txBody>
      </p:sp>
      <p:sp>
        <p:nvSpPr>
          <p:cNvPr id="11" name="Nivel MEDIA"/>
          <p:cNvSpPr/>
          <p:nvPr/>
        </p:nvSpPr>
        <p:spPr>
          <a:xfrm>
            <a:off x="4357116" y="1965960"/>
            <a:ext cx="3474720" cy="2697480"/>
          </a:xfrm>
          <a:prstGeom prst="roundRect">
            <a:avLst>
              <a:gd name="adj" fmla="val 3390"/>
            </a:avLst>
          </a:prstGeom>
          <a:solidFill>
            <a:schemeClr val="bg2"/>
          </a:solidFill>
          <a:ln/>
        </p:spPr>
      </p:sp>
      <p:sp>
        <p:nvSpPr>
          <p:cNvPr id="12" name="Luz semáforo"/>
          <p:cNvSpPr/>
          <p:nvPr/>
        </p:nvSpPr>
        <p:spPr>
          <a:xfrm>
            <a:off x="4631436" y="2240280"/>
            <a:ext cx="237744" cy="237744"/>
          </a:xfrm>
          <a:prstGeom prst="ellipse">
            <a:avLst/>
          </a:prstGeom>
          <a:solidFill>
            <a:srgbClr val="C4820A"/>
          </a:solidFill>
          <a:ln/>
        </p:spPr>
      </p:sp>
      <p:sp>
        <p:nvSpPr>
          <p:cNvPr id="13" name="Text 11"/>
          <p:cNvSpPr txBox="1"/>
          <p:nvPr/>
        </p:nvSpPr>
        <p:spPr>
          <a:xfrm>
            <a:off x="4997196" y="2221992"/>
            <a:ext cx="2286000" cy="274320"/>
          </a:xfrm>
          <a:prstGeom prst="rect">
            <a:avLst/>
          </a:prstGeom>
          <a:noFill/>
          <a:ln/>
        </p:spPr>
        <p:txBody>
          <a:bodyPr wrap="square" lIns="0" tIns="0" rIns="0" bIns="0" rtlCol="0" anchor="ctr"/>
          <a:lstStyle/>
          <a:p>
            <a:pPr indent="0" marL="0">
              <a:buNone/>
            </a:pPr>
            <a:r>
              <a:rPr lang="en-US" sz="1300" b="1" spc="200" kern="0" dirty="0">
                <a:solidFill>
                  <a:schemeClr val="tx1"/>
                </a:solidFill>
              </a:rPr>
              <a:t>MEDIA</a:t>
            </a:r>
            <a:endParaRPr lang="en-US" sz="1300" dirty="0"/>
          </a:p>
        </p:txBody>
      </p:sp>
      <p:sp>
        <p:nvSpPr>
          <p:cNvPr id="14" name="Text 12"/>
          <p:cNvSpPr txBox="1"/>
          <p:nvPr/>
        </p:nvSpPr>
        <p:spPr>
          <a:xfrm>
            <a:off x="4631436" y="2606040"/>
            <a:ext cx="2926080" cy="731520"/>
          </a:xfrm>
          <a:prstGeom prst="rect">
            <a:avLst/>
          </a:prstGeom>
          <a:noFill/>
          <a:ln/>
        </p:spPr>
        <p:txBody>
          <a:bodyPr wrap="square" lIns="0" tIns="0" rIns="0" bIns="0" rtlCol="0" anchor="t"/>
          <a:lstStyle/>
          <a:p>
            <a:pPr indent="0" marL="0">
              <a:buNone/>
            </a:pPr>
            <a:r>
              <a:rPr lang="en-US" sz="4200" b="1" dirty="0">
                <a:solidFill>
                  <a:schemeClr val="accent3"/>
                </a:solidFill>
                <a:latin typeface="+mj-lt" pitchFamily="34" charset="0"/>
                <a:ea typeface="+mj-lt" pitchFamily="34" charset="-122"/>
                <a:cs typeface="+mj-lt" pitchFamily="34" charset="-120"/>
              </a:rPr>
              <a:t>40–59</a:t>
            </a:r>
            <a:endParaRPr lang="en-US" sz="4200" dirty="0"/>
          </a:p>
        </p:txBody>
      </p:sp>
      <p:sp>
        <p:nvSpPr>
          <p:cNvPr id="15" name="Text 13"/>
          <p:cNvSpPr txBox="1"/>
          <p:nvPr/>
        </p:nvSpPr>
        <p:spPr>
          <a:xfrm>
            <a:off x="4631436" y="3337560"/>
            <a:ext cx="2926080" cy="320040"/>
          </a:xfrm>
          <a:prstGeom prst="rect">
            <a:avLst/>
          </a:prstGeom>
          <a:noFill/>
          <a:ln/>
        </p:spPr>
        <p:txBody>
          <a:bodyPr wrap="square" lIns="0" tIns="0" rIns="0" bIns="0" rtlCol="0" anchor="t"/>
          <a:lstStyle/>
          <a:p>
            <a:pPr indent="0" marL="0">
              <a:buNone/>
            </a:pPr>
            <a:r>
              <a:rPr lang="en-US" sz="1600" b="1" dirty="0">
                <a:solidFill>
                  <a:schemeClr val="tx1"/>
                </a:solidFill>
              </a:rPr>
              <a:t>Margen justo, condicionado</a:t>
            </a:r>
            <a:endParaRPr lang="en-US" sz="1600" dirty="0"/>
          </a:p>
        </p:txBody>
      </p:sp>
      <p:sp>
        <p:nvSpPr>
          <p:cNvPr id="16" name="Text 14"/>
          <p:cNvSpPr txBox="1"/>
          <p:nvPr/>
        </p:nvSpPr>
        <p:spPr>
          <a:xfrm>
            <a:off x="4631436" y="3703320"/>
            <a:ext cx="2926080" cy="868680"/>
          </a:xfrm>
          <a:prstGeom prst="rect">
            <a:avLst/>
          </a:prstGeom>
          <a:noFill/>
          <a:ln/>
        </p:spPr>
        <p:txBody>
          <a:bodyPr wrap="square" lIns="0" tIns="0" rIns="0" bIns="0" rtlCol="0" anchor="t"/>
          <a:lstStyle/>
          <a:p>
            <a:pPr indent="0" marL="0">
              <a:buNone/>
            </a:pPr>
            <a:r>
              <a:rPr lang="en-US" sz="1400" dirty="0">
                <a:solidFill>
                  <a:schemeClr val="tx2"/>
                </a:solidFill>
              </a:rPr>
              <a:t>Admite nuevos vecinos si se acompaña de inversiones puntuales en refuerzo de servicios.</a:t>
            </a:r>
            <a:endParaRPr lang="en-US" sz="1400" dirty="0"/>
          </a:p>
        </p:txBody>
      </p:sp>
      <p:sp>
        <p:nvSpPr>
          <p:cNvPr id="17" name="Nivel BAJA"/>
          <p:cNvSpPr/>
          <p:nvPr/>
        </p:nvSpPr>
        <p:spPr>
          <a:xfrm>
            <a:off x="8074152" y="1965960"/>
            <a:ext cx="3474720" cy="2697480"/>
          </a:xfrm>
          <a:prstGeom prst="roundRect">
            <a:avLst>
              <a:gd name="adj" fmla="val 3390"/>
            </a:avLst>
          </a:prstGeom>
          <a:solidFill>
            <a:schemeClr val="bg2"/>
          </a:solidFill>
          <a:ln/>
        </p:spPr>
      </p:sp>
      <p:sp>
        <p:nvSpPr>
          <p:cNvPr id="18" name="Luz semáforo"/>
          <p:cNvSpPr/>
          <p:nvPr/>
        </p:nvSpPr>
        <p:spPr>
          <a:xfrm>
            <a:off x="8348472" y="2240280"/>
            <a:ext cx="237744" cy="237744"/>
          </a:xfrm>
          <a:prstGeom prst="ellipse">
            <a:avLst/>
          </a:prstGeom>
          <a:solidFill>
            <a:srgbClr val="C0263F"/>
          </a:solidFill>
          <a:ln/>
        </p:spPr>
      </p:sp>
      <p:sp>
        <p:nvSpPr>
          <p:cNvPr id="19" name="Text 17"/>
          <p:cNvSpPr txBox="1"/>
          <p:nvPr/>
        </p:nvSpPr>
        <p:spPr>
          <a:xfrm>
            <a:off x="8714232" y="2221992"/>
            <a:ext cx="2286000" cy="274320"/>
          </a:xfrm>
          <a:prstGeom prst="rect">
            <a:avLst/>
          </a:prstGeom>
          <a:noFill/>
          <a:ln/>
        </p:spPr>
        <p:txBody>
          <a:bodyPr wrap="square" lIns="0" tIns="0" rIns="0" bIns="0" rtlCol="0" anchor="ctr"/>
          <a:lstStyle/>
          <a:p>
            <a:pPr indent="0" marL="0">
              <a:buNone/>
            </a:pPr>
            <a:r>
              <a:rPr lang="en-US" sz="1300" b="1" spc="200" kern="0" dirty="0">
                <a:solidFill>
                  <a:schemeClr val="tx1"/>
                </a:solidFill>
              </a:rPr>
              <a:t>BAJA</a:t>
            </a:r>
            <a:endParaRPr lang="en-US" sz="1300" dirty="0"/>
          </a:p>
        </p:txBody>
      </p:sp>
      <p:sp>
        <p:nvSpPr>
          <p:cNvPr id="20" name="Text 18"/>
          <p:cNvSpPr txBox="1"/>
          <p:nvPr/>
        </p:nvSpPr>
        <p:spPr>
          <a:xfrm>
            <a:off x="8348472" y="2606040"/>
            <a:ext cx="2926080" cy="731520"/>
          </a:xfrm>
          <a:prstGeom prst="rect">
            <a:avLst/>
          </a:prstGeom>
          <a:noFill/>
          <a:ln/>
        </p:spPr>
        <p:txBody>
          <a:bodyPr wrap="square" lIns="0" tIns="0" rIns="0" bIns="0" rtlCol="0" anchor="t"/>
          <a:lstStyle/>
          <a:p>
            <a:pPr indent="0" marL="0">
              <a:buNone/>
            </a:pPr>
            <a:r>
              <a:rPr lang="en-US" sz="4200" b="1" dirty="0">
                <a:solidFill>
                  <a:schemeClr val="accent1"/>
                </a:solidFill>
                <a:latin typeface="+mj-lt" pitchFamily="34" charset="0"/>
                <a:ea typeface="+mj-lt" pitchFamily="34" charset="-122"/>
                <a:cs typeface="+mj-lt" pitchFamily="34" charset="-120"/>
              </a:rPr>
              <a:t>&lt; 40</a:t>
            </a:r>
            <a:endParaRPr lang="en-US" sz="4200" dirty="0"/>
          </a:p>
        </p:txBody>
      </p:sp>
      <p:sp>
        <p:nvSpPr>
          <p:cNvPr id="21" name="Text 19"/>
          <p:cNvSpPr txBox="1"/>
          <p:nvPr/>
        </p:nvSpPr>
        <p:spPr>
          <a:xfrm>
            <a:off x="8348472" y="3337560"/>
            <a:ext cx="2926080" cy="320040"/>
          </a:xfrm>
          <a:prstGeom prst="rect">
            <a:avLst/>
          </a:prstGeom>
          <a:noFill/>
          <a:ln/>
        </p:spPr>
        <p:txBody>
          <a:bodyPr wrap="square" lIns="0" tIns="0" rIns="0" bIns="0" rtlCol="0" anchor="t"/>
          <a:lstStyle/>
          <a:p>
            <a:pPr indent="0" marL="0">
              <a:buNone/>
            </a:pPr>
            <a:r>
              <a:rPr lang="en-US" sz="1600" b="1" dirty="0">
                <a:solidFill>
                  <a:schemeClr val="tx1"/>
                </a:solidFill>
              </a:rPr>
              <a:t>Sin margen: saturación</a:t>
            </a:r>
            <a:endParaRPr lang="en-US" sz="1600" dirty="0"/>
          </a:p>
        </p:txBody>
      </p:sp>
      <p:sp>
        <p:nvSpPr>
          <p:cNvPr id="22" name="Text 20"/>
          <p:cNvSpPr txBox="1"/>
          <p:nvPr/>
        </p:nvSpPr>
        <p:spPr>
          <a:xfrm>
            <a:off x="8348472" y="3703320"/>
            <a:ext cx="2926080" cy="868680"/>
          </a:xfrm>
          <a:prstGeom prst="rect">
            <a:avLst/>
          </a:prstGeom>
          <a:noFill/>
          <a:ln/>
        </p:spPr>
        <p:txBody>
          <a:bodyPr wrap="square" lIns="0" tIns="0" rIns="0" bIns="0" rtlCol="0" anchor="t"/>
          <a:lstStyle/>
          <a:p>
            <a:pPr indent="0" marL="0">
              <a:buNone/>
            </a:pPr>
            <a:r>
              <a:rPr lang="en-US" sz="1400" dirty="0">
                <a:solidFill>
                  <a:schemeClr val="tx2"/>
                </a:solidFill>
              </a:rPr>
              <a:t>Servicios esenciales en situación crítica: más vecinos provocan el colapso dotacional.</a:t>
            </a:r>
            <a:endParaRPr lang="en-US" sz="1400" dirty="0"/>
          </a:p>
        </p:txBody>
      </p:sp>
      <p:sp>
        <p:nvSpPr>
          <p:cNvPr id="23" name="Alerta S"/>
          <p:cNvSpPr/>
          <p:nvPr/>
        </p:nvSpPr>
        <p:spPr>
          <a:xfrm>
            <a:off x="640080" y="4846320"/>
            <a:ext cx="10908792" cy="1325880"/>
          </a:xfrm>
          <a:prstGeom prst="roundRect">
            <a:avLst>
              <a:gd name="adj" fmla="val 6897"/>
            </a:avLst>
          </a:prstGeom>
          <a:solidFill>
            <a:schemeClr val="tx1"/>
          </a:solidFill>
          <a:ln/>
        </p:spPr>
      </p:sp>
      <p:sp>
        <p:nvSpPr>
          <p:cNvPr id="24" name="Text 22"/>
          <p:cNvSpPr txBox="1"/>
          <p:nvPr/>
        </p:nvSpPr>
        <p:spPr>
          <a:xfrm>
            <a:off x="914400" y="4983480"/>
            <a:ext cx="6400800" cy="256032"/>
          </a:xfrm>
          <a:prstGeom prst="rect">
            <a:avLst/>
          </a:prstGeom>
          <a:noFill/>
          <a:ln/>
        </p:spPr>
        <p:txBody>
          <a:bodyPr wrap="square" lIns="0" tIns="0" rIns="0" bIns="0" rtlCol="0" anchor="t"/>
          <a:lstStyle/>
          <a:p>
            <a:pPr indent="0" marL="0">
              <a:buNone/>
            </a:pPr>
            <a:r>
              <a:rPr lang="en-US" sz="1200" b="1" spc="200" kern="0" dirty="0">
                <a:solidFill>
                  <a:schemeClr val="accent6"/>
                </a:solidFill>
              </a:rPr>
              <a:t>ALERTA S  ·  NO COMPENSATORIA</a:t>
            </a:r>
            <a:endParaRPr lang="en-US" sz="1200" dirty="0"/>
          </a:p>
        </p:txBody>
      </p:sp>
      <p:sp>
        <p:nvSpPr>
          <p:cNvPr id="25" name="Text 23"/>
          <p:cNvSpPr txBox="1"/>
          <p:nvPr/>
        </p:nvSpPr>
        <p:spPr>
          <a:xfrm>
            <a:off x="914400" y="5285232"/>
            <a:ext cx="6949440" cy="822960"/>
          </a:xfrm>
          <a:prstGeom prst="rect">
            <a:avLst/>
          </a:prstGeom>
          <a:noFill/>
          <a:ln/>
        </p:spPr>
        <p:txBody>
          <a:bodyPr wrap="square" lIns="0" tIns="0" rIns="0" bIns="0" rtlCol="0" anchor="t"/>
          <a:lstStyle/>
          <a:p>
            <a:pPr indent="0" marL="0">
              <a:buNone/>
            </a:pPr>
            <a:r>
              <a:rPr lang="en-US" sz="1400" dirty="0">
                <a:solidFill>
                  <a:schemeClr val="bg1"/>
                </a:solidFill>
              </a:rPr>
              <a:t>Se activa con más de 1.500 hab/médico o una ocupación escolar superior al 95%. El ICA total se trunca por debajo de 40 y el encaje máximo para cualquier ciudadano queda en 39, aunque la vivienda sea barata o sobren zonas verdes.</a:t>
            </a:r>
            <a:endParaRPr lang="en-US" sz="1400" dirty="0"/>
          </a:p>
        </p:txBody>
      </p:sp>
      <p:sp>
        <p:nvSpPr>
          <p:cNvPr id="26" name="Text 24"/>
          <p:cNvSpPr txBox="1"/>
          <p:nvPr/>
        </p:nvSpPr>
        <p:spPr>
          <a:xfrm>
            <a:off x="8229600" y="5029200"/>
            <a:ext cx="3108960" cy="105156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Cercedilla</a:t>
            </a:r>
            <a:endParaRPr lang="en-US" sz="1800" dirty="0"/>
          </a:p>
          <a:p>
            <a:pPr indent="0" marL="0">
              <a:buNone/>
            </a:pPr>
            <a:r>
              <a:rPr lang="en-US" sz="1400" dirty="0">
                <a:solidFill>
                  <a:schemeClr val="bg2"/>
                </a:solidFill>
              </a:rPr>
              <a:t>Puntuación teórica de 34,61, clasificada con alerta S: la red asistencial no admite más presión.</a:t>
            </a:r>
            <a:endParaRPr lang="en-US" sz="18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9  ·  ROBUSTEZ METODOLÓGICA</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El modelo aprende, no memoriza</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600" dirty="0">
                <a:solidFill>
                  <a:schemeClr val="tx2"/>
                </a:solidFill>
              </a:rPr>
              <a:t>Garantías contra la fuga de datos y validación espacial sin atajos</a:t>
            </a:r>
            <a:endParaRPr lang="en-US" sz="1600" dirty="0"/>
          </a:p>
        </p:txBody>
      </p:sp>
      <p:sp>
        <p:nvSpPr>
          <p:cNvPr id="5" name="Trampas"/>
          <p:cNvSpPr/>
          <p:nvPr/>
        </p:nvSpPr>
        <p:spPr>
          <a:xfrm>
            <a:off x="640080" y="1965960"/>
            <a:ext cx="5212080" cy="4206240"/>
          </a:xfrm>
          <a:prstGeom prst="roundRect">
            <a:avLst>
              <a:gd name="adj" fmla="val 2174"/>
            </a:avLst>
          </a:prstGeom>
          <a:solidFill>
            <a:schemeClr val="bg2"/>
          </a:solidFill>
          <a:ln/>
        </p:spPr>
      </p:sp>
      <p:sp>
        <p:nvSpPr>
          <p:cNvPr id="6" name="Text 4"/>
          <p:cNvSpPr txBox="1"/>
          <p:nvPr/>
        </p:nvSpPr>
        <p:spPr>
          <a:xfrm>
            <a:off x="914400" y="2194560"/>
            <a:ext cx="45720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TRES FORMAS DE HACER TRAMPA</a:t>
            </a:r>
            <a:endParaRPr lang="en-US" sz="1200" dirty="0"/>
          </a:p>
        </p:txBody>
      </p:sp>
      <p:sp>
        <p:nvSpPr>
          <p:cNvPr id="7" name="Círculo icono"/>
          <p:cNvSpPr/>
          <p:nvPr/>
        </p:nvSpPr>
        <p:spPr>
          <a:xfrm>
            <a:off x="914400" y="2697480"/>
            <a:ext cx="457200" cy="457200"/>
          </a:xfrm>
          <a:prstGeom prst="ellipse">
            <a:avLst/>
          </a:prstGeom>
          <a:solidFill>
            <a:srgbClr val="C0263F"/>
          </a:solidFill>
          <a:ln/>
        </p:spPr>
      </p:sp>
      <p:pic>
        <p:nvPicPr>
          <p:cNvPr id="8" name="Image 0" descr="preencoded.png">    </p:cNvPr>
          <p:cNvPicPr>
            <a:picLocks noChangeAspect="1"/>
          </p:cNvPicPr>
          <p:nvPr/>
        </p:nvPicPr>
        <p:blipFill>
          <a:blip r:embed="rId1"/>
          <a:stretch>
            <a:fillRect/>
          </a:stretch>
        </p:blipFill>
        <p:spPr>
          <a:xfrm>
            <a:off x="1014984" y="2798064"/>
            <a:ext cx="256032" cy="256032"/>
          </a:xfrm>
          <a:prstGeom prst="rect">
            <a:avLst/>
          </a:prstGeom>
        </p:spPr>
      </p:pic>
      <p:sp>
        <p:nvSpPr>
          <p:cNvPr id="9" name="Text 6"/>
          <p:cNvSpPr txBox="1"/>
          <p:nvPr/>
        </p:nvSpPr>
        <p:spPr>
          <a:xfrm>
            <a:off x="1554480" y="2651760"/>
            <a:ext cx="4114800" cy="1051560"/>
          </a:xfrm>
          <a:prstGeom prst="rect">
            <a:avLst/>
          </a:prstGeom>
          <a:noFill/>
          <a:ln/>
        </p:spPr>
        <p:txBody>
          <a:bodyPr wrap="square" lIns="0" tIns="0" rIns="0" bIns="0" rtlCol="0" anchor="t"/>
          <a:lstStyle/>
          <a:p>
            <a:pPr indent="0" marL="0">
              <a:buNone/>
            </a:pPr>
            <a:r>
              <a:rPr lang="en-US" sz="1600" b="1" dirty="0">
                <a:solidFill>
                  <a:schemeClr val="tx1"/>
                </a:solidFill>
              </a:rPr>
              <a:t>Mirar al futuro</a:t>
            </a:r>
            <a:endParaRPr lang="en-US" sz="1600" dirty="0"/>
          </a:p>
          <a:p>
            <a:pPr indent="0" marL="0">
              <a:buNone/>
            </a:pPr>
            <a:r>
              <a:rPr lang="en-US" sz="1400" dirty="0">
                <a:solidFill>
                  <a:schemeClr val="tx2"/>
                </a:solidFill>
              </a:rPr>
              <a:t>Usar la población proyectada a 2031 para predecir 2025 infla las métricas y deja el modelo inservible en producción.</a:t>
            </a:r>
            <a:endParaRPr lang="en-US" sz="1600" dirty="0"/>
          </a:p>
        </p:txBody>
      </p:sp>
      <p:sp>
        <p:nvSpPr>
          <p:cNvPr id="10" name="Círculo icono"/>
          <p:cNvSpPr/>
          <p:nvPr/>
        </p:nvSpPr>
        <p:spPr>
          <a:xfrm>
            <a:off x="914400" y="3840480"/>
            <a:ext cx="457200" cy="457200"/>
          </a:xfrm>
          <a:prstGeom prst="ellipse">
            <a:avLst/>
          </a:prstGeom>
          <a:solidFill>
            <a:srgbClr val="C0263F"/>
          </a:solidFill>
          <a:ln/>
        </p:spPr>
      </p:sp>
      <p:pic>
        <p:nvPicPr>
          <p:cNvPr id="11" name="Image 1" descr="preencoded.png">    </p:cNvPr>
          <p:cNvPicPr>
            <a:picLocks noChangeAspect="1"/>
          </p:cNvPicPr>
          <p:nvPr/>
        </p:nvPicPr>
        <p:blipFill>
          <a:blip r:embed="rId2"/>
          <a:stretch>
            <a:fillRect/>
          </a:stretch>
        </p:blipFill>
        <p:spPr>
          <a:xfrm>
            <a:off x="1014984" y="3941064"/>
            <a:ext cx="256032" cy="256032"/>
          </a:xfrm>
          <a:prstGeom prst="rect">
            <a:avLst/>
          </a:prstGeom>
        </p:spPr>
      </p:pic>
      <p:sp>
        <p:nvSpPr>
          <p:cNvPr id="12" name="Text 8"/>
          <p:cNvSpPr txBox="1"/>
          <p:nvPr/>
        </p:nvSpPr>
        <p:spPr>
          <a:xfrm>
            <a:off x="1554480" y="3794760"/>
            <a:ext cx="4114800" cy="1051560"/>
          </a:xfrm>
          <a:prstGeom prst="rect">
            <a:avLst/>
          </a:prstGeom>
          <a:noFill/>
          <a:ln/>
        </p:spPr>
        <p:txBody>
          <a:bodyPr wrap="square" lIns="0" tIns="0" rIns="0" bIns="0" rtlCol="0" anchor="t"/>
          <a:lstStyle/>
          <a:p>
            <a:pPr indent="0" marL="0">
              <a:buNone/>
            </a:pPr>
            <a:r>
              <a:rPr lang="en-US" sz="1600" b="1" dirty="0">
                <a:solidFill>
                  <a:schemeClr val="tx1"/>
                </a:solidFill>
              </a:rPr>
              <a:t>Mezclar vecinos</a:t>
            </a:r>
            <a:endParaRPr lang="en-US" sz="1600" dirty="0"/>
          </a:p>
          <a:p>
            <a:pPr indent="0" marL="0">
              <a:buNone/>
            </a:pPr>
            <a:r>
              <a:rPr lang="en-US" sz="1400" dirty="0">
                <a:solidFill>
                  <a:schemeClr val="tx2"/>
                </a:solidFill>
              </a:rPr>
              <a:t>Repartir al azar municipios contiguos entre entrenamiento y prueba filtra información.</a:t>
            </a:r>
            <a:endParaRPr lang="en-US" sz="1600" dirty="0"/>
          </a:p>
        </p:txBody>
      </p:sp>
      <p:sp>
        <p:nvSpPr>
          <p:cNvPr id="13" name="Círculo icono"/>
          <p:cNvSpPr/>
          <p:nvPr/>
        </p:nvSpPr>
        <p:spPr>
          <a:xfrm>
            <a:off x="914400" y="4892040"/>
            <a:ext cx="457200" cy="457200"/>
          </a:xfrm>
          <a:prstGeom prst="ellipse">
            <a:avLst/>
          </a:prstGeom>
          <a:solidFill>
            <a:srgbClr val="C0263F"/>
          </a:solidFill>
          <a:ln/>
        </p:spPr>
      </p:sp>
      <p:pic>
        <p:nvPicPr>
          <p:cNvPr id="14" name="Image 2" descr="preencoded.png">    </p:cNvPr>
          <p:cNvPicPr>
            <a:picLocks noChangeAspect="1"/>
          </p:cNvPicPr>
          <p:nvPr/>
        </p:nvPicPr>
        <p:blipFill>
          <a:blip r:embed="rId3"/>
          <a:stretch>
            <a:fillRect/>
          </a:stretch>
        </p:blipFill>
        <p:spPr>
          <a:xfrm>
            <a:off x="1014984" y="4992624"/>
            <a:ext cx="256032" cy="256032"/>
          </a:xfrm>
          <a:prstGeom prst="rect">
            <a:avLst/>
          </a:prstGeom>
        </p:spPr>
      </p:pic>
      <p:sp>
        <p:nvSpPr>
          <p:cNvPr id="15" name="Text 10"/>
          <p:cNvSpPr txBox="1"/>
          <p:nvPr/>
        </p:nvSpPr>
        <p:spPr>
          <a:xfrm>
            <a:off x="1554480" y="4846320"/>
            <a:ext cx="4114800" cy="1051560"/>
          </a:xfrm>
          <a:prstGeom prst="rect">
            <a:avLst/>
          </a:prstGeom>
          <a:noFill/>
          <a:ln/>
        </p:spPr>
        <p:txBody>
          <a:bodyPr wrap="square" lIns="0" tIns="0" rIns="0" bIns="0" rtlCol="0" anchor="t"/>
          <a:lstStyle/>
          <a:p>
            <a:pPr indent="0" marL="0">
              <a:buNone/>
            </a:pPr>
            <a:r>
              <a:rPr lang="en-US" sz="1600" b="1" dirty="0">
                <a:solidFill>
                  <a:schemeClr val="tx1"/>
                </a:solidFill>
              </a:rPr>
              <a:t>Memorizar</a:t>
            </a:r>
            <a:endParaRPr lang="en-US" sz="1600" dirty="0"/>
          </a:p>
          <a:p>
            <a:pPr indent="0" marL="0">
              <a:buNone/>
            </a:pPr>
            <a:r>
              <a:rPr lang="en-US" sz="1400" dirty="0">
                <a:solidFill>
                  <a:schemeClr val="tx2"/>
                </a:solidFill>
              </a:rPr>
              <a:t>Con N = 20, un modelo demasiado complejo memoriza filas en lugar de aprender patrones.</a:t>
            </a:r>
            <a:endParaRPr lang="en-US" sz="1600" dirty="0"/>
          </a:p>
        </p:txBody>
      </p:sp>
      <p:sp>
        <p:nvSpPr>
          <p:cNvPr id="16" name="Controles"/>
          <p:cNvSpPr/>
          <p:nvPr/>
        </p:nvSpPr>
        <p:spPr>
          <a:xfrm>
            <a:off x="6080760" y="1965960"/>
            <a:ext cx="5468112" cy="4206240"/>
          </a:xfrm>
          <a:prstGeom prst="roundRect">
            <a:avLst>
              <a:gd name="adj" fmla="val 2174"/>
            </a:avLst>
          </a:prstGeom>
          <a:solidFill>
            <a:schemeClr val="tx1"/>
          </a:solidFill>
          <a:ln/>
        </p:spPr>
      </p:sp>
      <p:sp>
        <p:nvSpPr>
          <p:cNvPr id="17" name="Text 12"/>
          <p:cNvSpPr txBox="1"/>
          <p:nvPr/>
        </p:nvSpPr>
        <p:spPr>
          <a:xfrm>
            <a:off x="6355080" y="2194560"/>
            <a:ext cx="4572000" cy="256032"/>
          </a:xfrm>
          <a:prstGeom prst="rect">
            <a:avLst/>
          </a:prstGeom>
          <a:noFill/>
          <a:ln/>
        </p:spPr>
        <p:txBody>
          <a:bodyPr wrap="square" lIns="0" tIns="0" rIns="0" bIns="0" rtlCol="0" anchor="t"/>
          <a:lstStyle/>
          <a:p>
            <a:pPr indent="0" marL="0">
              <a:buNone/>
            </a:pPr>
            <a:r>
              <a:rPr lang="en-US" sz="1200" b="1" spc="200" kern="0" dirty="0">
                <a:solidFill>
                  <a:schemeClr val="accent6"/>
                </a:solidFill>
              </a:rPr>
              <a:t>CÓMO LO COMPROBAMOS</a:t>
            </a:r>
            <a:endParaRPr lang="en-US" sz="1200" dirty="0"/>
          </a:p>
        </p:txBody>
      </p:sp>
      <p:sp>
        <p:nvSpPr>
          <p:cNvPr id="18" name="Círculo icono"/>
          <p:cNvSpPr/>
          <p:nvPr/>
        </p:nvSpPr>
        <p:spPr>
          <a:xfrm>
            <a:off x="6355080" y="2697480"/>
            <a:ext cx="384048" cy="384048"/>
          </a:xfrm>
          <a:prstGeom prst="ellipse">
            <a:avLst/>
          </a:prstGeom>
          <a:solidFill>
            <a:srgbClr val="2E7D5B"/>
          </a:solidFill>
          <a:ln/>
        </p:spPr>
      </p:sp>
      <p:pic>
        <p:nvPicPr>
          <p:cNvPr id="19" name="Image 3" descr="preencoded.png">    </p:cNvPr>
          <p:cNvPicPr>
            <a:picLocks noChangeAspect="1"/>
          </p:cNvPicPr>
          <p:nvPr/>
        </p:nvPicPr>
        <p:blipFill>
          <a:blip r:embed="rId4"/>
          <a:stretch>
            <a:fillRect/>
          </a:stretch>
        </p:blipFill>
        <p:spPr>
          <a:xfrm>
            <a:off x="6439571" y="2781971"/>
            <a:ext cx="215067" cy="215067"/>
          </a:xfrm>
          <a:prstGeom prst="rect">
            <a:avLst/>
          </a:prstGeom>
        </p:spPr>
      </p:pic>
      <p:sp>
        <p:nvSpPr>
          <p:cNvPr id="20" name="Text 14"/>
          <p:cNvSpPr txBox="1"/>
          <p:nvPr/>
        </p:nvSpPr>
        <p:spPr>
          <a:xfrm>
            <a:off x="6903720" y="2651760"/>
            <a:ext cx="4389120" cy="822960"/>
          </a:xfrm>
          <a:prstGeom prst="rect">
            <a:avLst/>
          </a:prstGeom>
          <a:noFill/>
          <a:ln/>
        </p:spPr>
        <p:txBody>
          <a:bodyPr wrap="square" lIns="0" tIns="0" rIns="0" bIns="0" rtlCol="0" anchor="t"/>
          <a:lstStyle/>
          <a:p>
            <a:pPr indent="0" marL="0">
              <a:buNone/>
            </a:pPr>
            <a:r>
              <a:rPr lang="en-US" sz="1600" b="1" dirty="0">
                <a:solidFill>
                  <a:schemeClr val="bg1"/>
                </a:solidFill>
              </a:rPr>
              <a:t>Comparativa adversarial</a:t>
            </a:r>
            <a:endParaRPr lang="en-US" sz="1600" dirty="0"/>
          </a:p>
          <a:p>
            <a:pPr indent="0" marL="0">
              <a:buNone/>
            </a:pPr>
            <a:r>
              <a:rPr lang="en-US" sz="1400" dirty="0">
                <a:solidFill>
                  <a:schemeClr val="bg2"/>
                </a:solidFill>
              </a:rPr>
              <a:t>Versiones con y sin fuga deliberada, para confirmar que las métricas son generalización real.</a:t>
            </a:r>
            <a:endParaRPr lang="en-US" sz="1600" dirty="0"/>
          </a:p>
        </p:txBody>
      </p:sp>
      <p:sp>
        <p:nvSpPr>
          <p:cNvPr id="21" name="Círculo icono"/>
          <p:cNvSpPr/>
          <p:nvPr/>
        </p:nvSpPr>
        <p:spPr>
          <a:xfrm>
            <a:off x="6355080" y="3575304"/>
            <a:ext cx="384048" cy="384048"/>
          </a:xfrm>
          <a:prstGeom prst="ellipse">
            <a:avLst/>
          </a:prstGeom>
          <a:solidFill>
            <a:srgbClr val="2E7D5B"/>
          </a:solidFill>
          <a:ln/>
        </p:spPr>
      </p:sp>
      <p:pic>
        <p:nvPicPr>
          <p:cNvPr id="22" name="Image 4" descr="preencoded.png">    </p:cNvPr>
          <p:cNvPicPr>
            <a:picLocks noChangeAspect="1"/>
          </p:cNvPicPr>
          <p:nvPr/>
        </p:nvPicPr>
        <p:blipFill>
          <a:blip r:embed="rId5"/>
          <a:stretch>
            <a:fillRect/>
          </a:stretch>
        </p:blipFill>
        <p:spPr>
          <a:xfrm>
            <a:off x="6439571" y="3659795"/>
            <a:ext cx="215067" cy="215067"/>
          </a:xfrm>
          <a:prstGeom prst="rect">
            <a:avLst/>
          </a:prstGeom>
        </p:spPr>
      </p:pic>
      <p:sp>
        <p:nvSpPr>
          <p:cNvPr id="23" name="Text 16"/>
          <p:cNvSpPr txBox="1"/>
          <p:nvPr/>
        </p:nvSpPr>
        <p:spPr>
          <a:xfrm>
            <a:off x="6903720" y="3529584"/>
            <a:ext cx="4389120" cy="822960"/>
          </a:xfrm>
          <a:prstGeom prst="rect">
            <a:avLst/>
          </a:prstGeom>
          <a:noFill/>
          <a:ln/>
        </p:spPr>
        <p:txBody>
          <a:bodyPr wrap="square" lIns="0" tIns="0" rIns="0" bIns="0" rtlCol="0" anchor="t"/>
          <a:lstStyle/>
          <a:p>
            <a:pPr indent="0" marL="0">
              <a:buNone/>
            </a:pPr>
            <a:r>
              <a:rPr lang="en-US" sz="1600" b="1" dirty="0">
                <a:solidFill>
                  <a:schemeClr val="bg1"/>
                </a:solidFill>
              </a:rPr>
              <a:t>Validación espacial GroupKFold</a:t>
            </a:r>
            <a:endParaRPr lang="en-US" sz="1600" dirty="0"/>
          </a:p>
          <a:p>
            <a:pPr indent="0" marL="0">
              <a:buNone/>
            </a:pPr>
            <a:r>
              <a:rPr lang="en-US" sz="1400" dirty="0">
                <a:solidFill>
                  <a:schemeClr val="bg2"/>
                </a:solidFill>
              </a:rPr>
              <a:t>Los municipios de una misma comarca van juntos a entrenamiento o a prueba.</a:t>
            </a:r>
            <a:endParaRPr lang="en-US" sz="1600" dirty="0"/>
          </a:p>
        </p:txBody>
      </p:sp>
      <p:sp>
        <p:nvSpPr>
          <p:cNvPr id="24" name="Círculo icono"/>
          <p:cNvSpPr/>
          <p:nvPr/>
        </p:nvSpPr>
        <p:spPr>
          <a:xfrm>
            <a:off x="6355080" y="4453128"/>
            <a:ext cx="384048" cy="384048"/>
          </a:xfrm>
          <a:prstGeom prst="ellipse">
            <a:avLst/>
          </a:prstGeom>
          <a:solidFill>
            <a:srgbClr val="2E7D5B"/>
          </a:solidFill>
          <a:ln/>
        </p:spPr>
      </p:sp>
      <p:pic>
        <p:nvPicPr>
          <p:cNvPr id="25" name="Image 5" descr="preencoded.png">    </p:cNvPr>
          <p:cNvPicPr>
            <a:picLocks noChangeAspect="1"/>
          </p:cNvPicPr>
          <p:nvPr/>
        </p:nvPicPr>
        <p:blipFill>
          <a:blip r:embed="rId6"/>
          <a:stretch>
            <a:fillRect/>
          </a:stretch>
        </p:blipFill>
        <p:spPr>
          <a:xfrm>
            <a:off x="6439571" y="4537619"/>
            <a:ext cx="215067" cy="215067"/>
          </a:xfrm>
          <a:prstGeom prst="rect">
            <a:avLst/>
          </a:prstGeom>
        </p:spPr>
      </p:pic>
      <p:sp>
        <p:nvSpPr>
          <p:cNvPr id="26" name="Text 18"/>
          <p:cNvSpPr txBox="1"/>
          <p:nvPr/>
        </p:nvSpPr>
        <p:spPr>
          <a:xfrm>
            <a:off x="6903720" y="4407408"/>
            <a:ext cx="4389120" cy="822960"/>
          </a:xfrm>
          <a:prstGeom prst="rect">
            <a:avLst/>
          </a:prstGeom>
          <a:noFill/>
          <a:ln/>
        </p:spPr>
        <p:txBody>
          <a:bodyPr wrap="square" lIns="0" tIns="0" rIns="0" bIns="0" rtlCol="0" anchor="t"/>
          <a:lstStyle/>
          <a:p>
            <a:pPr indent="0" marL="0">
              <a:buNone/>
            </a:pPr>
            <a:r>
              <a:rPr lang="en-US" sz="1600" b="1" dirty="0">
                <a:solidFill>
                  <a:schemeClr val="bg1"/>
                </a:solidFill>
              </a:rPr>
              <a:t>Control point-in-time</a:t>
            </a:r>
            <a:endParaRPr lang="en-US" sz="1600" dirty="0"/>
          </a:p>
          <a:p>
            <a:pPr indent="0" marL="0">
              <a:buNone/>
            </a:pPr>
            <a:r>
              <a:rPr lang="en-US" sz="1400" dirty="0">
                <a:solidFill>
                  <a:schemeClr val="bg2"/>
                </a:solidFill>
              </a:rPr>
              <a:t>Ningún dato de entrada es posterior a la fecha de decisión del MVP.</a:t>
            </a:r>
            <a:endParaRPr lang="en-US" sz="1600" dirty="0"/>
          </a:p>
        </p:txBody>
      </p:sp>
      <p:sp>
        <p:nvSpPr>
          <p:cNvPr id="27" name="Círculo icono"/>
          <p:cNvSpPr/>
          <p:nvPr/>
        </p:nvSpPr>
        <p:spPr>
          <a:xfrm>
            <a:off x="6355080" y="5330952"/>
            <a:ext cx="384048" cy="384048"/>
          </a:xfrm>
          <a:prstGeom prst="ellipse">
            <a:avLst/>
          </a:prstGeom>
          <a:solidFill>
            <a:srgbClr val="2E7D5B"/>
          </a:solidFill>
          <a:ln/>
        </p:spPr>
      </p:sp>
      <p:pic>
        <p:nvPicPr>
          <p:cNvPr id="28" name="Image 6" descr="preencoded.png">    </p:cNvPr>
          <p:cNvPicPr>
            <a:picLocks noChangeAspect="1"/>
          </p:cNvPicPr>
          <p:nvPr/>
        </p:nvPicPr>
        <p:blipFill>
          <a:blip r:embed="rId7"/>
          <a:stretch>
            <a:fillRect/>
          </a:stretch>
        </p:blipFill>
        <p:spPr>
          <a:xfrm>
            <a:off x="6439571" y="5415443"/>
            <a:ext cx="215067" cy="215067"/>
          </a:xfrm>
          <a:prstGeom prst="rect">
            <a:avLst/>
          </a:prstGeom>
        </p:spPr>
      </p:pic>
      <p:sp>
        <p:nvSpPr>
          <p:cNvPr id="29" name="Text 20"/>
          <p:cNvSpPr txBox="1"/>
          <p:nvPr/>
        </p:nvSpPr>
        <p:spPr>
          <a:xfrm>
            <a:off x="6903720" y="5285232"/>
            <a:ext cx="4389120" cy="822960"/>
          </a:xfrm>
          <a:prstGeom prst="rect">
            <a:avLst/>
          </a:prstGeom>
          <a:noFill/>
          <a:ln/>
        </p:spPr>
        <p:txBody>
          <a:bodyPr wrap="square" lIns="0" tIns="0" rIns="0" bIns="0" rtlCol="0" anchor="t"/>
          <a:lstStyle/>
          <a:p>
            <a:pPr indent="0" marL="0">
              <a:buNone/>
            </a:pPr>
            <a:r>
              <a:rPr lang="en-US" sz="1600" b="1" dirty="0">
                <a:solidFill>
                  <a:schemeClr val="bg1"/>
                </a:solidFill>
              </a:rPr>
              <a:t>36 tests unitarios y de integración</a:t>
            </a:r>
            <a:endParaRPr lang="en-US" sz="1600" dirty="0"/>
          </a:p>
          <a:p>
            <a:pPr indent="0" marL="0">
              <a:buNone/>
            </a:pPr>
            <a:r>
              <a:rPr lang="en-US" sz="1400" dirty="0">
                <a:solidFill>
                  <a:schemeClr val="bg2"/>
                </a:solidFill>
              </a:rPr>
              <a:t>Auditan las 7 fugas posibles (L1 a L7) con pytest.</a:t>
            </a:r>
            <a:endParaRPr lang="en-US" sz="16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10  ·  HERRAMIENTAS PARA LA GESTIÓN</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Simulador what-if y optimizador presupuestario</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600" dirty="0">
                <a:solidFill>
                  <a:schemeClr val="tx2"/>
                </a:solidFill>
              </a:rPr>
              <a:t>Instrumentos para decidir y repartir presupuesto</a:t>
            </a:r>
            <a:endParaRPr lang="en-US" sz="1600" dirty="0"/>
          </a:p>
        </p:txBody>
      </p:sp>
      <p:sp>
        <p:nvSpPr>
          <p:cNvPr id="5" name="Simulador"/>
          <p:cNvSpPr/>
          <p:nvPr/>
        </p:nvSpPr>
        <p:spPr>
          <a:xfrm>
            <a:off x="640080" y="1965960"/>
            <a:ext cx="4480560" cy="4206240"/>
          </a:xfrm>
          <a:prstGeom prst="roundRect">
            <a:avLst>
              <a:gd name="adj" fmla="val 2174"/>
            </a:avLst>
          </a:prstGeom>
          <a:solidFill>
            <a:schemeClr val="bg2"/>
          </a:solidFill>
          <a:ln/>
        </p:spPr>
      </p:sp>
      <p:sp>
        <p:nvSpPr>
          <p:cNvPr id="6" name="Text 4"/>
          <p:cNvSpPr txBox="1"/>
          <p:nvPr/>
        </p:nvSpPr>
        <p:spPr>
          <a:xfrm>
            <a:off x="914400" y="2194560"/>
            <a:ext cx="402336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PANTALLA 1  ·  SIMULADOR WHAT-IF</a:t>
            </a:r>
            <a:endParaRPr lang="en-US" sz="1200" dirty="0"/>
          </a:p>
        </p:txBody>
      </p:sp>
      <p:sp>
        <p:nvSpPr>
          <p:cNvPr id="7" name="Text 5"/>
          <p:cNvSpPr txBox="1"/>
          <p:nvPr/>
        </p:nvSpPr>
        <p:spPr>
          <a:xfrm>
            <a:off x="914400" y="2560320"/>
            <a:ext cx="3931920" cy="1005840"/>
          </a:xfrm>
          <a:prstGeom prst="rect">
            <a:avLst/>
          </a:prstGeom>
          <a:noFill/>
          <a:ln/>
        </p:spPr>
        <p:txBody>
          <a:bodyPr wrap="square" lIns="0" tIns="0" rIns="0" bIns="0" rtlCol="0" anchor="t"/>
          <a:lstStyle/>
          <a:p>
            <a:pPr indent="0" marL="0">
              <a:buNone/>
            </a:pPr>
            <a:r>
              <a:rPr lang="en-US" sz="2000" b="1" i="1" dirty="0">
                <a:solidFill>
                  <a:schemeClr val="tx1"/>
                </a:solidFill>
                <a:latin typeface="+mj-lt" pitchFamily="34" charset="0"/>
                <a:ea typeface="+mj-lt" pitchFamily="34" charset="-122"/>
                <a:cs typeface="+mj-lt" pitchFamily="34" charset="-120"/>
              </a:rPr>
              <a:t>«¿Si entran 2.000 personas en este pueblo, qué pasa?»</a:t>
            </a:r>
            <a:endParaRPr lang="en-US" sz="2000" dirty="0"/>
          </a:p>
        </p:txBody>
      </p:sp>
      <p:sp>
        <p:nvSpPr>
          <p:cNvPr id="8" name="Text 6"/>
          <p:cNvSpPr txBox="1"/>
          <p:nvPr/>
        </p:nvSpPr>
        <p:spPr>
          <a:xfrm>
            <a:off x="914400" y="3520440"/>
            <a:ext cx="3931920" cy="2514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Recalcula al instante todos los indicadores de presión dotacional.</a:t>
            </a:r>
            <a:endParaRPr lang="en-US" sz="1500" dirty="0"/>
          </a:p>
          <a:p>
            <a:pPr marL="342900" indent="-342900">
              <a:spcAft>
                <a:spcPts val="800"/>
              </a:spcAft>
              <a:buSzPct val="100000"/>
              <a:buChar char="•"/>
            </a:pPr>
            <a:r>
              <a:rPr lang="en-US" sz="1500" dirty="0">
                <a:solidFill>
                  <a:schemeClr val="tx2"/>
                </a:solidFill>
              </a:rPr>
              <a:t>Indica qué servicio entra antes en crisis, cuántas plazas o médicos faltan y cuánto cuesta reforzarlo.</a:t>
            </a:r>
            <a:endParaRPr lang="en-US" sz="1500" dirty="0"/>
          </a:p>
          <a:p>
            <a:pPr marL="342900" indent="-342900">
              <a:buSzPct val="100000"/>
              <a:buChar char="•"/>
            </a:pPr>
            <a:r>
              <a:rPr lang="en-US" sz="1500" dirty="0">
                <a:solidFill>
                  <a:schemeClr val="tx2"/>
                </a:solidFill>
              </a:rPr>
              <a:t>Permite evaluar planes urbanísticos antes de aprobar licencias residenciales.</a:t>
            </a:r>
            <a:endParaRPr lang="en-US" sz="1500" dirty="0"/>
          </a:p>
        </p:txBody>
      </p:sp>
      <p:sp>
        <p:nvSpPr>
          <p:cNvPr id="9" name="Text 7"/>
          <p:cNvSpPr txBox="1"/>
          <p:nvPr/>
        </p:nvSpPr>
        <p:spPr>
          <a:xfrm>
            <a:off x="5440680" y="2011680"/>
            <a:ext cx="603504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PANTALLA 2  ·  OPTIMIZADOR M5 (SIMPLEX)</a:t>
            </a:r>
            <a:endParaRPr lang="en-US" sz="1200" dirty="0"/>
          </a:p>
        </p:txBody>
      </p:sp>
      <p:sp>
        <p:nvSpPr>
          <p:cNvPr id="10" name="Text 8"/>
          <p:cNvSpPr txBox="1"/>
          <p:nvPr/>
        </p:nvSpPr>
        <p:spPr>
          <a:xfrm>
            <a:off x="5440680" y="2331720"/>
            <a:ext cx="6108192" cy="685800"/>
          </a:xfrm>
          <a:prstGeom prst="rect">
            <a:avLst/>
          </a:prstGeom>
          <a:noFill/>
          <a:ln/>
        </p:spPr>
        <p:txBody>
          <a:bodyPr wrap="square" lIns="0" tIns="0" rIns="0" bIns="0" rtlCol="0" anchor="t"/>
          <a:lstStyle/>
          <a:p>
            <a:pPr indent="0" marL="0">
              <a:buNone/>
            </a:pPr>
            <a:r>
              <a:rPr lang="en-US" sz="2000" b="1" i="1" dirty="0">
                <a:solidFill>
                  <a:schemeClr val="tx1"/>
                </a:solidFill>
                <a:latin typeface="+mj-lt" pitchFamily="34" charset="0"/>
                <a:ea typeface="+mj-lt" pitchFamily="34" charset="-122"/>
                <a:cs typeface="+mj-lt" pitchFamily="34" charset="-120"/>
              </a:rPr>
              <a:t>«Tengo 2.000.000 €, ¿dónde los reparto en esta comarca?»</a:t>
            </a:r>
            <a:endParaRPr lang="en-US" sz="2000" dirty="0"/>
          </a:p>
        </p:txBody>
      </p:sp>
      <p:graphicFrame>
        <p:nvGraphicFramePr>
          <p:cNvPr id="11" name="Chart 0" descr=""/>
          <p:cNvGraphicFramePr/>
          <p:nvPr/>
        </p:nvGraphicFramePr>
        <p:xfrm>
          <a:off x="5349240" y="3017520"/>
          <a:ext cx="6217920" cy="169164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5440680" y="4754880"/>
            <a:ext cx="6108192" cy="274320"/>
          </a:xfrm>
          <a:prstGeom prst="rect">
            <a:avLst/>
          </a:prstGeom>
          <a:noFill/>
          <a:ln/>
        </p:spPr>
        <p:txBody>
          <a:bodyPr wrap="square" lIns="0" tIns="0" rIns="0" bIns="0" rtlCol="0" anchor="t"/>
          <a:lstStyle/>
          <a:p>
            <a:pPr indent="0" marL="0">
              <a:buNone/>
            </a:pPr>
            <a:r>
              <a:rPr lang="en-US" sz="1200" dirty="0">
                <a:solidFill>
                  <a:schemeClr val="tx2"/>
                </a:solidFill>
              </a:rPr>
              <a:t>Navalcarnero queda en 0 €: su restricción es la vivienda, no las dotaciones.</a:t>
            </a:r>
            <a:endParaRPr lang="en-US" sz="1200" dirty="0"/>
          </a:p>
        </p:txBody>
      </p:sp>
      <p:sp>
        <p:nvSpPr>
          <p:cNvPr id="13" name="Balance"/>
          <p:cNvSpPr/>
          <p:nvPr/>
        </p:nvSpPr>
        <p:spPr>
          <a:xfrm>
            <a:off x="5440680" y="5120640"/>
            <a:ext cx="2194560" cy="1051560"/>
          </a:xfrm>
          <a:prstGeom prst="roundRect">
            <a:avLst>
              <a:gd name="adj" fmla="val 8696"/>
            </a:avLst>
          </a:prstGeom>
          <a:solidFill>
            <a:schemeClr val="tx1"/>
          </a:solidFill>
          <a:ln/>
        </p:spPr>
      </p:sp>
      <p:sp>
        <p:nvSpPr>
          <p:cNvPr id="14" name="Text 11"/>
          <p:cNvSpPr txBox="1"/>
          <p:nvPr/>
        </p:nvSpPr>
        <p:spPr>
          <a:xfrm>
            <a:off x="5623560" y="5212080"/>
            <a:ext cx="1920240" cy="457200"/>
          </a:xfrm>
          <a:prstGeom prst="rect">
            <a:avLst/>
          </a:prstGeom>
          <a:noFill/>
          <a:ln/>
        </p:spPr>
        <p:txBody>
          <a:bodyPr wrap="square" lIns="0" tIns="0" rIns="0" bIns="0" rtlCol="0" anchor="t"/>
          <a:lstStyle/>
          <a:p>
            <a:pPr indent="0" marL="0">
              <a:buNone/>
            </a:pPr>
            <a:r>
              <a:rPr lang="en-US" sz="2400" b="1" dirty="0">
                <a:solidFill>
                  <a:schemeClr val="accent6"/>
                </a:solidFill>
                <a:latin typeface="+mj-lt" pitchFamily="34" charset="0"/>
                <a:ea typeface="+mj-lt" pitchFamily="34" charset="-122"/>
                <a:cs typeface="+mj-lt" pitchFamily="34" charset="-120"/>
              </a:rPr>
              <a:t>1.650.000 €</a:t>
            </a:r>
            <a:endParaRPr lang="en-US" sz="2400" dirty="0"/>
          </a:p>
        </p:txBody>
      </p:sp>
      <p:sp>
        <p:nvSpPr>
          <p:cNvPr id="15" name="Text 12"/>
          <p:cNvSpPr txBox="1"/>
          <p:nvPr/>
        </p:nvSpPr>
        <p:spPr>
          <a:xfrm>
            <a:off x="5623560" y="5760720"/>
            <a:ext cx="1920240" cy="274320"/>
          </a:xfrm>
          <a:prstGeom prst="rect">
            <a:avLst/>
          </a:prstGeom>
          <a:noFill/>
          <a:ln/>
        </p:spPr>
        <p:txBody>
          <a:bodyPr wrap="square" lIns="0" tIns="0" rIns="0" bIns="0" rtlCol="0" anchor="t"/>
          <a:lstStyle/>
          <a:p>
            <a:pPr indent="0" marL="0">
              <a:buNone/>
            </a:pPr>
            <a:r>
              <a:rPr lang="en-US" sz="1400" dirty="0">
                <a:solidFill>
                  <a:schemeClr val="bg1"/>
                </a:solidFill>
              </a:rPr>
              <a:t>invertidos</a:t>
            </a:r>
            <a:endParaRPr lang="en-US" sz="1400" dirty="0"/>
          </a:p>
        </p:txBody>
      </p:sp>
      <p:sp>
        <p:nvSpPr>
          <p:cNvPr id="16" name="Balance"/>
          <p:cNvSpPr/>
          <p:nvPr/>
        </p:nvSpPr>
        <p:spPr>
          <a:xfrm>
            <a:off x="7808976" y="5120640"/>
            <a:ext cx="1783080" cy="1051560"/>
          </a:xfrm>
          <a:prstGeom prst="roundRect">
            <a:avLst>
              <a:gd name="adj" fmla="val 8696"/>
            </a:avLst>
          </a:prstGeom>
          <a:solidFill>
            <a:schemeClr val="bg2"/>
          </a:solidFill>
          <a:ln/>
        </p:spPr>
      </p:sp>
      <p:sp>
        <p:nvSpPr>
          <p:cNvPr id="17" name="Text 14"/>
          <p:cNvSpPr txBox="1"/>
          <p:nvPr/>
        </p:nvSpPr>
        <p:spPr>
          <a:xfrm>
            <a:off x="7991856" y="5212080"/>
            <a:ext cx="1508760"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+1.336</a:t>
            </a:r>
            <a:endParaRPr lang="en-US" sz="2400" dirty="0"/>
          </a:p>
        </p:txBody>
      </p:sp>
      <p:sp>
        <p:nvSpPr>
          <p:cNvPr id="18" name="Text 15"/>
          <p:cNvSpPr txBox="1"/>
          <p:nvPr/>
        </p:nvSpPr>
        <p:spPr>
          <a:xfrm>
            <a:off x="7991856" y="5760720"/>
            <a:ext cx="1508760" cy="274320"/>
          </a:xfrm>
          <a:prstGeom prst="rect">
            <a:avLst/>
          </a:prstGeom>
          <a:noFill/>
          <a:ln/>
        </p:spPr>
        <p:txBody>
          <a:bodyPr wrap="square" lIns="0" tIns="0" rIns="0" bIns="0" rtlCol="0" anchor="t"/>
          <a:lstStyle/>
          <a:p>
            <a:pPr indent="0" marL="0">
              <a:buNone/>
            </a:pPr>
            <a:r>
              <a:rPr lang="en-US" sz="1400" dirty="0">
                <a:solidFill>
                  <a:schemeClr val="tx2"/>
                </a:solidFill>
              </a:rPr>
              <a:t>personas acogibles</a:t>
            </a:r>
            <a:endParaRPr lang="en-US" sz="1400" dirty="0"/>
          </a:p>
        </p:txBody>
      </p:sp>
      <p:sp>
        <p:nvSpPr>
          <p:cNvPr id="19" name="Balance"/>
          <p:cNvSpPr/>
          <p:nvPr/>
        </p:nvSpPr>
        <p:spPr>
          <a:xfrm>
            <a:off x="9765792" y="5120640"/>
            <a:ext cx="1783080" cy="1051560"/>
          </a:xfrm>
          <a:prstGeom prst="roundRect">
            <a:avLst>
              <a:gd name="adj" fmla="val 8696"/>
            </a:avLst>
          </a:prstGeom>
          <a:solidFill>
            <a:schemeClr val="bg2"/>
          </a:solidFill>
          <a:ln/>
        </p:spPr>
      </p:sp>
      <p:sp>
        <p:nvSpPr>
          <p:cNvPr id="20" name="Text 17"/>
          <p:cNvSpPr txBox="1"/>
          <p:nvPr/>
        </p:nvSpPr>
        <p:spPr>
          <a:xfrm>
            <a:off x="9948672" y="5212080"/>
            <a:ext cx="1508760"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350.000 €</a:t>
            </a:r>
            <a:endParaRPr lang="en-US" sz="2400" dirty="0"/>
          </a:p>
        </p:txBody>
      </p:sp>
      <p:sp>
        <p:nvSpPr>
          <p:cNvPr id="21" name="Text 18"/>
          <p:cNvSpPr txBox="1"/>
          <p:nvPr/>
        </p:nvSpPr>
        <p:spPr>
          <a:xfrm>
            <a:off x="9948672" y="5760720"/>
            <a:ext cx="1508760" cy="274320"/>
          </a:xfrm>
          <a:prstGeom prst="rect">
            <a:avLst/>
          </a:prstGeom>
          <a:noFill/>
          <a:ln/>
        </p:spPr>
        <p:txBody>
          <a:bodyPr wrap="square" lIns="0" tIns="0" rIns="0" bIns="0" rtlCol="0" anchor="t"/>
          <a:lstStyle/>
          <a:p>
            <a:pPr indent="0" marL="0">
              <a:buNone/>
            </a:pPr>
            <a:r>
              <a:rPr lang="en-US" sz="1400" dirty="0">
                <a:solidFill>
                  <a:schemeClr val="tx2"/>
                </a:solidFill>
              </a:rPr>
              <a:t>ahorrados</a:t>
            </a:r>
            <a:endParaRPr lang="en-US" sz="14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6"/>
                </a:solidFill>
              </a:rPr>
              <a:t>11  ·  CONCLUSIONES Y TRANSFERENCIA</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bg1"/>
                </a:solidFill>
              </a:rPr>
              <a:t>Del piloto de 20 municipios a toda la región</a:t>
            </a:r>
            <a:endParaRPr lang="en-US" sz="3200" dirty="0"/>
          </a:p>
        </p:txBody>
      </p:sp>
      <p:sp>
        <p:nvSpPr>
          <p:cNvPr id="4" name="Text 2"/>
          <p:cNvSpPr txBox="1"/>
          <p:nvPr/>
        </p:nvSpPr>
        <p:spPr>
          <a:xfrm>
            <a:off x="640080" y="1828800"/>
            <a:ext cx="640080" cy="822960"/>
          </a:xfrm>
          <a:prstGeom prst="rect">
            <a:avLst/>
          </a:prstGeom>
          <a:noFill/>
          <a:ln/>
        </p:spPr>
        <p:txBody>
          <a:bodyPr wrap="square" lIns="0" tIns="0" rIns="0" bIns="0" rtlCol="0" anchor="t"/>
          <a:lstStyle/>
          <a:p>
            <a:pPr indent="0" marL="0">
              <a:buNone/>
            </a:pPr>
            <a:r>
              <a:rPr lang="en-US" sz="4800" b="1" dirty="0">
                <a:solidFill>
                  <a:schemeClr val="accent6"/>
                </a:solidFill>
                <a:latin typeface="+mj-lt" pitchFamily="34" charset="0"/>
                <a:ea typeface="+mj-lt" pitchFamily="34" charset="-122"/>
                <a:cs typeface="+mj-lt" pitchFamily="34" charset="-120"/>
              </a:rPr>
              <a:t>1</a:t>
            </a:r>
            <a:endParaRPr lang="en-US" sz="4800" dirty="0"/>
          </a:p>
        </p:txBody>
      </p:sp>
      <p:sp>
        <p:nvSpPr>
          <p:cNvPr id="5" name="Text 3"/>
          <p:cNvSpPr txBox="1"/>
          <p:nvPr/>
        </p:nvSpPr>
        <p:spPr>
          <a:xfrm>
            <a:off x="1417320" y="1874520"/>
            <a:ext cx="5303520" cy="132588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Resolución empírica</a:t>
            </a:r>
            <a:endParaRPr lang="en-US" sz="2000" dirty="0"/>
          </a:p>
          <a:p>
            <a:pPr indent="0" marL="0">
              <a:buNone/>
            </a:pPr>
            <a:r>
              <a:rPr lang="en-US" sz="1500" dirty="0">
                <a:solidFill>
                  <a:schemeClr val="bg2"/>
                </a:solidFill>
              </a:rPr>
              <a:t>Sustituimos la especulación por un marco cuantitativo verificado con backtest real (1,55% de error mediano) que integra capacidad dotacional y precios.</a:t>
            </a:r>
            <a:endParaRPr lang="en-US" sz="2000" dirty="0"/>
          </a:p>
        </p:txBody>
      </p:sp>
      <p:sp>
        <p:nvSpPr>
          <p:cNvPr id="6" name="Text 4"/>
          <p:cNvSpPr txBox="1"/>
          <p:nvPr/>
        </p:nvSpPr>
        <p:spPr>
          <a:xfrm>
            <a:off x="640080" y="3291840"/>
            <a:ext cx="640080" cy="822960"/>
          </a:xfrm>
          <a:prstGeom prst="rect">
            <a:avLst/>
          </a:prstGeom>
          <a:noFill/>
          <a:ln/>
        </p:spPr>
        <p:txBody>
          <a:bodyPr wrap="square" lIns="0" tIns="0" rIns="0" bIns="0" rtlCol="0" anchor="t"/>
          <a:lstStyle/>
          <a:p>
            <a:pPr indent="0" marL="0">
              <a:buNone/>
            </a:pPr>
            <a:r>
              <a:rPr lang="en-US" sz="4800" b="1" dirty="0">
                <a:solidFill>
                  <a:schemeClr val="accent6"/>
                </a:solidFill>
                <a:latin typeface="+mj-lt" pitchFamily="34" charset="0"/>
                <a:ea typeface="+mj-lt" pitchFamily="34" charset="-122"/>
                <a:cs typeface="+mj-lt" pitchFamily="34" charset="-120"/>
              </a:rPr>
              <a:t>2</a:t>
            </a:r>
            <a:endParaRPr lang="en-US" sz="4800" dirty="0"/>
          </a:p>
        </p:txBody>
      </p:sp>
      <p:sp>
        <p:nvSpPr>
          <p:cNvPr id="7" name="Text 5"/>
          <p:cNvSpPr txBox="1"/>
          <p:nvPr/>
        </p:nvSpPr>
        <p:spPr>
          <a:xfrm>
            <a:off x="1417320" y="3337560"/>
            <a:ext cx="5303520" cy="132588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Doble utilidad</a:t>
            </a:r>
            <a:endParaRPr lang="en-US" sz="2000" dirty="0"/>
          </a:p>
          <a:p>
            <a:pPr indent="0" marL="0">
              <a:buNone/>
            </a:pPr>
            <a:r>
              <a:rPr lang="en-US" sz="1500" dirty="0">
                <a:solidFill>
                  <a:schemeClr val="bg2"/>
                </a:solidFill>
              </a:rPr>
              <a:t>Sirve a las familias que planifican su traslado y a los gestores públicos que reparten recursos con rigor.</a:t>
            </a:r>
            <a:endParaRPr lang="en-US" sz="2000" dirty="0"/>
          </a:p>
        </p:txBody>
      </p:sp>
      <p:sp>
        <p:nvSpPr>
          <p:cNvPr id="8" name="Text 6"/>
          <p:cNvSpPr txBox="1"/>
          <p:nvPr/>
        </p:nvSpPr>
        <p:spPr>
          <a:xfrm>
            <a:off x="640080" y="4754880"/>
            <a:ext cx="640080" cy="822960"/>
          </a:xfrm>
          <a:prstGeom prst="rect">
            <a:avLst/>
          </a:prstGeom>
          <a:noFill/>
          <a:ln/>
        </p:spPr>
        <p:txBody>
          <a:bodyPr wrap="square" lIns="0" tIns="0" rIns="0" bIns="0" rtlCol="0" anchor="t"/>
          <a:lstStyle/>
          <a:p>
            <a:pPr indent="0" marL="0">
              <a:buNone/>
            </a:pPr>
            <a:r>
              <a:rPr lang="en-US" sz="4800" b="1" dirty="0">
                <a:solidFill>
                  <a:schemeClr val="accent6"/>
                </a:solidFill>
                <a:latin typeface="+mj-lt" pitchFamily="34" charset="0"/>
                <a:ea typeface="+mj-lt" pitchFamily="34" charset="-122"/>
                <a:cs typeface="+mj-lt" pitchFamily="34" charset="-120"/>
              </a:rPr>
              <a:t>3</a:t>
            </a:r>
            <a:endParaRPr lang="en-US" sz="4800" dirty="0"/>
          </a:p>
        </p:txBody>
      </p:sp>
      <p:sp>
        <p:nvSpPr>
          <p:cNvPr id="9" name="Text 7"/>
          <p:cNvSpPr txBox="1"/>
          <p:nvPr/>
        </p:nvSpPr>
        <p:spPr>
          <a:xfrm>
            <a:off x="1417320" y="4800600"/>
            <a:ext cx="5303520" cy="132588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Escalable en Oracle 23ai</a:t>
            </a:r>
            <a:endParaRPr lang="en-US" sz="2000" dirty="0"/>
          </a:p>
          <a:p>
            <a:pPr indent="0" marL="0">
              <a:buNone/>
            </a:pPr>
            <a:r>
              <a:rPr lang="en-US" sz="1500" dirty="0">
                <a:solidFill>
                  <a:schemeClr val="bg2"/>
                </a:solidFill>
              </a:rPr>
              <a:t>Listo para los 155 municipios en cuanto la Comunidad de Madrid incorpore los registros internos de centros y plazas.</a:t>
            </a:r>
            <a:endParaRPr lang="en-US" sz="2000" dirty="0"/>
          </a:p>
        </p:txBody>
      </p:sp>
      <p:sp>
        <p:nvSpPr>
          <p:cNvPr id="10" name="Cita final"/>
          <p:cNvSpPr/>
          <p:nvPr/>
        </p:nvSpPr>
        <p:spPr>
          <a:xfrm>
            <a:off x="7223760" y="1828800"/>
            <a:ext cx="4325112" cy="4297680"/>
          </a:xfrm>
          <a:prstGeom prst="roundRect">
            <a:avLst>
              <a:gd name="adj" fmla="val 2128"/>
            </a:avLst>
          </a:prstGeom>
          <a:solidFill>
            <a:schemeClr val="tx2"/>
          </a:solidFill>
          <a:ln/>
        </p:spPr>
      </p:sp>
      <p:sp>
        <p:nvSpPr>
          <p:cNvPr id="11" name="Text 9"/>
          <p:cNvSpPr txBox="1"/>
          <p:nvPr/>
        </p:nvSpPr>
        <p:spPr>
          <a:xfrm>
            <a:off x="7589520" y="2194560"/>
            <a:ext cx="3611880" cy="3566160"/>
          </a:xfrm>
          <a:prstGeom prst="rect">
            <a:avLst/>
          </a:prstGeom>
          <a:noFill/>
          <a:ln/>
        </p:spPr>
        <p:txBody>
          <a:bodyPr wrap="square" lIns="0" tIns="0" rIns="0" bIns="0" rtlCol="0" anchor="ctr"/>
          <a:lstStyle/>
          <a:p>
            <a:pPr indent="0" marL="0">
              <a:buNone/>
            </a:pPr>
            <a:r>
              <a:rPr lang="en-US" sz="2200" i="1" dirty="0">
                <a:solidFill>
                  <a:schemeClr val="bg1"/>
                </a:solidFill>
                <a:latin typeface="+mj-lt" pitchFamily="34" charset="0"/>
                <a:ea typeface="+mj-lt" pitchFamily="34" charset="-122"/>
                <a:cs typeface="+mj-lt" pitchFamily="34" charset="-120"/>
              </a:rPr>
              <a:t>«No venimos a decir que nuestro índice predice el futuro: venimos a demostrar cuánto acierta, para qué sirve y cómo optimiza cada euro público invertido en la Comunidad de Madrid.»</a:t>
            </a:r>
            <a:endParaRPr lang="en-US" sz="22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ANEXO METODOLÓGICO</a:t>
            </a:r>
            <a:endParaRPr lang="en-US" sz="1200" dirty="0"/>
          </a:p>
        </p:txBody>
      </p:sp>
      <p:sp>
        <p:nvSpPr>
          <p:cNvPr id="3" name="Text 0"/>
          <p:cNvSpPr/>
          <p:nvPr>
            <p:ph idx="101" type="title" hasCustomPrompt="1"/>
          </p:nvPr>
        </p:nvSpPr>
        <p:spPr>
          <a:xfrm>
            <a:off x="640080" y="777240"/>
            <a:ext cx="10908792" cy="594360"/>
          </a:xfrm>
          <a:prstGeom prst="rect">
            <a:avLst/>
          </a:prstGeom>
          <a:noFill/>
          <a:ln/>
        </p:spPr>
        <p:txBody>
          <a:bodyPr wrap="square" lIns="0" tIns="0" rIns="0" bIns="0" rtlCol="0" anchor="t"/>
          <a:lstStyle/>
          <a:p>
            <a:pPr algn="l" indent="0" marL="0">
              <a:buNone/>
            </a:pPr>
            <a:r>
              <a:rPr lang="en-US" sz="3200" b="1" dirty="0">
                <a:solidFill>
                  <a:schemeClr val="tx1"/>
                </a:solidFill>
              </a:rPr>
              <a:t>Anexo: preguntas que puede hacer el jurado</a:t>
            </a:r>
            <a:endParaRPr lang="en-US" sz="3200" dirty="0"/>
          </a:p>
        </p:txBody>
      </p:sp>
      <p:sp>
        <p:nvSpPr>
          <p:cNvPr id="4" name="Text 2"/>
          <p:cNvSpPr txBox="1"/>
          <p:nvPr/>
        </p:nvSpPr>
        <p:spPr>
          <a:xfrm>
            <a:off x="640080" y="1371600"/>
            <a:ext cx="10908792" cy="365760"/>
          </a:xfrm>
          <a:prstGeom prst="rect">
            <a:avLst/>
          </a:prstGeom>
          <a:noFill/>
          <a:ln/>
        </p:spPr>
        <p:txBody>
          <a:bodyPr wrap="square" lIns="0" tIns="0" rIns="0" bIns="0" rtlCol="0" anchor="t"/>
          <a:lstStyle/>
          <a:p>
            <a:pPr indent="0" marL="0">
              <a:buNone/>
            </a:pPr>
            <a:r>
              <a:rPr lang="en-US" sz="1600" dirty="0">
                <a:solidFill>
                  <a:schemeClr val="tx2"/>
                </a:solidFill>
              </a:rPr>
              <a:t>Respuestas técnicas a las preguntas más probables</a:t>
            </a:r>
            <a:endParaRPr lang="en-US" sz="1600" dirty="0"/>
          </a:p>
        </p:txBody>
      </p:sp>
      <p:sp>
        <p:nvSpPr>
          <p:cNvPr id="5" name="Pregunta"/>
          <p:cNvSpPr/>
          <p:nvPr/>
        </p:nvSpPr>
        <p:spPr>
          <a:xfrm>
            <a:off x="640080" y="1965960"/>
            <a:ext cx="5349240" cy="2011680"/>
          </a:xfrm>
          <a:prstGeom prst="roundRect">
            <a:avLst>
              <a:gd name="adj" fmla="val 4545"/>
            </a:avLst>
          </a:prstGeom>
          <a:solidFill>
            <a:schemeClr val="bg2"/>
          </a:solidFill>
          <a:ln/>
        </p:spPr>
      </p:sp>
      <p:sp>
        <p:nvSpPr>
          <p:cNvPr id="6" name="Text 4"/>
          <p:cNvSpPr txBox="1"/>
          <p:nvPr/>
        </p:nvSpPr>
        <p:spPr>
          <a:xfrm>
            <a:off x="914400" y="2194560"/>
            <a:ext cx="4800600" cy="36576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¿Cómo sé que el índice sirve?</a:t>
            </a:r>
            <a:endParaRPr lang="en-US" sz="1800" dirty="0"/>
          </a:p>
        </p:txBody>
      </p:sp>
      <p:sp>
        <p:nvSpPr>
          <p:cNvPr id="7" name="Text 5"/>
          <p:cNvSpPr txBox="1"/>
          <p:nvPr/>
        </p:nvSpPr>
        <p:spPr>
          <a:xfrm>
            <a:off x="914400" y="2697480"/>
            <a:ext cx="4800600" cy="1188720"/>
          </a:xfrm>
          <a:prstGeom prst="rect">
            <a:avLst/>
          </a:prstGeom>
          <a:noFill/>
          <a:ln/>
        </p:spPr>
        <p:txBody>
          <a:bodyPr wrap="square" lIns="0" tIns="0" rIns="0" bIns="0" rtlCol="0" anchor="t"/>
          <a:lstStyle/>
          <a:p>
            <a:pPr indent="0" marL="0">
              <a:buNone/>
            </a:pPr>
            <a:r>
              <a:rPr lang="en-US" sz="1500" dirty="0">
                <a:solidFill>
                  <a:schemeClr val="tx2"/>
                </a:solidFill>
              </a:rPr>
              <a:t>Mide capacidad de carga, no atractivo residencial. Contrastado con el crecimiento real, los pueblos que más crecen son los que ya están saturados, lo que justifica intervenir.</a:t>
            </a:r>
            <a:endParaRPr lang="en-US" sz="1500" dirty="0"/>
          </a:p>
        </p:txBody>
      </p:sp>
      <p:sp>
        <p:nvSpPr>
          <p:cNvPr id="8" name="Pregunta"/>
          <p:cNvSpPr/>
          <p:nvPr/>
        </p:nvSpPr>
        <p:spPr>
          <a:xfrm>
            <a:off x="6199632" y="1965960"/>
            <a:ext cx="5349240" cy="2011680"/>
          </a:xfrm>
          <a:prstGeom prst="roundRect">
            <a:avLst>
              <a:gd name="adj" fmla="val 4545"/>
            </a:avLst>
          </a:prstGeom>
          <a:solidFill>
            <a:schemeClr val="bg2"/>
          </a:solidFill>
          <a:ln/>
        </p:spPr>
      </p:sp>
      <p:sp>
        <p:nvSpPr>
          <p:cNvPr id="9" name="Text 7"/>
          <p:cNvSpPr txBox="1"/>
          <p:nvPr/>
        </p:nvSpPr>
        <p:spPr>
          <a:xfrm>
            <a:off x="6473952" y="2194560"/>
            <a:ext cx="4800600" cy="36576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¿Son fiables las proyecciones demográficas?</a:t>
            </a:r>
            <a:endParaRPr lang="en-US" sz="1800" dirty="0"/>
          </a:p>
        </p:txBody>
      </p:sp>
      <p:sp>
        <p:nvSpPr>
          <p:cNvPr id="10" name="Text 8"/>
          <p:cNvSpPr txBox="1"/>
          <p:nvPr/>
        </p:nvSpPr>
        <p:spPr>
          <a:xfrm>
            <a:off x="6473952" y="2697480"/>
            <a:ext cx="4800600" cy="1188720"/>
          </a:xfrm>
          <a:prstGeom prst="rect">
            <a:avLst/>
          </a:prstGeom>
          <a:noFill/>
          <a:ln/>
        </p:spPr>
        <p:txBody>
          <a:bodyPr wrap="square" lIns="0" tIns="0" rIns="0" bIns="0" rtlCol="0" anchor="t"/>
          <a:lstStyle/>
          <a:p>
            <a:pPr indent="0" marL="0">
              <a:buNone/>
            </a:pPr>
            <a:r>
              <a:rPr lang="en-US" sz="1500" dirty="0">
                <a:solidFill>
                  <a:schemeClr val="tx2"/>
                </a:solidFill>
              </a:rPr>
              <a:t>Error mediano del 1,55% a 5 años en ventanas históricas (INE 2015-2025), frente al 7,02% de suponer que nada cambia.</a:t>
            </a:r>
            <a:endParaRPr lang="en-US" sz="1500" dirty="0"/>
          </a:p>
        </p:txBody>
      </p:sp>
      <p:sp>
        <p:nvSpPr>
          <p:cNvPr id="11" name="Pregunta"/>
          <p:cNvSpPr/>
          <p:nvPr/>
        </p:nvSpPr>
        <p:spPr>
          <a:xfrm>
            <a:off x="640080" y="4160520"/>
            <a:ext cx="5349240" cy="2011680"/>
          </a:xfrm>
          <a:prstGeom prst="roundRect">
            <a:avLst>
              <a:gd name="adj" fmla="val 4545"/>
            </a:avLst>
          </a:prstGeom>
          <a:solidFill>
            <a:schemeClr val="bg2"/>
          </a:solidFill>
          <a:ln/>
        </p:spPr>
      </p:sp>
      <p:sp>
        <p:nvSpPr>
          <p:cNvPr id="12" name="Text 10"/>
          <p:cNvSpPr txBox="1"/>
          <p:nvPr/>
        </p:nvSpPr>
        <p:spPr>
          <a:xfrm>
            <a:off x="914400" y="4389120"/>
            <a:ext cx="4800600" cy="36576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¿Por qué no usáis deep learning?</a:t>
            </a:r>
            <a:endParaRPr lang="en-US" sz="1800" dirty="0"/>
          </a:p>
        </p:txBody>
      </p:sp>
      <p:sp>
        <p:nvSpPr>
          <p:cNvPr id="13" name="Text 11"/>
          <p:cNvSpPr txBox="1"/>
          <p:nvPr/>
        </p:nvSpPr>
        <p:spPr>
          <a:xfrm>
            <a:off x="914400" y="4892040"/>
            <a:ext cx="4800600" cy="1188720"/>
          </a:xfrm>
          <a:prstGeom prst="rect">
            <a:avLst/>
          </a:prstGeom>
          <a:noFill/>
          <a:ln/>
        </p:spPr>
        <p:txBody>
          <a:bodyPr wrap="square" lIns="0" tIns="0" rIns="0" bIns="0" rtlCol="0" anchor="t"/>
          <a:lstStyle/>
          <a:p>
            <a:pPr indent="0" marL="0">
              <a:buNone/>
            </a:pPr>
            <a:r>
              <a:rPr lang="en-US" sz="1500" dirty="0">
                <a:solidFill>
                  <a:schemeClr val="tx2"/>
                </a:solidFill>
              </a:rPr>
              <a:t>Con 20 municipios y sin etiquetas arbitrarias, una red neuronal sobreajustaría. Usamos árboles regularizados exportados a ONNX con tolerancia &lt; 1e-6.</a:t>
            </a:r>
            <a:endParaRPr lang="en-US" sz="1500" dirty="0"/>
          </a:p>
        </p:txBody>
      </p:sp>
      <p:sp>
        <p:nvSpPr>
          <p:cNvPr id="14" name="Pregunta"/>
          <p:cNvSpPr/>
          <p:nvPr/>
        </p:nvSpPr>
        <p:spPr>
          <a:xfrm>
            <a:off x="6199632" y="4160520"/>
            <a:ext cx="5349240" cy="2011680"/>
          </a:xfrm>
          <a:prstGeom prst="roundRect">
            <a:avLst>
              <a:gd name="adj" fmla="val 4545"/>
            </a:avLst>
          </a:prstGeom>
          <a:solidFill>
            <a:schemeClr val="bg2"/>
          </a:solidFill>
          <a:ln/>
        </p:spPr>
      </p:sp>
      <p:sp>
        <p:nvSpPr>
          <p:cNvPr id="15" name="Text 13"/>
          <p:cNvSpPr txBox="1"/>
          <p:nvPr/>
        </p:nvSpPr>
        <p:spPr>
          <a:xfrm>
            <a:off x="6473952" y="4389120"/>
            <a:ext cx="4800600" cy="36576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¿Qué no habéis validado?</a:t>
            </a:r>
            <a:endParaRPr lang="en-US" sz="1800" dirty="0"/>
          </a:p>
        </p:txBody>
      </p:sp>
      <p:sp>
        <p:nvSpPr>
          <p:cNvPr id="16" name="Text 14"/>
          <p:cNvSpPr txBox="1"/>
          <p:nvPr/>
        </p:nvSpPr>
        <p:spPr>
          <a:xfrm>
            <a:off x="6473952" y="4892040"/>
            <a:ext cx="4800600" cy="1188720"/>
          </a:xfrm>
          <a:prstGeom prst="rect">
            <a:avLst/>
          </a:prstGeom>
          <a:noFill/>
          <a:ln/>
        </p:spPr>
        <p:txBody>
          <a:bodyPr wrap="square" lIns="0" tIns="0" rIns="0" bIns="0" rtlCol="0" anchor="t"/>
          <a:lstStyle/>
          <a:p>
            <a:pPr indent="0" marL="0">
              <a:buNone/>
            </a:pPr>
            <a:r>
              <a:rPr lang="en-US" sz="1500" dirty="0">
                <a:solidFill>
                  <a:schemeClr val="tx2"/>
                </a:solidFill>
              </a:rPr>
              <a:t>Que el índice anticipe por sí solo el crecimiento espontáneo (ρ = 0,10). No lo afirmamos: mide capacidad dotacional objetiva.</a:t>
            </a:r>
            <a:endParaRPr lang="en-US" sz="1500" dirty="0"/>
          </a:p>
        </p:txBody>
      </p:sp>
      <p:sp>
        <p:nvSpPr>
          <p:cNvPr id="25" name="Slide Number Placeholder 0"/>
          <p:cNvSpPr>
            <a:spLocks noGrp="1"/>
          </p:cNvSpPr>
          <p:nvPr>
            <p:ph type="sldNum" sz="quarter" idx="4294967295"/>
          </p:nvPr>
        </p:nvSpPr>
        <p:spPr>
          <a:xfrm>
            <a:off x="10634472" y="640080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731520"/>
            <a:ext cx="6400800" cy="274320"/>
          </a:xfrm>
          <a:prstGeom prst="rect">
            <a:avLst/>
          </a:prstGeom>
          <a:noFill/>
          <a:ln/>
        </p:spPr>
        <p:txBody>
          <a:bodyPr wrap="square" lIns="0" tIns="0" rIns="0" bIns="0" rtlCol="0" anchor="t"/>
          <a:lstStyle/>
          <a:p>
            <a:pPr algn="l" indent="0" marL="0">
              <a:buNone/>
            </a:pPr>
            <a:r>
              <a:rPr lang="en-US" sz="1200" b="1" spc="300" kern="0" dirty="0">
                <a:solidFill>
                  <a:schemeClr val="accent5"/>
                </a:solidFill>
              </a:rPr>
              <a:t>II DATATHON LODCOREMADRID 2026</a:t>
            </a:r>
            <a:endParaRPr lang="en-US" sz="1200" dirty="0"/>
          </a:p>
        </p:txBody>
      </p:sp>
      <p:sp>
        <p:nvSpPr>
          <p:cNvPr id="3" name="Text 0"/>
          <p:cNvSpPr/>
          <p:nvPr>
            <p:ph idx="101" type="title" hasCustomPrompt="1"/>
          </p:nvPr>
        </p:nvSpPr>
        <p:spPr>
          <a:xfrm>
            <a:off x="731520" y="1325880"/>
            <a:ext cx="6583680" cy="1005840"/>
          </a:xfrm>
          <a:prstGeom prst="rect">
            <a:avLst/>
          </a:prstGeom>
          <a:noFill/>
          <a:ln/>
        </p:spPr>
        <p:txBody>
          <a:bodyPr wrap="square" lIns="0" tIns="0" rIns="0" bIns="0" rtlCol="0" anchor="t"/>
          <a:lstStyle/>
          <a:p>
            <a:pPr algn="l" indent="0" marL="0">
              <a:buNone/>
            </a:pPr>
            <a:r>
              <a:rPr lang="en-US" sz="6000" b="1" dirty="0">
                <a:solidFill>
                  <a:schemeClr val="bg1"/>
                </a:solidFill>
              </a:rPr>
              <a:t>Muchas gracias</a:t>
            </a:r>
            <a:endParaRPr lang="en-US" sz="6000" dirty="0"/>
          </a:p>
        </p:txBody>
      </p:sp>
      <p:sp>
        <p:nvSpPr>
          <p:cNvPr id="4" name="Text 2"/>
          <p:cNvSpPr txBox="1"/>
          <p:nvPr/>
        </p:nvSpPr>
        <p:spPr>
          <a:xfrm>
            <a:off x="731520" y="2377440"/>
            <a:ext cx="6400800" cy="548640"/>
          </a:xfrm>
          <a:prstGeom prst="rect">
            <a:avLst/>
          </a:prstGeom>
          <a:noFill/>
          <a:ln/>
        </p:spPr>
        <p:txBody>
          <a:bodyPr wrap="square" lIns="0" tIns="0" rIns="0" bIns="0" rtlCol="0" anchor="t"/>
          <a:lstStyle/>
          <a:p>
            <a:pPr indent="0" marL="0">
              <a:buNone/>
            </a:pPr>
            <a:r>
              <a:rPr lang="en-US" sz="3000" i="1" dirty="0">
                <a:solidFill>
                  <a:schemeClr val="accent6"/>
                </a:solidFill>
                <a:latin typeface="+mj-lt" pitchFamily="34" charset="0"/>
                <a:ea typeface="+mj-lt" pitchFamily="34" charset="-122"/>
                <a:cs typeface="+mj-lt" pitchFamily="34" charset="-120"/>
              </a:rPr>
              <a:t>¿Preguntas?</a:t>
            </a:r>
            <a:endParaRPr lang="en-US" sz="3000" dirty="0"/>
          </a:p>
        </p:txBody>
      </p:sp>
      <p:sp>
        <p:nvSpPr>
          <p:cNvPr id="5" name="Text 3"/>
          <p:cNvSpPr txBox="1"/>
          <p:nvPr/>
        </p:nvSpPr>
        <p:spPr>
          <a:xfrm>
            <a:off x="731520" y="3931920"/>
            <a:ext cx="6583680" cy="320040"/>
          </a:xfrm>
          <a:prstGeom prst="rect">
            <a:avLst/>
          </a:prstGeom>
          <a:noFill/>
          <a:ln/>
        </p:spPr>
        <p:txBody>
          <a:bodyPr wrap="square" lIns="0" tIns="0" rIns="0" bIns="0" rtlCol="0" anchor="t"/>
          <a:lstStyle/>
          <a:p>
            <a:pPr indent="0" marL="0">
              <a:buNone/>
            </a:pPr>
            <a:r>
              <a:rPr lang="en-US" sz="1800" b="1" dirty="0">
                <a:solidFill>
                  <a:schemeClr val="bg1"/>
                </a:solidFill>
              </a:rPr>
              <a:t>MadridNext: capacidad de acogida territorial</a:t>
            </a:r>
            <a:endParaRPr lang="en-US" sz="1800" dirty="0"/>
          </a:p>
        </p:txBody>
      </p:sp>
      <p:sp>
        <p:nvSpPr>
          <p:cNvPr id="6" name="Text 4"/>
          <p:cNvSpPr txBox="1"/>
          <p:nvPr/>
        </p:nvSpPr>
        <p:spPr>
          <a:xfrm>
            <a:off x="731520" y="4389120"/>
            <a:ext cx="6766560" cy="274320"/>
          </a:xfrm>
          <a:prstGeom prst="rect">
            <a:avLst/>
          </a:prstGeom>
          <a:noFill/>
          <a:ln/>
        </p:spPr>
        <p:txBody>
          <a:bodyPr wrap="square" lIns="0" tIns="0" rIns="0" bIns="0" rtlCol="0" anchor="t"/>
          <a:lstStyle/>
          <a:p>
            <a:pPr indent="0" marL="0">
              <a:buNone/>
            </a:pPr>
            <a:r>
              <a:rPr lang="en-US" sz="1400" dirty="0">
                <a:solidFill>
                  <a:schemeClr val="bg2"/>
                </a:solidFill>
              </a:rPr>
              <a:t>Adrián Hernando Muñoz   ·   Juan Torrero de Pablo   ·   Alejandro Cuntin Bariteau</a:t>
            </a:r>
            <a:endParaRPr lang="en-US" sz="1400" dirty="0"/>
          </a:p>
        </p:txBody>
      </p:sp>
      <p:sp>
        <p:nvSpPr>
          <p:cNvPr id="7" name="Text 5"/>
          <p:cNvSpPr txBox="1"/>
          <p:nvPr/>
        </p:nvSpPr>
        <p:spPr>
          <a:xfrm>
            <a:off x="731520" y="5989320"/>
            <a:ext cx="6400800" cy="274320"/>
          </a:xfrm>
          <a:prstGeom prst="rect">
            <a:avLst/>
          </a:prstGeom>
          <a:noFill/>
          <a:ln/>
        </p:spPr>
        <p:txBody>
          <a:bodyPr wrap="square" lIns="0" tIns="0" rIns="0" bIns="0" rtlCol="0" anchor="t"/>
          <a:lstStyle/>
          <a:p>
            <a:pPr indent="0" marL="0">
              <a:buNone/>
            </a:pPr>
            <a:r>
              <a:rPr lang="en-US" sz="1200" dirty="0">
                <a:solidFill>
                  <a:schemeClr val="accent5"/>
                </a:solidFill>
              </a:rPr>
              <a:t>Universidad Carlos III de Madrid  ·  Comunidad de Madrid</a:t>
            </a:r>
            <a:endParaRPr lang="en-US" sz="1200" dirty="0"/>
          </a:p>
        </p:txBody>
      </p:sp>
      <p:sp>
        <p:nvSpPr>
          <p:cNvPr id="8" name="Municipio"/>
          <p:cNvSpPr/>
          <p:nvPr/>
        </p:nvSpPr>
        <p:spPr>
          <a:xfrm>
            <a:off x="7818120" y="1051560"/>
            <a:ext cx="155448" cy="155448"/>
          </a:xfrm>
          <a:prstGeom prst="ellipse">
            <a:avLst/>
          </a:prstGeom>
          <a:solidFill>
            <a:srgbClr val="98A2B3">
              <a:alpha val="45000"/>
            </a:srgbClr>
          </a:solidFill>
          <a:ln/>
        </p:spPr>
      </p:sp>
      <p:sp>
        <p:nvSpPr>
          <p:cNvPr id="9" name="Municipio"/>
          <p:cNvSpPr/>
          <p:nvPr/>
        </p:nvSpPr>
        <p:spPr>
          <a:xfrm>
            <a:off x="8129016" y="1051560"/>
            <a:ext cx="155448" cy="155448"/>
          </a:xfrm>
          <a:prstGeom prst="ellipse">
            <a:avLst/>
          </a:prstGeom>
          <a:solidFill>
            <a:srgbClr val="98A2B3">
              <a:alpha val="45000"/>
            </a:srgbClr>
          </a:solidFill>
          <a:ln/>
        </p:spPr>
      </p:sp>
      <p:sp>
        <p:nvSpPr>
          <p:cNvPr id="10" name="Municipio"/>
          <p:cNvSpPr/>
          <p:nvPr/>
        </p:nvSpPr>
        <p:spPr>
          <a:xfrm>
            <a:off x="8439912" y="1051560"/>
            <a:ext cx="155448" cy="155448"/>
          </a:xfrm>
          <a:prstGeom prst="ellipse">
            <a:avLst/>
          </a:prstGeom>
          <a:solidFill>
            <a:srgbClr val="98A2B3">
              <a:alpha val="45000"/>
            </a:srgbClr>
          </a:solidFill>
          <a:ln/>
        </p:spPr>
      </p:sp>
      <p:sp>
        <p:nvSpPr>
          <p:cNvPr id="11" name="Municipio"/>
          <p:cNvSpPr/>
          <p:nvPr/>
        </p:nvSpPr>
        <p:spPr>
          <a:xfrm>
            <a:off x="8750808" y="1051560"/>
            <a:ext cx="155448" cy="155448"/>
          </a:xfrm>
          <a:prstGeom prst="ellipse">
            <a:avLst/>
          </a:prstGeom>
          <a:solidFill>
            <a:srgbClr val="98A2B3">
              <a:alpha val="45000"/>
            </a:srgbClr>
          </a:solidFill>
          <a:ln/>
        </p:spPr>
      </p:sp>
      <p:sp>
        <p:nvSpPr>
          <p:cNvPr id="12" name="Municipio"/>
          <p:cNvSpPr/>
          <p:nvPr/>
        </p:nvSpPr>
        <p:spPr>
          <a:xfrm>
            <a:off x="9061704" y="1051560"/>
            <a:ext cx="155448" cy="155448"/>
          </a:xfrm>
          <a:prstGeom prst="ellipse">
            <a:avLst/>
          </a:prstGeom>
          <a:solidFill>
            <a:srgbClr val="98A2B3">
              <a:alpha val="45000"/>
            </a:srgbClr>
          </a:solidFill>
          <a:ln/>
        </p:spPr>
      </p:sp>
      <p:sp>
        <p:nvSpPr>
          <p:cNvPr id="13" name="Municipio piloto"/>
          <p:cNvSpPr/>
          <p:nvPr/>
        </p:nvSpPr>
        <p:spPr>
          <a:xfrm>
            <a:off x="9372600" y="1051560"/>
            <a:ext cx="155448" cy="155448"/>
          </a:xfrm>
          <a:prstGeom prst="ellipse">
            <a:avLst/>
          </a:prstGeom>
          <a:solidFill>
            <a:schemeClr val="accent6"/>
          </a:solidFill>
          <a:ln/>
        </p:spPr>
      </p:sp>
      <p:sp>
        <p:nvSpPr>
          <p:cNvPr id="14" name="Municipio"/>
          <p:cNvSpPr/>
          <p:nvPr/>
        </p:nvSpPr>
        <p:spPr>
          <a:xfrm>
            <a:off x="9683496" y="1051560"/>
            <a:ext cx="155448" cy="155448"/>
          </a:xfrm>
          <a:prstGeom prst="ellipse">
            <a:avLst/>
          </a:prstGeom>
          <a:solidFill>
            <a:srgbClr val="98A2B3">
              <a:alpha val="45000"/>
            </a:srgbClr>
          </a:solidFill>
          <a:ln/>
        </p:spPr>
      </p:sp>
      <p:sp>
        <p:nvSpPr>
          <p:cNvPr id="15" name="Municipio"/>
          <p:cNvSpPr/>
          <p:nvPr/>
        </p:nvSpPr>
        <p:spPr>
          <a:xfrm>
            <a:off x="9994392" y="1051560"/>
            <a:ext cx="155448" cy="155448"/>
          </a:xfrm>
          <a:prstGeom prst="ellipse">
            <a:avLst/>
          </a:prstGeom>
          <a:solidFill>
            <a:srgbClr val="98A2B3">
              <a:alpha val="45000"/>
            </a:srgbClr>
          </a:solidFill>
          <a:ln/>
        </p:spPr>
      </p:sp>
      <p:sp>
        <p:nvSpPr>
          <p:cNvPr id="16" name="Municipio"/>
          <p:cNvSpPr/>
          <p:nvPr/>
        </p:nvSpPr>
        <p:spPr>
          <a:xfrm>
            <a:off x="10305288" y="1051560"/>
            <a:ext cx="155448" cy="155448"/>
          </a:xfrm>
          <a:prstGeom prst="ellipse">
            <a:avLst/>
          </a:prstGeom>
          <a:solidFill>
            <a:srgbClr val="98A2B3">
              <a:alpha val="45000"/>
            </a:srgbClr>
          </a:solidFill>
          <a:ln/>
        </p:spPr>
      </p:sp>
      <p:sp>
        <p:nvSpPr>
          <p:cNvPr id="17" name="Municipio"/>
          <p:cNvSpPr/>
          <p:nvPr/>
        </p:nvSpPr>
        <p:spPr>
          <a:xfrm>
            <a:off x="10616184" y="1051560"/>
            <a:ext cx="155448" cy="155448"/>
          </a:xfrm>
          <a:prstGeom prst="ellipse">
            <a:avLst/>
          </a:prstGeom>
          <a:solidFill>
            <a:srgbClr val="98A2B3">
              <a:alpha val="45000"/>
            </a:srgbClr>
          </a:solidFill>
          <a:ln/>
        </p:spPr>
      </p:sp>
      <p:sp>
        <p:nvSpPr>
          <p:cNvPr id="18" name="Municipio"/>
          <p:cNvSpPr/>
          <p:nvPr/>
        </p:nvSpPr>
        <p:spPr>
          <a:xfrm>
            <a:off x="10927080" y="1051560"/>
            <a:ext cx="155448" cy="155448"/>
          </a:xfrm>
          <a:prstGeom prst="ellipse">
            <a:avLst/>
          </a:prstGeom>
          <a:solidFill>
            <a:srgbClr val="98A2B3">
              <a:alpha val="45000"/>
            </a:srgbClr>
          </a:solidFill>
          <a:ln/>
        </p:spPr>
      </p:sp>
      <p:sp>
        <p:nvSpPr>
          <p:cNvPr id="19" name="Municipio"/>
          <p:cNvSpPr/>
          <p:nvPr/>
        </p:nvSpPr>
        <p:spPr>
          <a:xfrm>
            <a:off x="11237976" y="1051560"/>
            <a:ext cx="155448" cy="155448"/>
          </a:xfrm>
          <a:prstGeom prst="ellipse">
            <a:avLst/>
          </a:prstGeom>
          <a:solidFill>
            <a:srgbClr val="98A2B3">
              <a:alpha val="45000"/>
            </a:srgbClr>
          </a:solidFill>
          <a:ln/>
        </p:spPr>
      </p:sp>
      <p:sp>
        <p:nvSpPr>
          <p:cNvPr id="20" name="Municipio"/>
          <p:cNvSpPr/>
          <p:nvPr/>
        </p:nvSpPr>
        <p:spPr>
          <a:xfrm>
            <a:off x="11548872" y="1051560"/>
            <a:ext cx="155448" cy="155448"/>
          </a:xfrm>
          <a:prstGeom prst="ellipse">
            <a:avLst/>
          </a:prstGeom>
          <a:solidFill>
            <a:srgbClr val="98A2B3">
              <a:alpha val="45000"/>
            </a:srgbClr>
          </a:solidFill>
          <a:ln/>
        </p:spPr>
      </p:sp>
      <p:sp>
        <p:nvSpPr>
          <p:cNvPr id="21" name="Municipio"/>
          <p:cNvSpPr/>
          <p:nvPr/>
        </p:nvSpPr>
        <p:spPr>
          <a:xfrm>
            <a:off x="7818120" y="1417320"/>
            <a:ext cx="155448" cy="155448"/>
          </a:xfrm>
          <a:prstGeom prst="ellipse">
            <a:avLst/>
          </a:prstGeom>
          <a:solidFill>
            <a:srgbClr val="98A2B3">
              <a:alpha val="45000"/>
            </a:srgbClr>
          </a:solidFill>
          <a:ln/>
        </p:spPr>
      </p:sp>
      <p:sp>
        <p:nvSpPr>
          <p:cNvPr id="22" name="Municipio"/>
          <p:cNvSpPr/>
          <p:nvPr/>
        </p:nvSpPr>
        <p:spPr>
          <a:xfrm>
            <a:off x="8129016" y="1417320"/>
            <a:ext cx="155448" cy="155448"/>
          </a:xfrm>
          <a:prstGeom prst="ellipse">
            <a:avLst/>
          </a:prstGeom>
          <a:solidFill>
            <a:srgbClr val="98A2B3">
              <a:alpha val="45000"/>
            </a:srgbClr>
          </a:solidFill>
          <a:ln/>
        </p:spPr>
      </p:sp>
      <p:sp>
        <p:nvSpPr>
          <p:cNvPr id="23" name="Municipio"/>
          <p:cNvSpPr/>
          <p:nvPr/>
        </p:nvSpPr>
        <p:spPr>
          <a:xfrm>
            <a:off x="8439912" y="1417320"/>
            <a:ext cx="155448" cy="155448"/>
          </a:xfrm>
          <a:prstGeom prst="ellipse">
            <a:avLst/>
          </a:prstGeom>
          <a:solidFill>
            <a:srgbClr val="98A2B3">
              <a:alpha val="45000"/>
            </a:srgbClr>
          </a:solidFill>
          <a:ln/>
        </p:spPr>
      </p:sp>
      <p:sp>
        <p:nvSpPr>
          <p:cNvPr id="24" name="Municipio"/>
          <p:cNvSpPr/>
          <p:nvPr/>
        </p:nvSpPr>
        <p:spPr>
          <a:xfrm>
            <a:off x="8750808" y="1417320"/>
            <a:ext cx="155448" cy="155448"/>
          </a:xfrm>
          <a:prstGeom prst="ellipse">
            <a:avLst/>
          </a:prstGeom>
          <a:solidFill>
            <a:srgbClr val="98A2B3">
              <a:alpha val="45000"/>
            </a:srgbClr>
          </a:solidFill>
          <a:ln/>
        </p:spPr>
      </p:sp>
      <p:sp>
        <p:nvSpPr>
          <p:cNvPr id="25" name="Municipio"/>
          <p:cNvSpPr/>
          <p:nvPr/>
        </p:nvSpPr>
        <p:spPr>
          <a:xfrm>
            <a:off x="9061704" y="1417320"/>
            <a:ext cx="155448" cy="155448"/>
          </a:xfrm>
          <a:prstGeom prst="ellipse">
            <a:avLst/>
          </a:prstGeom>
          <a:solidFill>
            <a:srgbClr val="98A2B3">
              <a:alpha val="45000"/>
            </a:srgbClr>
          </a:solidFill>
          <a:ln/>
        </p:spPr>
      </p:sp>
      <p:sp>
        <p:nvSpPr>
          <p:cNvPr id="26" name="Municipio"/>
          <p:cNvSpPr/>
          <p:nvPr/>
        </p:nvSpPr>
        <p:spPr>
          <a:xfrm>
            <a:off x="9372600" y="1417320"/>
            <a:ext cx="155448" cy="155448"/>
          </a:xfrm>
          <a:prstGeom prst="ellipse">
            <a:avLst/>
          </a:prstGeom>
          <a:solidFill>
            <a:srgbClr val="98A2B3">
              <a:alpha val="45000"/>
            </a:srgbClr>
          </a:solidFill>
          <a:ln/>
        </p:spPr>
      </p:sp>
      <p:sp>
        <p:nvSpPr>
          <p:cNvPr id="27" name="Municipio"/>
          <p:cNvSpPr/>
          <p:nvPr/>
        </p:nvSpPr>
        <p:spPr>
          <a:xfrm>
            <a:off x="9683496" y="1417320"/>
            <a:ext cx="155448" cy="155448"/>
          </a:xfrm>
          <a:prstGeom prst="ellipse">
            <a:avLst/>
          </a:prstGeom>
          <a:solidFill>
            <a:srgbClr val="98A2B3">
              <a:alpha val="45000"/>
            </a:srgbClr>
          </a:solidFill>
          <a:ln/>
        </p:spPr>
      </p:sp>
      <p:sp>
        <p:nvSpPr>
          <p:cNvPr id="28" name="Municipio"/>
          <p:cNvSpPr/>
          <p:nvPr/>
        </p:nvSpPr>
        <p:spPr>
          <a:xfrm>
            <a:off x="9994392" y="1417320"/>
            <a:ext cx="155448" cy="155448"/>
          </a:xfrm>
          <a:prstGeom prst="ellipse">
            <a:avLst/>
          </a:prstGeom>
          <a:solidFill>
            <a:srgbClr val="98A2B3">
              <a:alpha val="45000"/>
            </a:srgbClr>
          </a:solidFill>
          <a:ln/>
        </p:spPr>
      </p:sp>
      <p:sp>
        <p:nvSpPr>
          <p:cNvPr id="29" name="Municipio"/>
          <p:cNvSpPr/>
          <p:nvPr/>
        </p:nvSpPr>
        <p:spPr>
          <a:xfrm>
            <a:off x="10305288" y="1417320"/>
            <a:ext cx="155448" cy="155448"/>
          </a:xfrm>
          <a:prstGeom prst="ellipse">
            <a:avLst/>
          </a:prstGeom>
          <a:solidFill>
            <a:srgbClr val="98A2B3">
              <a:alpha val="45000"/>
            </a:srgbClr>
          </a:solidFill>
          <a:ln/>
        </p:spPr>
      </p:sp>
      <p:sp>
        <p:nvSpPr>
          <p:cNvPr id="30" name="Municipio"/>
          <p:cNvSpPr/>
          <p:nvPr/>
        </p:nvSpPr>
        <p:spPr>
          <a:xfrm>
            <a:off x="10616184" y="1417320"/>
            <a:ext cx="155448" cy="155448"/>
          </a:xfrm>
          <a:prstGeom prst="ellipse">
            <a:avLst/>
          </a:prstGeom>
          <a:solidFill>
            <a:srgbClr val="98A2B3">
              <a:alpha val="45000"/>
            </a:srgbClr>
          </a:solidFill>
          <a:ln/>
        </p:spPr>
      </p:sp>
      <p:sp>
        <p:nvSpPr>
          <p:cNvPr id="31" name="Municipio"/>
          <p:cNvSpPr/>
          <p:nvPr/>
        </p:nvSpPr>
        <p:spPr>
          <a:xfrm>
            <a:off x="10927080" y="1417320"/>
            <a:ext cx="155448" cy="155448"/>
          </a:xfrm>
          <a:prstGeom prst="ellipse">
            <a:avLst/>
          </a:prstGeom>
          <a:solidFill>
            <a:srgbClr val="98A2B3">
              <a:alpha val="45000"/>
            </a:srgbClr>
          </a:solidFill>
          <a:ln/>
        </p:spPr>
      </p:sp>
      <p:sp>
        <p:nvSpPr>
          <p:cNvPr id="32" name="Municipio"/>
          <p:cNvSpPr/>
          <p:nvPr/>
        </p:nvSpPr>
        <p:spPr>
          <a:xfrm>
            <a:off x="11237976" y="1417320"/>
            <a:ext cx="155448" cy="155448"/>
          </a:xfrm>
          <a:prstGeom prst="ellipse">
            <a:avLst/>
          </a:prstGeom>
          <a:solidFill>
            <a:srgbClr val="98A2B3">
              <a:alpha val="45000"/>
            </a:srgbClr>
          </a:solidFill>
          <a:ln/>
        </p:spPr>
      </p:sp>
      <p:sp>
        <p:nvSpPr>
          <p:cNvPr id="33" name="Municipio"/>
          <p:cNvSpPr/>
          <p:nvPr/>
        </p:nvSpPr>
        <p:spPr>
          <a:xfrm>
            <a:off x="11548872" y="1417320"/>
            <a:ext cx="155448" cy="155448"/>
          </a:xfrm>
          <a:prstGeom prst="ellipse">
            <a:avLst/>
          </a:prstGeom>
          <a:solidFill>
            <a:srgbClr val="98A2B3">
              <a:alpha val="45000"/>
            </a:srgbClr>
          </a:solidFill>
          <a:ln/>
        </p:spPr>
      </p:sp>
      <p:sp>
        <p:nvSpPr>
          <p:cNvPr id="34" name="Municipio piloto"/>
          <p:cNvSpPr/>
          <p:nvPr/>
        </p:nvSpPr>
        <p:spPr>
          <a:xfrm>
            <a:off x="7818120" y="1783080"/>
            <a:ext cx="155448" cy="155448"/>
          </a:xfrm>
          <a:prstGeom prst="ellipse">
            <a:avLst/>
          </a:prstGeom>
          <a:solidFill>
            <a:schemeClr val="accent6"/>
          </a:solidFill>
          <a:ln/>
        </p:spPr>
      </p:sp>
      <p:sp>
        <p:nvSpPr>
          <p:cNvPr id="35" name="Municipio"/>
          <p:cNvSpPr/>
          <p:nvPr/>
        </p:nvSpPr>
        <p:spPr>
          <a:xfrm>
            <a:off x="8129016" y="1783080"/>
            <a:ext cx="155448" cy="155448"/>
          </a:xfrm>
          <a:prstGeom prst="ellipse">
            <a:avLst/>
          </a:prstGeom>
          <a:solidFill>
            <a:srgbClr val="98A2B3">
              <a:alpha val="45000"/>
            </a:srgbClr>
          </a:solidFill>
          <a:ln/>
        </p:spPr>
      </p:sp>
      <p:sp>
        <p:nvSpPr>
          <p:cNvPr id="36" name="Municipio"/>
          <p:cNvSpPr/>
          <p:nvPr/>
        </p:nvSpPr>
        <p:spPr>
          <a:xfrm>
            <a:off x="8439912" y="1783080"/>
            <a:ext cx="155448" cy="155448"/>
          </a:xfrm>
          <a:prstGeom prst="ellipse">
            <a:avLst/>
          </a:prstGeom>
          <a:solidFill>
            <a:srgbClr val="98A2B3">
              <a:alpha val="45000"/>
            </a:srgbClr>
          </a:solidFill>
          <a:ln/>
        </p:spPr>
      </p:sp>
      <p:sp>
        <p:nvSpPr>
          <p:cNvPr id="37" name="Municipio"/>
          <p:cNvSpPr/>
          <p:nvPr/>
        </p:nvSpPr>
        <p:spPr>
          <a:xfrm>
            <a:off x="8750808" y="1783080"/>
            <a:ext cx="155448" cy="155448"/>
          </a:xfrm>
          <a:prstGeom prst="ellipse">
            <a:avLst/>
          </a:prstGeom>
          <a:solidFill>
            <a:srgbClr val="98A2B3">
              <a:alpha val="45000"/>
            </a:srgbClr>
          </a:solidFill>
          <a:ln/>
        </p:spPr>
      </p:sp>
      <p:sp>
        <p:nvSpPr>
          <p:cNvPr id="38" name="Municipio"/>
          <p:cNvSpPr/>
          <p:nvPr/>
        </p:nvSpPr>
        <p:spPr>
          <a:xfrm>
            <a:off x="9061704" y="1783080"/>
            <a:ext cx="155448" cy="155448"/>
          </a:xfrm>
          <a:prstGeom prst="ellipse">
            <a:avLst/>
          </a:prstGeom>
          <a:solidFill>
            <a:srgbClr val="98A2B3">
              <a:alpha val="45000"/>
            </a:srgbClr>
          </a:solidFill>
          <a:ln/>
        </p:spPr>
      </p:sp>
      <p:sp>
        <p:nvSpPr>
          <p:cNvPr id="39" name="Municipio"/>
          <p:cNvSpPr/>
          <p:nvPr/>
        </p:nvSpPr>
        <p:spPr>
          <a:xfrm>
            <a:off x="9372600" y="1783080"/>
            <a:ext cx="155448" cy="155448"/>
          </a:xfrm>
          <a:prstGeom prst="ellipse">
            <a:avLst/>
          </a:prstGeom>
          <a:solidFill>
            <a:srgbClr val="98A2B3">
              <a:alpha val="45000"/>
            </a:srgbClr>
          </a:solidFill>
          <a:ln/>
        </p:spPr>
      </p:sp>
      <p:sp>
        <p:nvSpPr>
          <p:cNvPr id="40" name="Municipio"/>
          <p:cNvSpPr/>
          <p:nvPr/>
        </p:nvSpPr>
        <p:spPr>
          <a:xfrm>
            <a:off x="9683496" y="1783080"/>
            <a:ext cx="155448" cy="155448"/>
          </a:xfrm>
          <a:prstGeom prst="ellipse">
            <a:avLst/>
          </a:prstGeom>
          <a:solidFill>
            <a:srgbClr val="98A2B3">
              <a:alpha val="45000"/>
            </a:srgbClr>
          </a:solidFill>
          <a:ln/>
        </p:spPr>
      </p:sp>
      <p:sp>
        <p:nvSpPr>
          <p:cNvPr id="41" name="Municipio"/>
          <p:cNvSpPr/>
          <p:nvPr/>
        </p:nvSpPr>
        <p:spPr>
          <a:xfrm>
            <a:off x="9994392" y="1783080"/>
            <a:ext cx="155448" cy="155448"/>
          </a:xfrm>
          <a:prstGeom prst="ellipse">
            <a:avLst/>
          </a:prstGeom>
          <a:solidFill>
            <a:srgbClr val="98A2B3">
              <a:alpha val="45000"/>
            </a:srgbClr>
          </a:solidFill>
          <a:ln/>
        </p:spPr>
      </p:sp>
      <p:sp>
        <p:nvSpPr>
          <p:cNvPr id="42" name="Municipio"/>
          <p:cNvSpPr/>
          <p:nvPr/>
        </p:nvSpPr>
        <p:spPr>
          <a:xfrm>
            <a:off x="10305288" y="1783080"/>
            <a:ext cx="155448" cy="155448"/>
          </a:xfrm>
          <a:prstGeom prst="ellipse">
            <a:avLst/>
          </a:prstGeom>
          <a:solidFill>
            <a:srgbClr val="98A2B3">
              <a:alpha val="45000"/>
            </a:srgbClr>
          </a:solidFill>
          <a:ln/>
        </p:spPr>
      </p:sp>
      <p:sp>
        <p:nvSpPr>
          <p:cNvPr id="43" name="Municipio"/>
          <p:cNvSpPr/>
          <p:nvPr/>
        </p:nvSpPr>
        <p:spPr>
          <a:xfrm>
            <a:off x="10616184" y="1783080"/>
            <a:ext cx="155448" cy="155448"/>
          </a:xfrm>
          <a:prstGeom prst="ellipse">
            <a:avLst/>
          </a:prstGeom>
          <a:solidFill>
            <a:srgbClr val="98A2B3">
              <a:alpha val="45000"/>
            </a:srgbClr>
          </a:solidFill>
          <a:ln/>
        </p:spPr>
      </p:sp>
      <p:sp>
        <p:nvSpPr>
          <p:cNvPr id="44" name="Municipio"/>
          <p:cNvSpPr/>
          <p:nvPr/>
        </p:nvSpPr>
        <p:spPr>
          <a:xfrm>
            <a:off x="10927080" y="1783080"/>
            <a:ext cx="155448" cy="155448"/>
          </a:xfrm>
          <a:prstGeom prst="ellipse">
            <a:avLst/>
          </a:prstGeom>
          <a:solidFill>
            <a:srgbClr val="98A2B3">
              <a:alpha val="45000"/>
            </a:srgbClr>
          </a:solidFill>
          <a:ln/>
        </p:spPr>
      </p:sp>
      <p:sp>
        <p:nvSpPr>
          <p:cNvPr id="45" name="Municipio"/>
          <p:cNvSpPr/>
          <p:nvPr/>
        </p:nvSpPr>
        <p:spPr>
          <a:xfrm>
            <a:off x="11237976" y="1783080"/>
            <a:ext cx="155448" cy="155448"/>
          </a:xfrm>
          <a:prstGeom prst="ellipse">
            <a:avLst/>
          </a:prstGeom>
          <a:solidFill>
            <a:srgbClr val="98A2B3">
              <a:alpha val="45000"/>
            </a:srgbClr>
          </a:solidFill>
          <a:ln/>
        </p:spPr>
      </p:sp>
      <p:sp>
        <p:nvSpPr>
          <p:cNvPr id="46" name="Municipio piloto"/>
          <p:cNvSpPr/>
          <p:nvPr/>
        </p:nvSpPr>
        <p:spPr>
          <a:xfrm>
            <a:off x="11548872" y="1783080"/>
            <a:ext cx="155448" cy="155448"/>
          </a:xfrm>
          <a:prstGeom prst="ellipse">
            <a:avLst/>
          </a:prstGeom>
          <a:solidFill>
            <a:schemeClr val="accent6"/>
          </a:solidFill>
          <a:ln/>
        </p:spPr>
      </p:sp>
      <p:sp>
        <p:nvSpPr>
          <p:cNvPr id="47" name="Municipio"/>
          <p:cNvSpPr/>
          <p:nvPr/>
        </p:nvSpPr>
        <p:spPr>
          <a:xfrm>
            <a:off x="7818120" y="2148840"/>
            <a:ext cx="155448" cy="155448"/>
          </a:xfrm>
          <a:prstGeom prst="ellipse">
            <a:avLst/>
          </a:prstGeom>
          <a:solidFill>
            <a:srgbClr val="98A2B3">
              <a:alpha val="45000"/>
            </a:srgbClr>
          </a:solidFill>
          <a:ln/>
        </p:spPr>
      </p:sp>
      <p:sp>
        <p:nvSpPr>
          <p:cNvPr id="48" name="Municipio"/>
          <p:cNvSpPr/>
          <p:nvPr/>
        </p:nvSpPr>
        <p:spPr>
          <a:xfrm>
            <a:off x="8129016" y="2148840"/>
            <a:ext cx="155448" cy="155448"/>
          </a:xfrm>
          <a:prstGeom prst="ellipse">
            <a:avLst/>
          </a:prstGeom>
          <a:solidFill>
            <a:srgbClr val="98A2B3">
              <a:alpha val="45000"/>
            </a:srgbClr>
          </a:solidFill>
          <a:ln/>
        </p:spPr>
      </p:sp>
      <p:sp>
        <p:nvSpPr>
          <p:cNvPr id="49" name="Municipio"/>
          <p:cNvSpPr/>
          <p:nvPr/>
        </p:nvSpPr>
        <p:spPr>
          <a:xfrm>
            <a:off x="8439912" y="2148840"/>
            <a:ext cx="155448" cy="155448"/>
          </a:xfrm>
          <a:prstGeom prst="ellipse">
            <a:avLst/>
          </a:prstGeom>
          <a:solidFill>
            <a:srgbClr val="98A2B3">
              <a:alpha val="45000"/>
            </a:srgbClr>
          </a:solidFill>
          <a:ln/>
        </p:spPr>
      </p:sp>
      <p:sp>
        <p:nvSpPr>
          <p:cNvPr id="50" name="Municipio piloto"/>
          <p:cNvSpPr/>
          <p:nvPr/>
        </p:nvSpPr>
        <p:spPr>
          <a:xfrm>
            <a:off x="8750808" y="2148840"/>
            <a:ext cx="155448" cy="155448"/>
          </a:xfrm>
          <a:prstGeom prst="ellipse">
            <a:avLst/>
          </a:prstGeom>
          <a:solidFill>
            <a:schemeClr val="accent6"/>
          </a:solidFill>
          <a:ln/>
        </p:spPr>
      </p:sp>
      <p:sp>
        <p:nvSpPr>
          <p:cNvPr id="51" name="Municipio"/>
          <p:cNvSpPr/>
          <p:nvPr/>
        </p:nvSpPr>
        <p:spPr>
          <a:xfrm>
            <a:off x="9061704" y="2148840"/>
            <a:ext cx="155448" cy="155448"/>
          </a:xfrm>
          <a:prstGeom prst="ellipse">
            <a:avLst/>
          </a:prstGeom>
          <a:solidFill>
            <a:srgbClr val="98A2B3">
              <a:alpha val="45000"/>
            </a:srgbClr>
          </a:solidFill>
          <a:ln/>
        </p:spPr>
      </p:sp>
      <p:sp>
        <p:nvSpPr>
          <p:cNvPr id="52" name="Municipio"/>
          <p:cNvSpPr/>
          <p:nvPr/>
        </p:nvSpPr>
        <p:spPr>
          <a:xfrm>
            <a:off x="9372600" y="2148840"/>
            <a:ext cx="155448" cy="155448"/>
          </a:xfrm>
          <a:prstGeom prst="ellipse">
            <a:avLst/>
          </a:prstGeom>
          <a:solidFill>
            <a:srgbClr val="98A2B3">
              <a:alpha val="45000"/>
            </a:srgbClr>
          </a:solidFill>
          <a:ln/>
        </p:spPr>
      </p:sp>
      <p:sp>
        <p:nvSpPr>
          <p:cNvPr id="53" name="Municipio"/>
          <p:cNvSpPr/>
          <p:nvPr/>
        </p:nvSpPr>
        <p:spPr>
          <a:xfrm>
            <a:off x="9683496" y="2148840"/>
            <a:ext cx="155448" cy="155448"/>
          </a:xfrm>
          <a:prstGeom prst="ellipse">
            <a:avLst/>
          </a:prstGeom>
          <a:solidFill>
            <a:srgbClr val="98A2B3">
              <a:alpha val="45000"/>
            </a:srgbClr>
          </a:solidFill>
          <a:ln/>
        </p:spPr>
      </p:sp>
      <p:sp>
        <p:nvSpPr>
          <p:cNvPr id="54" name="Municipio"/>
          <p:cNvSpPr/>
          <p:nvPr/>
        </p:nvSpPr>
        <p:spPr>
          <a:xfrm>
            <a:off x="9994392" y="2148840"/>
            <a:ext cx="155448" cy="155448"/>
          </a:xfrm>
          <a:prstGeom prst="ellipse">
            <a:avLst/>
          </a:prstGeom>
          <a:solidFill>
            <a:srgbClr val="98A2B3">
              <a:alpha val="45000"/>
            </a:srgbClr>
          </a:solidFill>
          <a:ln/>
        </p:spPr>
      </p:sp>
      <p:sp>
        <p:nvSpPr>
          <p:cNvPr id="55" name="Municipio"/>
          <p:cNvSpPr/>
          <p:nvPr/>
        </p:nvSpPr>
        <p:spPr>
          <a:xfrm>
            <a:off x="10305288" y="2148840"/>
            <a:ext cx="155448" cy="155448"/>
          </a:xfrm>
          <a:prstGeom prst="ellipse">
            <a:avLst/>
          </a:prstGeom>
          <a:solidFill>
            <a:srgbClr val="98A2B3">
              <a:alpha val="45000"/>
            </a:srgbClr>
          </a:solidFill>
          <a:ln/>
        </p:spPr>
      </p:sp>
      <p:sp>
        <p:nvSpPr>
          <p:cNvPr id="56" name="Municipio"/>
          <p:cNvSpPr/>
          <p:nvPr/>
        </p:nvSpPr>
        <p:spPr>
          <a:xfrm>
            <a:off x="10616184" y="2148840"/>
            <a:ext cx="155448" cy="155448"/>
          </a:xfrm>
          <a:prstGeom prst="ellipse">
            <a:avLst/>
          </a:prstGeom>
          <a:solidFill>
            <a:srgbClr val="98A2B3">
              <a:alpha val="45000"/>
            </a:srgbClr>
          </a:solidFill>
          <a:ln/>
        </p:spPr>
      </p:sp>
      <p:sp>
        <p:nvSpPr>
          <p:cNvPr id="57" name="Municipio"/>
          <p:cNvSpPr/>
          <p:nvPr/>
        </p:nvSpPr>
        <p:spPr>
          <a:xfrm>
            <a:off x="10927080" y="2148840"/>
            <a:ext cx="155448" cy="155448"/>
          </a:xfrm>
          <a:prstGeom prst="ellipse">
            <a:avLst/>
          </a:prstGeom>
          <a:solidFill>
            <a:srgbClr val="98A2B3">
              <a:alpha val="45000"/>
            </a:srgbClr>
          </a:solidFill>
          <a:ln/>
        </p:spPr>
      </p:sp>
      <p:sp>
        <p:nvSpPr>
          <p:cNvPr id="58" name="Municipio piloto"/>
          <p:cNvSpPr/>
          <p:nvPr/>
        </p:nvSpPr>
        <p:spPr>
          <a:xfrm>
            <a:off x="11237976" y="2148840"/>
            <a:ext cx="155448" cy="155448"/>
          </a:xfrm>
          <a:prstGeom prst="ellipse">
            <a:avLst/>
          </a:prstGeom>
          <a:solidFill>
            <a:schemeClr val="accent6"/>
          </a:solidFill>
          <a:ln/>
        </p:spPr>
      </p:sp>
      <p:sp>
        <p:nvSpPr>
          <p:cNvPr id="59" name="Municipio"/>
          <p:cNvSpPr/>
          <p:nvPr/>
        </p:nvSpPr>
        <p:spPr>
          <a:xfrm>
            <a:off x="11548872" y="2148840"/>
            <a:ext cx="155448" cy="155448"/>
          </a:xfrm>
          <a:prstGeom prst="ellipse">
            <a:avLst/>
          </a:prstGeom>
          <a:solidFill>
            <a:srgbClr val="98A2B3">
              <a:alpha val="45000"/>
            </a:srgbClr>
          </a:solidFill>
          <a:ln/>
        </p:spPr>
      </p:sp>
      <p:sp>
        <p:nvSpPr>
          <p:cNvPr id="60" name="Municipio"/>
          <p:cNvSpPr/>
          <p:nvPr/>
        </p:nvSpPr>
        <p:spPr>
          <a:xfrm>
            <a:off x="7818120" y="2514600"/>
            <a:ext cx="155448" cy="155448"/>
          </a:xfrm>
          <a:prstGeom prst="ellipse">
            <a:avLst/>
          </a:prstGeom>
          <a:solidFill>
            <a:srgbClr val="98A2B3">
              <a:alpha val="45000"/>
            </a:srgbClr>
          </a:solidFill>
          <a:ln/>
        </p:spPr>
      </p:sp>
      <p:sp>
        <p:nvSpPr>
          <p:cNvPr id="61" name="Municipio"/>
          <p:cNvSpPr/>
          <p:nvPr/>
        </p:nvSpPr>
        <p:spPr>
          <a:xfrm>
            <a:off x="8129016" y="2514600"/>
            <a:ext cx="155448" cy="155448"/>
          </a:xfrm>
          <a:prstGeom prst="ellipse">
            <a:avLst/>
          </a:prstGeom>
          <a:solidFill>
            <a:srgbClr val="98A2B3">
              <a:alpha val="45000"/>
            </a:srgbClr>
          </a:solidFill>
          <a:ln/>
        </p:spPr>
      </p:sp>
      <p:sp>
        <p:nvSpPr>
          <p:cNvPr id="62" name="Municipio"/>
          <p:cNvSpPr/>
          <p:nvPr/>
        </p:nvSpPr>
        <p:spPr>
          <a:xfrm>
            <a:off x="8439912" y="2514600"/>
            <a:ext cx="155448" cy="155448"/>
          </a:xfrm>
          <a:prstGeom prst="ellipse">
            <a:avLst/>
          </a:prstGeom>
          <a:solidFill>
            <a:srgbClr val="98A2B3">
              <a:alpha val="45000"/>
            </a:srgbClr>
          </a:solidFill>
          <a:ln/>
        </p:spPr>
      </p:sp>
      <p:sp>
        <p:nvSpPr>
          <p:cNvPr id="63" name="Municipio"/>
          <p:cNvSpPr/>
          <p:nvPr/>
        </p:nvSpPr>
        <p:spPr>
          <a:xfrm>
            <a:off x="8750808" y="2514600"/>
            <a:ext cx="155448" cy="155448"/>
          </a:xfrm>
          <a:prstGeom prst="ellipse">
            <a:avLst/>
          </a:prstGeom>
          <a:solidFill>
            <a:srgbClr val="98A2B3">
              <a:alpha val="45000"/>
            </a:srgbClr>
          </a:solidFill>
          <a:ln/>
        </p:spPr>
      </p:sp>
      <p:sp>
        <p:nvSpPr>
          <p:cNvPr id="64" name="Municipio piloto"/>
          <p:cNvSpPr/>
          <p:nvPr/>
        </p:nvSpPr>
        <p:spPr>
          <a:xfrm>
            <a:off x="9061704" y="2514600"/>
            <a:ext cx="155448" cy="155448"/>
          </a:xfrm>
          <a:prstGeom prst="ellipse">
            <a:avLst/>
          </a:prstGeom>
          <a:solidFill>
            <a:schemeClr val="accent6"/>
          </a:solidFill>
          <a:ln/>
        </p:spPr>
      </p:sp>
      <p:sp>
        <p:nvSpPr>
          <p:cNvPr id="65" name="Municipio"/>
          <p:cNvSpPr/>
          <p:nvPr/>
        </p:nvSpPr>
        <p:spPr>
          <a:xfrm>
            <a:off x="9372600" y="2514600"/>
            <a:ext cx="155448" cy="155448"/>
          </a:xfrm>
          <a:prstGeom prst="ellipse">
            <a:avLst/>
          </a:prstGeom>
          <a:solidFill>
            <a:srgbClr val="98A2B3">
              <a:alpha val="45000"/>
            </a:srgbClr>
          </a:solidFill>
          <a:ln/>
        </p:spPr>
      </p:sp>
      <p:sp>
        <p:nvSpPr>
          <p:cNvPr id="66" name="Municipio"/>
          <p:cNvSpPr/>
          <p:nvPr/>
        </p:nvSpPr>
        <p:spPr>
          <a:xfrm>
            <a:off x="9683496" y="2514600"/>
            <a:ext cx="155448" cy="155448"/>
          </a:xfrm>
          <a:prstGeom prst="ellipse">
            <a:avLst/>
          </a:prstGeom>
          <a:solidFill>
            <a:srgbClr val="98A2B3">
              <a:alpha val="45000"/>
            </a:srgbClr>
          </a:solidFill>
          <a:ln/>
        </p:spPr>
      </p:sp>
      <p:sp>
        <p:nvSpPr>
          <p:cNvPr id="67" name="Municipio piloto"/>
          <p:cNvSpPr/>
          <p:nvPr/>
        </p:nvSpPr>
        <p:spPr>
          <a:xfrm>
            <a:off x="9994392" y="2514600"/>
            <a:ext cx="155448" cy="155448"/>
          </a:xfrm>
          <a:prstGeom prst="ellipse">
            <a:avLst/>
          </a:prstGeom>
          <a:solidFill>
            <a:schemeClr val="accent6"/>
          </a:solidFill>
          <a:ln/>
        </p:spPr>
      </p:sp>
      <p:sp>
        <p:nvSpPr>
          <p:cNvPr id="68" name="Municipio"/>
          <p:cNvSpPr/>
          <p:nvPr/>
        </p:nvSpPr>
        <p:spPr>
          <a:xfrm>
            <a:off x="10305288" y="2514600"/>
            <a:ext cx="155448" cy="155448"/>
          </a:xfrm>
          <a:prstGeom prst="ellipse">
            <a:avLst/>
          </a:prstGeom>
          <a:solidFill>
            <a:srgbClr val="98A2B3">
              <a:alpha val="45000"/>
            </a:srgbClr>
          </a:solidFill>
          <a:ln/>
        </p:spPr>
      </p:sp>
      <p:sp>
        <p:nvSpPr>
          <p:cNvPr id="69" name="Municipio"/>
          <p:cNvSpPr/>
          <p:nvPr/>
        </p:nvSpPr>
        <p:spPr>
          <a:xfrm>
            <a:off x="10616184" y="2514600"/>
            <a:ext cx="155448" cy="155448"/>
          </a:xfrm>
          <a:prstGeom prst="ellipse">
            <a:avLst/>
          </a:prstGeom>
          <a:solidFill>
            <a:srgbClr val="98A2B3">
              <a:alpha val="45000"/>
            </a:srgbClr>
          </a:solidFill>
          <a:ln/>
        </p:spPr>
      </p:sp>
      <p:sp>
        <p:nvSpPr>
          <p:cNvPr id="70" name="Municipio"/>
          <p:cNvSpPr/>
          <p:nvPr/>
        </p:nvSpPr>
        <p:spPr>
          <a:xfrm>
            <a:off x="10927080" y="2514600"/>
            <a:ext cx="155448" cy="155448"/>
          </a:xfrm>
          <a:prstGeom prst="ellipse">
            <a:avLst/>
          </a:prstGeom>
          <a:solidFill>
            <a:srgbClr val="98A2B3">
              <a:alpha val="45000"/>
            </a:srgbClr>
          </a:solidFill>
          <a:ln/>
        </p:spPr>
      </p:sp>
      <p:sp>
        <p:nvSpPr>
          <p:cNvPr id="71" name="Municipio"/>
          <p:cNvSpPr/>
          <p:nvPr/>
        </p:nvSpPr>
        <p:spPr>
          <a:xfrm>
            <a:off x="11237976" y="2514600"/>
            <a:ext cx="155448" cy="155448"/>
          </a:xfrm>
          <a:prstGeom prst="ellipse">
            <a:avLst/>
          </a:prstGeom>
          <a:solidFill>
            <a:srgbClr val="98A2B3">
              <a:alpha val="45000"/>
            </a:srgbClr>
          </a:solidFill>
          <a:ln/>
        </p:spPr>
      </p:sp>
      <p:sp>
        <p:nvSpPr>
          <p:cNvPr id="72" name="Municipio"/>
          <p:cNvSpPr/>
          <p:nvPr/>
        </p:nvSpPr>
        <p:spPr>
          <a:xfrm>
            <a:off x="11548872" y="2514600"/>
            <a:ext cx="155448" cy="155448"/>
          </a:xfrm>
          <a:prstGeom prst="ellipse">
            <a:avLst/>
          </a:prstGeom>
          <a:solidFill>
            <a:srgbClr val="98A2B3">
              <a:alpha val="45000"/>
            </a:srgbClr>
          </a:solidFill>
          <a:ln/>
        </p:spPr>
      </p:sp>
      <p:sp>
        <p:nvSpPr>
          <p:cNvPr id="73" name="Municipio piloto"/>
          <p:cNvSpPr/>
          <p:nvPr/>
        </p:nvSpPr>
        <p:spPr>
          <a:xfrm>
            <a:off x="7818120" y="2880360"/>
            <a:ext cx="155448" cy="155448"/>
          </a:xfrm>
          <a:prstGeom prst="ellipse">
            <a:avLst/>
          </a:prstGeom>
          <a:solidFill>
            <a:schemeClr val="accent6"/>
          </a:solidFill>
          <a:ln/>
        </p:spPr>
      </p:sp>
      <p:sp>
        <p:nvSpPr>
          <p:cNvPr id="74" name="Municipio"/>
          <p:cNvSpPr/>
          <p:nvPr/>
        </p:nvSpPr>
        <p:spPr>
          <a:xfrm>
            <a:off x="8129016" y="2880360"/>
            <a:ext cx="155448" cy="155448"/>
          </a:xfrm>
          <a:prstGeom prst="ellipse">
            <a:avLst/>
          </a:prstGeom>
          <a:solidFill>
            <a:srgbClr val="98A2B3">
              <a:alpha val="45000"/>
            </a:srgbClr>
          </a:solidFill>
          <a:ln/>
        </p:spPr>
      </p:sp>
      <p:sp>
        <p:nvSpPr>
          <p:cNvPr id="75" name="Municipio"/>
          <p:cNvSpPr/>
          <p:nvPr/>
        </p:nvSpPr>
        <p:spPr>
          <a:xfrm>
            <a:off x="8439912" y="2880360"/>
            <a:ext cx="155448" cy="155448"/>
          </a:xfrm>
          <a:prstGeom prst="ellipse">
            <a:avLst/>
          </a:prstGeom>
          <a:solidFill>
            <a:srgbClr val="98A2B3">
              <a:alpha val="45000"/>
            </a:srgbClr>
          </a:solidFill>
          <a:ln/>
        </p:spPr>
      </p:sp>
      <p:sp>
        <p:nvSpPr>
          <p:cNvPr id="76" name="Municipio"/>
          <p:cNvSpPr/>
          <p:nvPr/>
        </p:nvSpPr>
        <p:spPr>
          <a:xfrm>
            <a:off x="8750808" y="2880360"/>
            <a:ext cx="155448" cy="155448"/>
          </a:xfrm>
          <a:prstGeom prst="ellipse">
            <a:avLst/>
          </a:prstGeom>
          <a:solidFill>
            <a:srgbClr val="98A2B3">
              <a:alpha val="45000"/>
            </a:srgbClr>
          </a:solidFill>
          <a:ln/>
        </p:spPr>
      </p:sp>
      <p:sp>
        <p:nvSpPr>
          <p:cNvPr id="77" name="Municipio"/>
          <p:cNvSpPr/>
          <p:nvPr/>
        </p:nvSpPr>
        <p:spPr>
          <a:xfrm>
            <a:off x="9061704" y="2880360"/>
            <a:ext cx="155448" cy="155448"/>
          </a:xfrm>
          <a:prstGeom prst="ellipse">
            <a:avLst/>
          </a:prstGeom>
          <a:solidFill>
            <a:srgbClr val="98A2B3">
              <a:alpha val="45000"/>
            </a:srgbClr>
          </a:solidFill>
          <a:ln/>
        </p:spPr>
      </p:sp>
      <p:sp>
        <p:nvSpPr>
          <p:cNvPr id="78" name="Municipio"/>
          <p:cNvSpPr/>
          <p:nvPr/>
        </p:nvSpPr>
        <p:spPr>
          <a:xfrm>
            <a:off x="9372600" y="2880360"/>
            <a:ext cx="155448" cy="155448"/>
          </a:xfrm>
          <a:prstGeom prst="ellipse">
            <a:avLst/>
          </a:prstGeom>
          <a:solidFill>
            <a:srgbClr val="98A2B3">
              <a:alpha val="45000"/>
            </a:srgbClr>
          </a:solidFill>
          <a:ln/>
        </p:spPr>
      </p:sp>
      <p:sp>
        <p:nvSpPr>
          <p:cNvPr id="79" name="Municipio"/>
          <p:cNvSpPr/>
          <p:nvPr/>
        </p:nvSpPr>
        <p:spPr>
          <a:xfrm>
            <a:off x="9683496" y="2880360"/>
            <a:ext cx="155448" cy="155448"/>
          </a:xfrm>
          <a:prstGeom prst="ellipse">
            <a:avLst/>
          </a:prstGeom>
          <a:solidFill>
            <a:srgbClr val="98A2B3">
              <a:alpha val="45000"/>
            </a:srgbClr>
          </a:solidFill>
          <a:ln/>
        </p:spPr>
      </p:sp>
      <p:sp>
        <p:nvSpPr>
          <p:cNvPr id="80" name="Municipio"/>
          <p:cNvSpPr/>
          <p:nvPr/>
        </p:nvSpPr>
        <p:spPr>
          <a:xfrm>
            <a:off x="9994392" y="2880360"/>
            <a:ext cx="155448" cy="155448"/>
          </a:xfrm>
          <a:prstGeom prst="ellipse">
            <a:avLst/>
          </a:prstGeom>
          <a:solidFill>
            <a:srgbClr val="98A2B3">
              <a:alpha val="45000"/>
            </a:srgbClr>
          </a:solidFill>
          <a:ln/>
        </p:spPr>
      </p:sp>
      <p:sp>
        <p:nvSpPr>
          <p:cNvPr id="81" name="Municipio"/>
          <p:cNvSpPr/>
          <p:nvPr/>
        </p:nvSpPr>
        <p:spPr>
          <a:xfrm>
            <a:off x="10305288" y="2880360"/>
            <a:ext cx="155448" cy="155448"/>
          </a:xfrm>
          <a:prstGeom prst="ellipse">
            <a:avLst/>
          </a:prstGeom>
          <a:solidFill>
            <a:srgbClr val="98A2B3">
              <a:alpha val="45000"/>
            </a:srgbClr>
          </a:solidFill>
          <a:ln/>
        </p:spPr>
      </p:sp>
      <p:sp>
        <p:nvSpPr>
          <p:cNvPr id="82" name="Municipio"/>
          <p:cNvSpPr/>
          <p:nvPr/>
        </p:nvSpPr>
        <p:spPr>
          <a:xfrm>
            <a:off x="10616184" y="2880360"/>
            <a:ext cx="155448" cy="155448"/>
          </a:xfrm>
          <a:prstGeom prst="ellipse">
            <a:avLst/>
          </a:prstGeom>
          <a:solidFill>
            <a:srgbClr val="98A2B3">
              <a:alpha val="45000"/>
            </a:srgbClr>
          </a:solidFill>
          <a:ln/>
        </p:spPr>
      </p:sp>
      <p:sp>
        <p:nvSpPr>
          <p:cNvPr id="83" name="Municipio piloto"/>
          <p:cNvSpPr/>
          <p:nvPr/>
        </p:nvSpPr>
        <p:spPr>
          <a:xfrm>
            <a:off x="10927080" y="2880360"/>
            <a:ext cx="155448" cy="155448"/>
          </a:xfrm>
          <a:prstGeom prst="ellipse">
            <a:avLst/>
          </a:prstGeom>
          <a:solidFill>
            <a:schemeClr val="accent6"/>
          </a:solidFill>
          <a:ln/>
        </p:spPr>
      </p:sp>
      <p:sp>
        <p:nvSpPr>
          <p:cNvPr id="84" name="Municipio"/>
          <p:cNvSpPr/>
          <p:nvPr/>
        </p:nvSpPr>
        <p:spPr>
          <a:xfrm>
            <a:off x="11237976" y="2880360"/>
            <a:ext cx="155448" cy="155448"/>
          </a:xfrm>
          <a:prstGeom prst="ellipse">
            <a:avLst/>
          </a:prstGeom>
          <a:solidFill>
            <a:srgbClr val="98A2B3">
              <a:alpha val="45000"/>
            </a:srgbClr>
          </a:solidFill>
          <a:ln/>
        </p:spPr>
      </p:sp>
      <p:sp>
        <p:nvSpPr>
          <p:cNvPr id="85" name="Municipio"/>
          <p:cNvSpPr/>
          <p:nvPr/>
        </p:nvSpPr>
        <p:spPr>
          <a:xfrm>
            <a:off x="11548872" y="2880360"/>
            <a:ext cx="155448" cy="155448"/>
          </a:xfrm>
          <a:prstGeom prst="ellipse">
            <a:avLst/>
          </a:prstGeom>
          <a:solidFill>
            <a:srgbClr val="98A2B3">
              <a:alpha val="45000"/>
            </a:srgbClr>
          </a:solidFill>
          <a:ln/>
        </p:spPr>
      </p:sp>
      <p:sp>
        <p:nvSpPr>
          <p:cNvPr id="86" name="Municipio piloto"/>
          <p:cNvSpPr/>
          <p:nvPr/>
        </p:nvSpPr>
        <p:spPr>
          <a:xfrm>
            <a:off x="7818120" y="3246120"/>
            <a:ext cx="155448" cy="155448"/>
          </a:xfrm>
          <a:prstGeom prst="ellipse">
            <a:avLst/>
          </a:prstGeom>
          <a:solidFill>
            <a:schemeClr val="accent6"/>
          </a:solidFill>
          <a:ln/>
        </p:spPr>
      </p:sp>
      <p:sp>
        <p:nvSpPr>
          <p:cNvPr id="87" name="Municipio"/>
          <p:cNvSpPr/>
          <p:nvPr/>
        </p:nvSpPr>
        <p:spPr>
          <a:xfrm>
            <a:off x="8129016" y="3246120"/>
            <a:ext cx="155448" cy="155448"/>
          </a:xfrm>
          <a:prstGeom prst="ellipse">
            <a:avLst/>
          </a:prstGeom>
          <a:solidFill>
            <a:srgbClr val="98A2B3">
              <a:alpha val="45000"/>
            </a:srgbClr>
          </a:solidFill>
          <a:ln/>
        </p:spPr>
      </p:sp>
      <p:sp>
        <p:nvSpPr>
          <p:cNvPr id="88" name="Municipio"/>
          <p:cNvSpPr/>
          <p:nvPr/>
        </p:nvSpPr>
        <p:spPr>
          <a:xfrm>
            <a:off x="8439912" y="3246120"/>
            <a:ext cx="155448" cy="155448"/>
          </a:xfrm>
          <a:prstGeom prst="ellipse">
            <a:avLst/>
          </a:prstGeom>
          <a:solidFill>
            <a:srgbClr val="98A2B3">
              <a:alpha val="45000"/>
            </a:srgbClr>
          </a:solidFill>
          <a:ln/>
        </p:spPr>
      </p:sp>
      <p:sp>
        <p:nvSpPr>
          <p:cNvPr id="89" name="Municipio"/>
          <p:cNvSpPr/>
          <p:nvPr/>
        </p:nvSpPr>
        <p:spPr>
          <a:xfrm>
            <a:off x="8750808" y="3246120"/>
            <a:ext cx="155448" cy="155448"/>
          </a:xfrm>
          <a:prstGeom prst="ellipse">
            <a:avLst/>
          </a:prstGeom>
          <a:solidFill>
            <a:srgbClr val="98A2B3">
              <a:alpha val="45000"/>
            </a:srgbClr>
          </a:solidFill>
          <a:ln/>
        </p:spPr>
      </p:sp>
      <p:sp>
        <p:nvSpPr>
          <p:cNvPr id="90" name="Municipio"/>
          <p:cNvSpPr/>
          <p:nvPr/>
        </p:nvSpPr>
        <p:spPr>
          <a:xfrm>
            <a:off x="9061704" y="3246120"/>
            <a:ext cx="155448" cy="155448"/>
          </a:xfrm>
          <a:prstGeom prst="ellipse">
            <a:avLst/>
          </a:prstGeom>
          <a:solidFill>
            <a:srgbClr val="98A2B3">
              <a:alpha val="45000"/>
            </a:srgbClr>
          </a:solidFill>
          <a:ln/>
        </p:spPr>
      </p:sp>
      <p:sp>
        <p:nvSpPr>
          <p:cNvPr id="91" name="Municipio"/>
          <p:cNvSpPr/>
          <p:nvPr/>
        </p:nvSpPr>
        <p:spPr>
          <a:xfrm>
            <a:off x="9372600" y="3246120"/>
            <a:ext cx="155448" cy="155448"/>
          </a:xfrm>
          <a:prstGeom prst="ellipse">
            <a:avLst/>
          </a:prstGeom>
          <a:solidFill>
            <a:srgbClr val="98A2B3">
              <a:alpha val="45000"/>
            </a:srgbClr>
          </a:solidFill>
          <a:ln/>
        </p:spPr>
      </p:sp>
      <p:sp>
        <p:nvSpPr>
          <p:cNvPr id="92" name="Municipio"/>
          <p:cNvSpPr/>
          <p:nvPr/>
        </p:nvSpPr>
        <p:spPr>
          <a:xfrm>
            <a:off x="9683496" y="3246120"/>
            <a:ext cx="155448" cy="155448"/>
          </a:xfrm>
          <a:prstGeom prst="ellipse">
            <a:avLst/>
          </a:prstGeom>
          <a:solidFill>
            <a:srgbClr val="98A2B3">
              <a:alpha val="45000"/>
            </a:srgbClr>
          </a:solidFill>
          <a:ln/>
        </p:spPr>
      </p:sp>
      <p:sp>
        <p:nvSpPr>
          <p:cNvPr id="93" name="Municipio"/>
          <p:cNvSpPr/>
          <p:nvPr/>
        </p:nvSpPr>
        <p:spPr>
          <a:xfrm>
            <a:off x="9994392" y="3246120"/>
            <a:ext cx="155448" cy="155448"/>
          </a:xfrm>
          <a:prstGeom prst="ellipse">
            <a:avLst/>
          </a:prstGeom>
          <a:solidFill>
            <a:srgbClr val="98A2B3">
              <a:alpha val="45000"/>
            </a:srgbClr>
          </a:solidFill>
          <a:ln/>
        </p:spPr>
      </p:sp>
      <p:sp>
        <p:nvSpPr>
          <p:cNvPr id="94" name="Municipio"/>
          <p:cNvSpPr/>
          <p:nvPr/>
        </p:nvSpPr>
        <p:spPr>
          <a:xfrm>
            <a:off x="10305288" y="3246120"/>
            <a:ext cx="155448" cy="155448"/>
          </a:xfrm>
          <a:prstGeom prst="ellipse">
            <a:avLst/>
          </a:prstGeom>
          <a:solidFill>
            <a:srgbClr val="98A2B3">
              <a:alpha val="45000"/>
            </a:srgbClr>
          </a:solidFill>
          <a:ln/>
        </p:spPr>
      </p:sp>
      <p:sp>
        <p:nvSpPr>
          <p:cNvPr id="95" name="Municipio"/>
          <p:cNvSpPr/>
          <p:nvPr/>
        </p:nvSpPr>
        <p:spPr>
          <a:xfrm>
            <a:off x="10616184" y="3246120"/>
            <a:ext cx="155448" cy="155448"/>
          </a:xfrm>
          <a:prstGeom prst="ellipse">
            <a:avLst/>
          </a:prstGeom>
          <a:solidFill>
            <a:srgbClr val="98A2B3">
              <a:alpha val="45000"/>
            </a:srgbClr>
          </a:solidFill>
          <a:ln/>
        </p:spPr>
      </p:sp>
      <p:sp>
        <p:nvSpPr>
          <p:cNvPr id="96" name="Municipio"/>
          <p:cNvSpPr/>
          <p:nvPr/>
        </p:nvSpPr>
        <p:spPr>
          <a:xfrm>
            <a:off x="10927080" y="3246120"/>
            <a:ext cx="155448" cy="155448"/>
          </a:xfrm>
          <a:prstGeom prst="ellipse">
            <a:avLst/>
          </a:prstGeom>
          <a:solidFill>
            <a:srgbClr val="98A2B3">
              <a:alpha val="45000"/>
            </a:srgbClr>
          </a:solidFill>
          <a:ln/>
        </p:spPr>
      </p:sp>
      <p:sp>
        <p:nvSpPr>
          <p:cNvPr id="97" name="Municipio"/>
          <p:cNvSpPr/>
          <p:nvPr/>
        </p:nvSpPr>
        <p:spPr>
          <a:xfrm>
            <a:off x="11237976" y="3246120"/>
            <a:ext cx="155448" cy="155448"/>
          </a:xfrm>
          <a:prstGeom prst="ellipse">
            <a:avLst/>
          </a:prstGeom>
          <a:solidFill>
            <a:srgbClr val="98A2B3">
              <a:alpha val="45000"/>
            </a:srgbClr>
          </a:solidFill>
          <a:ln/>
        </p:spPr>
      </p:sp>
      <p:sp>
        <p:nvSpPr>
          <p:cNvPr id="98" name="Municipio"/>
          <p:cNvSpPr/>
          <p:nvPr/>
        </p:nvSpPr>
        <p:spPr>
          <a:xfrm>
            <a:off x="11548872" y="3246120"/>
            <a:ext cx="155448" cy="155448"/>
          </a:xfrm>
          <a:prstGeom prst="ellipse">
            <a:avLst/>
          </a:prstGeom>
          <a:solidFill>
            <a:srgbClr val="98A2B3">
              <a:alpha val="45000"/>
            </a:srgbClr>
          </a:solidFill>
          <a:ln/>
        </p:spPr>
      </p:sp>
      <p:sp>
        <p:nvSpPr>
          <p:cNvPr id="99" name="Municipio"/>
          <p:cNvSpPr/>
          <p:nvPr/>
        </p:nvSpPr>
        <p:spPr>
          <a:xfrm>
            <a:off x="7818120" y="3611880"/>
            <a:ext cx="155448" cy="155448"/>
          </a:xfrm>
          <a:prstGeom prst="ellipse">
            <a:avLst/>
          </a:prstGeom>
          <a:solidFill>
            <a:srgbClr val="98A2B3">
              <a:alpha val="45000"/>
            </a:srgbClr>
          </a:solidFill>
          <a:ln/>
        </p:spPr>
      </p:sp>
      <p:sp>
        <p:nvSpPr>
          <p:cNvPr id="100" name="Municipio"/>
          <p:cNvSpPr/>
          <p:nvPr/>
        </p:nvSpPr>
        <p:spPr>
          <a:xfrm>
            <a:off x="8129016" y="3611880"/>
            <a:ext cx="155448" cy="155448"/>
          </a:xfrm>
          <a:prstGeom prst="ellipse">
            <a:avLst/>
          </a:prstGeom>
          <a:solidFill>
            <a:srgbClr val="98A2B3">
              <a:alpha val="45000"/>
            </a:srgbClr>
          </a:solidFill>
          <a:ln/>
        </p:spPr>
      </p:sp>
      <p:sp>
        <p:nvSpPr>
          <p:cNvPr id="101" name="Municipio"/>
          <p:cNvSpPr/>
          <p:nvPr/>
        </p:nvSpPr>
        <p:spPr>
          <a:xfrm>
            <a:off x="8439912" y="3611880"/>
            <a:ext cx="155448" cy="155448"/>
          </a:xfrm>
          <a:prstGeom prst="ellipse">
            <a:avLst/>
          </a:prstGeom>
          <a:solidFill>
            <a:srgbClr val="98A2B3">
              <a:alpha val="45000"/>
            </a:srgbClr>
          </a:solidFill>
          <a:ln/>
        </p:spPr>
      </p:sp>
      <p:sp>
        <p:nvSpPr>
          <p:cNvPr id="102" name="Municipio piloto"/>
          <p:cNvSpPr/>
          <p:nvPr/>
        </p:nvSpPr>
        <p:spPr>
          <a:xfrm>
            <a:off x="8750808" y="3611880"/>
            <a:ext cx="155448" cy="155448"/>
          </a:xfrm>
          <a:prstGeom prst="ellipse">
            <a:avLst/>
          </a:prstGeom>
          <a:solidFill>
            <a:schemeClr val="accent6"/>
          </a:solidFill>
          <a:ln/>
        </p:spPr>
      </p:sp>
      <p:sp>
        <p:nvSpPr>
          <p:cNvPr id="103" name="Municipio"/>
          <p:cNvSpPr/>
          <p:nvPr/>
        </p:nvSpPr>
        <p:spPr>
          <a:xfrm>
            <a:off x="9061704" y="3611880"/>
            <a:ext cx="155448" cy="155448"/>
          </a:xfrm>
          <a:prstGeom prst="ellipse">
            <a:avLst/>
          </a:prstGeom>
          <a:solidFill>
            <a:srgbClr val="98A2B3">
              <a:alpha val="45000"/>
            </a:srgbClr>
          </a:solidFill>
          <a:ln/>
        </p:spPr>
      </p:sp>
      <p:sp>
        <p:nvSpPr>
          <p:cNvPr id="104" name="Municipio"/>
          <p:cNvSpPr/>
          <p:nvPr/>
        </p:nvSpPr>
        <p:spPr>
          <a:xfrm>
            <a:off x="9372600" y="3611880"/>
            <a:ext cx="155448" cy="155448"/>
          </a:xfrm>
          <a:prstGeom prst="ellipse">
            <a:avLst/>
          </a:prstGeom>
          <a:solidFill>
            <a:srgbClr val="98A2B3">
              <a:alpha val="45000"/>
            </a:srgbClr>
          </a:solidFill>
          <a:ln/>
        </p:spPr>
      </p:sp>
      <p:sp>
        <p:nvSpPr>
          <p:cNvPr id="105" name="Municipio"/>
          <p:cNvSpPr/>
          <p:nvPr/>
        </p:nvSpPr>
        <p:spPr>
          <a:xfrm>
            <a:off x="9683496" y="3611880"/>
            <a:ext cx="155448" cy="155448"/>
          </a:xfrm>
          <a:prstGeom prst="ellipse">
            <a:avLst/>
          </a:prstGeom>
          <a:solidFill>
            <a:srgbClr val="98A2B3">
              <a:alpha val="45000"/>
            </a:srgbClr>
          </a:solidFill>
          <a:ln/>
        </p:spPr>
      </p:sp>
      <p:sp>
        <p:nvSpPr>
          <p:cNvPr id="106" name="Municipio"/>
          <p:cNvSpPr/>
          <p:nvPr/>
        </p:nvSpPr>
        <p:spPr>
          <a:xfrm>
            <a:off x="9994392" y="3611880"/>
            <a:ext cx="155448" cy="155448"/>
          </a:xfrm>
          <a:prstGeom prst="ellipse">
            <a:avLst/>
          </a:prstGeom>
          <a:solidFill>
            <a:srgbClr val="98A2B3">
              <a:alpha val="45000"/>
            </a:srgbClr>
          </a:solidFill>
          <a:ln/>
        </p:spPr>
      </p:sp>
      <p:sp>
        <p:nvSpPr>
          <p:cNvPr id="107" name="Municipio piloto"/>
          <p:cNvSpPr/>
          <p:nvPr/>
        </p:nvSpPr>
        <p:spPr>
          <a:xfrm>
            <a:off x="10305288" y="3611880"/>
            <a:ext cx="155448" cy="155448"/>
          </a:xfrm>
          <a:prstGeom prst="ellipse">
            <a:avLst/>
          </a:prstGeom>
          <a:solidFill>
            <a:schemeClr val="accent6"/>
          </a:solidFill>
          <a:ln/>
        </p:spPr>
      </p:sp>
      <p:sp>
        <p:nvSpPr>
          <p:cNvPr id="108" name="Municipio"/>
          <p:cNvSpPr/>
          <p:nvPr/>
        </p:nvSpPr>
        <p:spPr>
          <a:xfrm>
            <a:off x="10616184" y="3611880"/>
            <a:ext cx="155448" cy="155448"/>
          </a:xfrm>
          <a:prstGeom prst="ellipse">
            <a:avLst/>
          </a:prstGeom>
          <a:solidFill>
            <a:srgbClr val="98A2B3">
              <a:alpha val="45000"/>
            </a:srgbClr>
          </a:solidFill>
          <a:ln/>
        </p:spPr>
      </p:sp>
      <p:sp>
        <p:nvSpPr>
          <p:cNvPr id="109" name="Municipio"/>
          <p:cNvSpPr/>
          <p:nvPr/>
        </p:nvSpPr>
        <p:spPr>
          <a:xfrm>
            <a:off x="10927080" y="3611880"/>
            <a:ext cx="155448" cy="155448"/>
          </a:xfrm>
          <a:prstGeom prst="ellipse">
            <a:avLst/>
          </a:prstGeom>
          <a:solidFill>
            <a:srgbClr val="98A2B3">
              <a:alpha val="45000"/>
            </a:srgbClr>
          </a:solidFill>
          <a:ln/>
        </p:spPr>
      </p:sp>
      <p:sp>
        <p:nvSpPr>
          <p:cNvPr id="110" name="Municipio"/>
          <p:cNvSpPr/>
          <p:nvPr/>
        </p:nvSpPr>
        <p:spPr>
          <a:xfrm>
            <a:off x="11237976" y="3611880"/>
            <a:ext cx="155448" cy="155448"/>
          </a:xfrm>
          <a:prstGeom prst="ellipse">
            <a:avLst/>
          </a:prstGeom>
          <a:solidFill>
            <a:srgbClr val="98A2B3">
              <a:alpha val="45000"/>
            </a:srgbClr>
          </a:solidFill>
          <a:ln/>
        </p:spPr>
      </p:sp>
      <p:sp>
        <p:nvSpPr>
          <p:cNvPr id="111" name="Municipio"/>
          <p:cNvSpPr/>
          <p:nvPr/>
        </p:nvSpPr>
        <p:spPr>
          <a:xfrm>
            <a:off x="11548872" y="3611880"/>
            <a:ext cx="155448" cy="155448"/>
          </a:xfrm>
          <a:prstGeom prst="ellipse">
            <a:avLst/>
          </a:prstGeom>
          <a:solidFill>
            <a:srgbClr val="98A2B3">
              <a:alpha val="45000"/>
            </a:srgbClr>
          </a:solidFill>
          <a:ln/>
        </p:spPr>
      </p:sp>
      <p:sp>
        <p:nvSpPr>
          <p:cNvPr id="112" name="Municipio"/>
          <p:cNvSpPr/>
          <p:nvPr/>
        </p:nvSpPr>
        <p:spPr>
          <a:xfrm>
            <a:off x="7818120" y="3977640"/>
            <a:ext cx="155448" cy="155448"/>
          </a:xfrm>
          <a:prstGeom prst="ellipse">
            <a:avLst/>
          </a:prstGeom>
          <a:solidFill>
            <a:srgbClr val="98A2B3">
              <a:alpha val="45000"/>
            </a:srgbClr>
          </a:solidFill>
          <a:ln/>
        </p:spPr>
      </p:sp>
      <p:sp>
        <p:nvSpPr>
          <p:cNvPr id="113" name="Municipio"/>
          <p:cNvSpPr/>
          <p:nvPr/>
        </p:nvSpPr>
        <p:spPr>
          <a:xfrm>
            <a:off x="8129016" y="3977640"/>
            <a:ext cx="155448" cy="155448"/>
          </a:xfrm>
          <a:prstGeom prst="ellipse">
            <a:avLst/>
          </a:prstGeom>
          <a:solidFill>
            <a:srgbClr val="98A2B3">
              <a:alpha val="45000"/>
            </a:srgbClr>
          </a:solidFill>
          <a:ln/>
        </p:spPr>
      </p:sp>
      <p:sp>
        <p:nvSpPr>
          <p:cNvPr id="114" name="Municipio"/>
          <p:cNvSpPr/>
          <p:nvPr/>
        </p:nvSpPr>
        <p:spPr>
          <a:xfrm>
            <a:off x="8439912" y="3977640"/>
            <a:ext cx="155448" cy="155448"/>
          </a:xfrm>
          <a:prstGeom prst="ellipse">
            <a:avLst/>
          </a:prstGeom>
          <a:solidFill>
            <a:srgbClr val="98A2B3">
              <a:alpha val="45000"/>
            </a:srgbClr>
          </a:solidFill>
          <a:ln/>
        </p:spPr>
      </p:sp>
      <p:sp>
        <p:nvSpPr>
          <p:cNvPr id="115" name="Municipio"/>
          <p:cNvSpPr/>
          <p:nvPr/>
        </p:nvSpPr>
        <p:spPr>
          <a:xfrm>
            <a:off x="8750808" y="3977640"/>
            <a:ext cx="155448" cy="155448"/>
          </a:xfrm>
          <a:prstGeom prst="ellipse">
            <a:avLst/>
          </a:prstGeom>
          <a:solidFill>
            <a:srgbClr val="98A2B3">
              <a:alpha val="45000"/>
            </a:srgbClr>
          </a:solidFill>
          <a:ln/>
        </p:spPr>
      </p:sp>
      <p:sp>
        <p:nvSpPr>
          <p:cNvPr id="116" name="Municipio"/>
          <p:cNvSpPr/>
          <p:nvPr/>
        </p:nvSpPr>
        <p:spPr>
          <a:xfrm>
            <a:off x="9061704" y="3977640"/>
            <a:ext cx="155448" cy="155448"/>
          </a:xfrm>
          <a:prstGeom prst="ellipse">
            <a:avLst/>
          </a:prstGeom>
          <a:solidFill>
            <a:srgbClr val="98A2B3">
              <a:alpha val="45000"/>
            </a:srgbClr>
          </a:solidFill>
          <a:ln/>
        </p:spPr>
      </p:sp>
      <p:sp>
        <p:nvSpPr>
          <p:cNvPr id="117" name="Municipio"/>
          <p:cNvSpPr/>
          <p:nvPr/>
        </p:nvSpPr>
        <p:spPr>
          <a:xfrm>
            <a:off x="9372600" y="3977640"/>
            <a:ext cx="155448" cy="155448"/>
          </a:xfrm>
          <a:prstGeom prst="ellipse">
            <a:avLst/>
          </a:prstGeom>
          <a:solidFill>
            <a:srgbClr val="98A2B3">
              <a:alpha val="45000"/>
            </a:srgbClr>
          </a:solidFill>
          <a:ln/>
        </p:spPr>
      </p:sp>
      <p:sp>
        <p:nvSpPr>
          <p:cNvPr id="118" name="Municipio"/>
          <p:cNvSpPr/>
          <p:nvPr/>
        </p:nvSpPr>
        <p:spPr>
          <a:xfrm>
            <a:off x="9683496" y="3977640"/>
            <a:ext cx="155448" cy="155448"/>
          </a:xfrm>
          <a:prstGeom prst="ellipse">
            <a:avLst/>
          </a:prstGeom>
          <a:solidFill>
            <a:srgbClr val="98A2B3">
              <a:alpha val="45000"/>
            </a:srgbClr>
          </a:solidFill>
          <a:ln/>
        </p:spPr>
      </p:sp>
      <p:sp>
        <p:nvSpPr>
          <p:cNvPr id="119" name="Municipio"/>
          <p:cNvSpPr/>
          <p:nvPr/>
        </p:nvSpPr>
        <p:spPr>
          <a:xfrm>
            <a:off x="9994392" y="3977640"/>
            <a:ext cx="155448" cy="155448"/>
          </a:xfrm>
          <a:prstGeom prst="ellipse">
            <a:avLst/>
          </a:prstGeom>
          <a:solidFill>
            <a:srgbClr val="98A2B3">
              <a:alpha val="45000"/>
            </a:srgbClr>
          </a:solidFill>
          <a:ln/>
        </p:spPr>
      </p:sp>
      <p:sp>
        <p:nvSpPr>
          <p:cNvPr id="120" name="Municipio"/>
          <p:cNvSpPr/>
          <p:nvPr/>
        </p:nvSpPr>
        <p:spPr>
          <a:xfrm>
            <a:off x="10305288" y="3977640"/>
            <a:ext cx="155448" cy="155448"/>
          </a:xfrm>
          <a:prstGeom prst="ellipse">
            <a:avLst/>
          </a:prstGeom>
          <a:solidFill>
            <a:srgbClr val="98A2B3">
              <a:alpha val="45000"/>
            </a:srgbClr>
          </a:solidFill>
          <a:ln/>
        </p:spPr>
      </p:sp>
      <p:sp>
        <p:nvSpPr>
          <p:cNvPr id="121" name="Municipio piloto"/>
          <p:cNvSpPr/>
          <p:nvPr/>
        </p:nvSpPr>
        <p:spPr>
          <a:xfrm>
            <a:off x="10616184" y="3977640"/>
            <a:ext cx="155448" cy="155448"/>
          </a:xfrm>
          <a:prstGeom prst="ellipse">
            <a:avLst/>
          </a:prstGeom>
          <a:solidFill>
            <a:schemeClr val="accent6"/>
          </a:solidFill>
          <a:ln/>
        </p:spPr>
      </p:sp>
      <p:sp>
        <p:nvSpPr>
          <p:cNvPr id="122" name="Municipio"/>
          <p:cNvSpPr/>
          <p:nvPr/>
        </p:nvSpPr>
        <p:spPr>
          <a:xfrm>
            <a:off x="10927080" y="3977640"/>
            <a:ext cx="155448" cy="155448"/>
          </a:xfrm>
          <a:prstGeom prst="ellipse">
            <a:avLst/>
          </a:prstGeom>
          <a:solidFill>
            <a:srgbClr val="98A2B3">
              <a:alpha val="45000"/>
            </a:srgbClr>
          </a:solidFill>
          <a:ln/>
        </p:spPr>
      </p:sp>
      <p:sp>
        <p:nvSpPr>
          <p:cNvPr id="123" name="Municipio piloto"/>
          <p:cNvSpPr/>
          <p:nvPr/>
        </p:nvSpPr>
        <p:spPr>
          <a:xfrm>
            <a:off x="11237976" y="3977640"/>
            <a:ext cx="155448" cy="155448"/>
          </a:xfrm>
          <a:prstGeom prst="ellipse">
            <a:avLst/>
          </a:prstGeom>
          <a:solidFill>
            <a:schemeClr val="accent6"/>
          </a:solidFill>
          <a:ln/>
        </p:spPr>
      </p:sp>
      <p:sp>
        <p:nvSpPr>
          <p:cNvPr id="124" name="Municipio"/>
          <p:cNvSpPr/>
          <p:nvPr/>
        </p:nvSpPr>
        <p:spPr>
          <a:xfrm>
            <a:off x="11548872" y="3977640"/>
            <a:ext cx="155448" cy="155448"/>
          </a:xfrm>
          <a:prstGeom prst="ellipse">
            <a:avLst/>
          </a:prstGeom>
          <a:solidFill>
            <a:srgbClr val="98A2B3">
              <a:alpha val="45000"/>
            </a:srgbClr>
          </a:solidFill>
          <a:ln/>
        </p:spPr>
      </p:sp>
      <p:sp>
        <p:nvSpPr>
          <p:cNvPr id="125" name="Municipio"/>
          <p:cNvSpPr/>
          <p:nvPr/>
        </p:nvSpPr>
        <p:spPr>
          <a:xfrm>
            <a:off x="7818120" y="4343400"/>
            <a:ext cx="155448" cy="155448"/>
          </a:xfrm>
          <a:prstGeom prst="ellipse">
            <a:avLst/>
          </a:prstGeom>
          <a:solidFill>
            <a:srgbClr val="98A2B3">
              <a:alpha val="45000"/>
            </a:srgbClr>
          </a:solidFill>
          <a:ln/>
        </p:spPr>
      </p:sp>
      <p:sp>
        <p:nvSpPr>
          <p:cNvPr id="126" name="Municipio"/>
          <p:cNvSpPr/>
          <p:nvPr/>
        </p:nvSpPr>
        <p:spPr>
          <a:xfrm>
            <a:off x="8129016" y="4343400"/>
            <a:ext cx="155448" cy="155448"/>
          </a:xfrm>
          <a:prstGeom prst="ellipse">
            <a:avLst/>
          </a:prstGeom>
          <a:solidFill>
            <a:srgbClr val="98A2B3">
              <a:alpha val="45000"/>
            </a:srgbClr>
          </a:solidFill>
          <a:ln/>
        </p:spPr>
      </p:sp>
      <p:sp>
        <p:nvSpPr>
          <p:cNvPr id="127" name="Municipio"/>
          <p:cNvSpPr/>
          <p:nvPr/>
        </p:nvSpPr>
        <p:spPr>
          <a:xfrm>
            <a:off x="8439912" y="4343400"/>
            <a:ext cx="155448" cy="155448"/>
          </a:xfrm>
          <a:prstGeom prst="ellipse">
            <a:avLst/>
          </a:prstGeom>
          <a:solidFill>
            <a:srgbClr val="98A2B3">
              <a:alpha val="45000"/>
            </a:srgbClr>
          </a:solidFill>
          <a:ln/>
        </p:spPr>
      </p:sp>
      <p:sp>
        <p:nvSpPr>
          <p:cNvPr id="128" name="Municipio"/>
          <p:cNvSpPr/>
          <p:nvPr/>
        </p:nvSpPr>
        <p:spPr>
          <a:xfrm>
            <a:off x="8750808" y="4343400"/>
            <a:ext cx="155448" cy="155448"/>
          </a:xfrm>
          <a:prstGeom prst="ellipse">
            <a:avLst/>
          </a:prstGeom>
          <a:solidFill>
            <a:srgbClr val="98A2B3">
              <a:alpha val="45000"/>
            </a:srgbClr>
          </a:solidFill>
          <a:ln/>
        </p:spPr>
      </p:sp>
      <p:sp>
        <p:nvSpPr>
          <p:cNvPr id="129" name="Municipio"/>
          <p:cNvSpPr/>
          <p:nvPr/>
        </p:nvSpPr>
        <p:spPr>
          <a:xfrm>
            <a:off x="9061704" y="4343400"/>
            <a:ext cx="155448" cy="155448"/>
          </a:xfrm>
          <a:prstGeom prst="ellipse">
            <a:avLst/>
          </a:prstGeom>
          <a:solidFill>
            <a:srgbClr val="98A2B3">
              <a:alpha val="45000"/>
            </a:srgbClr>
          </a:solidFill>
          <a:ln/>
        </p:spPr>
      </p:sp>
      <p:sp>
        <p:nvSpPr>
          <p:cNvPr id="130" name="Municipio"/>
          <p:cNvSpPr/>
          <p:nvPr/>
        </p:nvSpPr>
        <p:spPr>
          <a:xfrm>
            <a:off x="9372600" y="4343400"/>
            <a:ext cx="155448" cy="155448"/>
          </a:xfrm>
          <a:prstGeom prst="ellipse">
            <a:avLst/>
          </a:prstGeom>
          <a:solidFill>
            <a:srgbClr val="98A2B3">
              <a:alpha val="45000"/>
            </a:srgbClr>
          </a:solidFill>
          <a:ln/>
        </p:spPr>
      </p:sp>
      <p:sp>
        <p:nvSpPr>
          <p:cNvPr id="131" name="Municipio"/>
          <p:cNvSpPr/>
          <p:nvPr/>
        </p:nvSpPr>
        <p:spPr>
          <a:xfrm>
            <a:off x="9683496" y="4343400"/>
            <a:ext cx="155448" cy="155448"/>
          </a:xfrm>
          <a:prstGeom prst="ellipse">
            <a:avLst/>
          </a:prstGeom>
          <a:solidFill>
            <a:srgbClr val="98A2B3">
              <a:alpha val="45000"/>
            </a:srgbClr>
          </a:solidFill>
          <a:ln/>
        </p:spPr>
      </p:sp>
      <p:sp>
        <p:nvSpPr>
          <p:cNvPr id="132" name="Municipio"/>
          <p:cNvSpPr/>
          <p:nvPr/>
        </p:nvSpPr>
        <p:spPr>
          <a:xfrm>
            <a:off x="9994392" y="4343400"/>
            <a:ext cx="155448" cy="155448"/>
          </a:xfrm>
          <a:prstGeom prst="ellipse">
            <a:avLst/>
          </a:prstGeom>
          <a:solidFill>
            <a:srgbClr val="98A2B3">
              <a:alpha val="45000"/>
            </a:srgbClr>
          </a:solidFill>
          <a:ln/>
        </p:spPr>
      </p:sp>
      <p:sp>
        <p:nvSpPr>
          <p:cNvPr id="133" name="Municipio piloto"/>
          <p:cNvSpPr/>
          <p:nvPr/>
        </p:nvSpPr>
        <p:spPr>
          <a:xfrm>
            <a:off x="10305288" y="4343400"/>
            <a:ext cx="155448" cy="155448"/>
          </a:xfrm>
          <a:prstGeom prst="ellipse">
            <a:avLst/>
          </a:prstGeom>
          <a:solidFill>
            <a:schemeClr val="accent6"/>
          </a:solidFill>
          <a:ln/>
        </p:spPr>
      </p:sp>
      <p:sp>
        <p:nvSpPr>
          <p:cNvPr id="134" name="Municipio"/>
          <p:cNvSpPr/>
          <p:nvPr/>
        </p:nvSpPr>
        <p:spPr>
          <a:xfrm>
            <a:off x="10616184" y="4343400"/>
            <a:ext cx="155448" cy="155448"/>
          </a:xfrm>
          <a:prstGeom prst="ellipse">
            <a:avLst/>
          </a:prstGeom>
          <a:solidFill>
            <a:srgbClr val="98A2B3">
              <a:alpha val="45000"/>
            </a:srgbClr>
          </a:solidFill>
          <a:ln/>
        </p:spPr>
      </p:sp>
      <p:sp>
        <p:nvSpPr>
          <p:cNvPr id="135" name="Municipio"/>
          <p:cNvSpPr/>
          <p:nvPr/>
        </p:nvSpPr>
        <p:spPr>
          <a:xfrm>
            <a:off x="10927080" y="4343400"/>
            <a:ext cx="155448" cy="155448"/>
          </a:xfrm>
          <a:prstGeom prst="ellipse">
            <a:avLst/>
          </a:prstGeom>
          <a:solidFill>
            <a:srgbClr val="98A2B3">
              <a:alpha val="45000"/>
            </a:srgbClr>
          </a:solidFill>
          <a:ln/>
        </p:spPr>
      </p:sp>
      <p:sp>
        <p:nvSpPr>
          <p:cNvPr id="136" name="Municipio piloto"/>
          <p:cNvSpPr/>
          <p:nvPr/>
        </p:nvSpPr>
        <p:spPr>
          <a:xfrm>
            <a:off x="11237976" y="4343400"/>
            <a:ext cx="155448" cy="155448"/>
          </a:xfrm>
          <a:prstGeom prst="ellipse">
            <a:avLst/>
          </a:prstGeom>
          <a:solidFill>
            <a:schemeClr val="accent6"/>
          </a:solidFill>
          <a:ln/>
        </p:spPr>
      </p:sp>
      <p:sp>
        <p:nvSpPr>
          <p:cNvPr id="137" name="Municipio"/>
          <p:cNvSpPr/>
          <p:nvPr/>
        </p:nvSpPr>
        <p:spPr>
          <a:xfrm>
            <a:off x="11548872" y="4343400"/>
            <a:ext cx="155448" cy="155448"/>
          </a:xfrm>
          <a:prstGeom prst="ellipse">
            <a:avLst/>
          </a:prstGeom>
          <a:solidFill>
            <a:srgbClr val="98A2B3">
              <a:alpha val="45000"/>
            </a:srgbClr>
          </a:solidFill>
          <a:ln/>
        </p:spPr>
      </p:sp>
      <p:sp>
        <p:nvSpPr>
          <p:cNvPr id="138" name="Municipio"/>
          <p:cNvSpPr/>
          <p:nvPr/>
        </p:nvSpPr>
        <p:spPr>
          <a:xfrm>
            <a:off x="7818120" y="4709160"/>
            <a:ext cx="155448" cy="155448"/>
          </a:xfrm>
          <a:prstGeom prst="ellipse">
            <a:avLst/>
          </a:prstGeom>
          <a:solidFill>
            <a:srgbClr val="98A2B3">
              <a:alpha val="45000"/>
            </a:srgbClr>
          </a:solidFill>
          <a:ln/>
        </p:spPr>
      </p:sp>
      <p:sp>
        <p:nvSpPr>
          <p:cNvPr id="139" name="Municipio"/>
          <p:cNvSpPr/>
          <p:nvPr/>
        </p:nvSpPr>
        <p:spPr>
          <a:xfrm>
            <a:off x="8129016" y="4709160"/>
            <a:ext cx="155448" cy="155448"/>
          </a:xfrm>
          <a:prstGeom prst="ellipse">
            <a:avLst/>
          </a:prstGeom>
          <a:solidFill>
            <a:srgbClr val="98A2B3">
              <a:alpha val="45000"/>
            </a:srgbClr>
          </a:solidFill>
          <a:ln/>
        </p:spPr>
      </p:sp>
      <p:sp>
        <p:nvSpPr>
          <p:cNvPr id="140" name="Municipio"/>
          <p:cNvSpPr/>
          <p:nvPr/>
        </p:nvSpPr>
        <p:spPr>
          <a:xfrm>
            <a:off x="8439912" y="4709160"/>
            <a:ext cx="155448" cy="155448"/>
          </a:xfrm>
          <a:prstGeom prst="ellipse">
            <a:avLst/>
          </a:prstGeom>
          <a:solidFill>
            <a:srgbClr val="98A2B3">
              <a:alpha val="45000"/>
            </a:srgbClr>
          </a:solidFill>
          <a:ln/>
        </p:spPr>
      </p:sp>
      <p:sp>
        <p:nvSpPr>
          <p:cNvPr id="141" name="Municipio"/>
          <p:cNvSpPr/>
          <p:nvPr/>
        </p:nvSpPr>
        <p:spPr>
          <a:xfrm>
            <a:off x="8750808" y="4709160"/>
            <a:ext cx="155448" cy="155448"/>
          </a:xfrm>
          <a:prstGeom prst="ellipse">
            <a:avLst/>
          </a:prstGeom>
          <a:solidFill>
            <a:srgbClr val="98A2B3">
              <a:alpha val="45000"/>
            </a:srgbClr>
          </a:solidFill>
          <a:ln/>
        </p:spPr>
      </p:sp>
      <p:sp>
        <p:nvSpPr>
          <p:cNvPr id="142" name="Municipio"/>
          <p:cNvSpPr/>
          <p:nvPr/>
        </p:nvSpPr>
        <p:spPr>
          <a:xfrm>
            <a:off x="9061704" y="4709160"/>
            <a:ext cx="155448" cy="155448"/>
          </a:xfrm>
          <a:prstGeom prst="ellipse">
            <a:avLst/>
          </a:prstGeom>
          <a:solidFill>
            <a:srgbClr val="98A2B3">
              <a:alpha val="45000"/>
            </a:srgbClr>
          </a:solidFill>
          <a:ln/>
        </p:spPr>
      </p:sp>
      <p:sp>
        <p:nvSpPr>
          <p:cNvPr id="143" name="Municipio"/>
          <p:cNvSpPr/>
          <p:nvPr/>
        </p:nvSpPr>
        <p:spPr>
          <a:xfrm>
            <a:off x="9372600" y="4709160"/>
            <a:ext cx="155448" cy="155448"/>
          </a:xfrm>
          <a:prstGeom prst="ellipse">
            <a:avLst/>
          </a:prstGeom>
          <a:solidFill>
            <a:srgbClr val="98A2B3">
              <a:alpha val="45000"/>
            </a:srgbClr>
          </a:solidFill>
          <a:ln/>
        </p:spPr>
      </p:sp>
      <p:sp>
        <p:nvSpPr>
          <p:cNvPr id="144" name="Municipio"/>
          <p:cNvSpPr/>
          <p:nvPr/>
        </p:nvSpPr>
        <p:spPr>
          <a:xfrm>
            <a:off x="9683496" y="4709160"/>
            <a:ext cx="155448" cy="155448"/>
          </a:xfrm>
          <a:prstGeom prst="ellipse">
            <a:avLst/>
          </a:prstGeom>
          <a:solidFill>
            <a:srgbClr val="98A2B3">
              <a:alpha val="45000"/>
            </a:srgbClr>
          </a:solidFill>
          <a:ln/>
        </p:spPr>
      </p:sp>
      <p:sp>
        <p:nvSpPr>
          <p:cNvPr id="145" name="Municipio"/>
          <p:cNvSpPr/>
          <p:nvPr/>
        </p:nvSpPr>
        <p:spPr>
          <a:xfrm>
            <a:off x="9994392" y="4709160"/>
            <a:ext cx="155448" cy="155448"/>
          </a:xfrm>
          <a:prstGeom prst="ellipse">
            <a:avLst/>
          </a:prstGeom>
          <a:solidFill>
            <a:srgbClr val="98A2B3">
              <a:alpha val="45000"/>
            </a:srgbClr>
          </a:solidFill>
          <a:ln/>
        </p:spPr>
      </p:sp>
      <p:sp>
        <p:nvSpPr>
          <p:cNvPr id="146" name="Municipio"/>
          <p:cNvSpPr/>
          <p:nvPr/>
        </p:nvSpPr>
        <p:spPr>
          <a:xfrm>
            <a:off x="10305288" y="4709160"/>
            <a:ext cx="155448" cy="155448"/>
          </a:xfrm>
          <a:prstGeom prst="ellipse">
            <a:avLst/>
          </a:prstGeom>
          <a:solidFill>
            <a:srgbClr val="98A2B3">
              <a:alpha val="45000"/>
            </a:srgbClr>
          </a:solidFill>
          <a:ln/>
        </p:spPr>
      </p:sp>
      <p:sp>
        <p:nvSpPr>
          <p:cNvPr id="147" name="Municipio"/>
          <p:cNvSpPr/>
          <p:nvPr/>
        </p:nvSpPr>
        <p:spPr>
          <a:xfrm>
            <a:off x="10616184" y="4709160"/>
            <a:ext cx="155448" cy="155448"/>
          </a:xfrm>
          <a:prstGeom prst="ellipse">
            <a:avLst/>
          </a:prstGeom>
          <a:solidFill>
            <a:srgbClr val="98A2B3">
              <a:alpha val="45000"/>
            </a:srgbClr>
          </a:solidFill>
          <a:ln/>
        </p:spPr>
      </p:sp>
      <p:sp>
        <p:nvSpPr>
          <p:cNvPr id="148" name="Municipio"/>
          <p:cNvSpPr/>
          <p:nvPr/>
        </p:nvSpPr>
        <p:spPr>
          <a:xfrm>
            <a:off x="10927080" y="4709160"/>
            <a:ext cx="155448" cy="155448"/>
          </a:xfrm>
          <a:prstGeom prst="ellipse">
            <a:avLst/>
          </a:prstGeom>
          <a:solidFill>
            <a:srgbClr val="98A2B3">
              <a:alpha val="45000"/>
            </a:srgbClr>
          </a:solidFill>
          <a:ln/>
        </p:spPr>
      </p:sp>
      <p:sp>
        <p:nvSpPr>
          <p:cNvPr id="149" name="Municipio"/>
          <p:cNvSpPr/>
          <p:nvPr/>
        </p:nvSpPr>
        <p:spPr>
          <a:xfrm>
            <a:off x="11237976" y="4709160"/>
            <a:ext cx="155448" cy="155448"/>
          </a:xfrm>
          <a:prstGeom prst="ellipse">
            <a:avLst/>
          </a:prstGeom>
          <a:solidFill>
            <a:srgbClr val="98A2B3">
              <a:alpha val="45000"/>
            </a:srgbClr>
          </a:solidFill>
          <a:ln/>
        </p:spPr>
      </p:sp>
      <p:sp>
        <p:nvSpPr>
          <p:cNvPr id="150" name="Municipio piloto"/>
          <p:cNvSpPr/>
          <p:nvPr/>
        </p:nvSpPr>
        <p:spPr>
          <a:xfrm>
            <a:off x="11548872" y="4709160"/>
            <a:ext cx="155448" cy="155448"/>
          </a:xfrm>
          <a:prstGeom prst="ellipse">
            <a:avLst/>
          </a:prstGeom>
          <a:solidFill>
            <a:schemeClr val="accent6"/>
          </a:solidFill>
          <a:ln/>
        </p:spPr>
      </p:sp>
      <p:sp>
        <p:nvSpPr>
          <p:cNvPr id="151" name="Municipio"/>
          <p:cNvSpPr/>
          <p:nvPr/>
        </p:nvSpPr>
        <p:spPr>
          <a:xfrm>
            <a:off x="7818120" y="5074920"/>
            <a:ext cx="155448" cy="155448"/>
          </a:xfrm>
          <a:prstGeom prst="ellipse">
            <a:avLst/>
          </a:prstGeom>
          <a:solidFill>
            <a:srgbClr val="98A2B3">
              <a:alpha val="45000"/>
            </a:srgbClr>
          </a:solidFill>
          <a:ln/>
        </p:spPr>
      </p:sp>
      <p:sp>
        <p:nvSpPr>
          <p:cNvPr id="152" name="Municipio"/>
          <p:cNvSpPr/>
          <p:nvPr/>
        </p:nvSpPr>
        <p:spPr>
          <a:xfrm>
            <a:off x="8129016" y="5074920"/>
            <a:ext cx="155448" cy="155448"/>
          </a:xfrm>
          <a:prstGeom prst="ellipse">
            <a:avLst/>
          </a:prstGeom>
          <a:solidFill>
            <a:srgbClr val="98A2B3">
              <a:alpha val="45000"/>
            </a:srgbClr>
          </a:solidFill>
          <a:ln/>
        </p:spPr>
      </p:sp>
      <p:sp>
        <p:nvSpPr>
          <p:cNvPr id="153" name="Municipio piloto"/>
          <p:cNvSpPr/>
          <p:nvPr/>
        </p:nvSpPr>
        <p:spPr>
          <a:xfrm>
            <a:off x="8439912" y="5074920"/>
            <a:ext cx="155448" cy="155448"/>
          </a:xfrm>
          <a:prstGeom prst="ellipse">
            <a:avLst/>
          </a:prstGeom>
          <a:solidFill>
            <a:schemeClr val="accent6"/>
          </a:solidFill>
          <a:ln/>
        </p:spPr>
      </p:sp>
      <p:sp>
        <p:nvSpPr>
          <p:cNvPr id="154" name="Municipio"/>
          <p:cNvSpPr/>
          <p:nvPr/>
        </p:nvSpPr>
        <p:spPr>
          <a:xfrm>
            <a:off x="8750808" y="5074920"/>
            <a:ext cx="155448" cy="155448"/>
          </a:xfrm>
          <a:prstGeom prst="ellipse">
            <a:avLst/>
          </a:prstGeom>
          <a:solidFill>
            <a:srgbClr val="98A2B3">
              <a:alpha val="45000"/>
            </a:srgbClr>
          </a:solidFill>
          <a:ln/>
        </p:spPr>
      </p:sp>
      <p:sp>
        <p:nvSpPr>
          <p:cNvPr id="155" name="Municipio piloto"/>
          <p:cNvSpPr/>
          <p:nvPr/>
        </p:nvSpPr>
        <p:spPr>
          <a:xfrm>
            <a:off x="9061704" y="5074920"/>
            <a:ext cx="155448" cy="155448"/>
          </a:xfrm>
          <a:prstGeom prst="ellipse">
            <a:avLst/>
          </a:prstGeom>
          <a:solidFill>
            <a:schemeClr val="accent6"/>
          </a:solidFill>
          <a:ln/>
        </p:spPr>
      </p:sp>
      <p:sp>
        <p:nvSpPr>
          <p:cNvPr id="156" name="Municipio"/>
          <p:cNvSpPr/>
          <p:nvPr/>
        </p:nvSpPr>
        <p:spPr>
          <a:xfrm>
            <a:off x="9372600" y="5074920"/>
            <a:ext cx="155448" cy="155448"/>
          </a:xfrm>
          <a:prstGeom prst="ellipse">
            <a:avLst/>
          </a:prstGeom>
          <a:solidFill>
            <a:srgbClr val="98A2B3">
              <a:alpha val="45000"/>
            </a:srgbClr>
          </a:solidFill>
          <a:ln/>
        </p:spPr>
      </p:sp>
      <p:sp>
        <p:nvSpPr>
          <p:cNvPr id="157" name="Municipio"/>
          <p:cNvSpPr/>
          <p:nvPr/>
        </p:nvSpPr>
        <p:spPr>
          <a:xfrm>
            <a:off x="9683496" y="5074920"/>
            <a:ext cx="155448" cy="155448"/>
          </a:xfrm>
          <a:prstGeom prst="ellipse">
            <a:avLst/>
          </a:prstGeom>
          <a:solidFill>
            <a:srgbClr val="98A2B3">
              <a:alpha val="45000"/>
            </a:srgbClr>
          </a:solidFill>
          <a:ln/>
        </p:spPr>
      </p:sp>
      <p:sp>
        <p:nvSpPr>
          <p:cNvPr id="158" name="Municipio"/>
          <p:cNvSpPr/>
          <p:nvPr/>
        </p:nvSpPr>
        <p:spPr>
          <a:xfrm>
            <a:off x="9994392" y="5074920"/>
            <a:ext cx="155448" cy="155448"/>
          </a:xfrm>
          <a:prstGeom prst="ellipse">
            <a:avLst/>
          </a:prstGeom>
          <a:solidFill>
            <a:srgbClr val="98A2B3">
              <a:alpha val="45000"/>
            </a:srgbClr>
          </a:solidFill>
          <a:ln/>
        </p:spPr>
      </p:sp>
      <p:sp>
        <p:nvSpPr>
          <p:cNvPr id="159" name="Municipio"/>
          <p:cNvSpPr/>
          <p:nvPr/>
        </p:nvSpPr>
        <p:spPr>
          <a:xfrm>
            <a:off x="10305288" y="5074920"/>
            <a:ext cx="155448" cy="155448"/>
          </a:xfrm>
          <a:prstGeom prst="ellipse">
            <a:avLst/>
          </a:prstGeom>
          <a:solidFill>
            <a:srgbClr val="98A2B3">
              <a:alpha val="45000"/>
            </a:srgbClr>
          </a:solidFill>
          <a:ln/>
        </p:spPr>
      </p:sp>
      <p:sp>
        <p:nvSpPr>
          <p:cNvPr id="160" name="Municipio piloto"/>
          <p:cNvSpPr/>
          <p:nvPr/>
        </p:nvSpPr>
        <p:spPr>
          <a:xfrm>
            <a:off x="10616184" y="5074920"/>
            <a:ext cx="155448" cy="155448"/>
          </a:xfrm>
          <a:prstGeom prst="ellipse">
            <a:avLst/>
          </a:prstGeom>
          <a:solidFill>
            <a:schemeClr val="accent6"/>
          </a:solidFill>
          <a:ln/>
        </p:spPr>
      </p:sp>
      <p:sp>
        <p:nvSpPr>
          <p:cNvPr id="161" name="Municipio"/>
          <p:cNvSpPr/>
          <p:nvPr/>
        </p:nvSpPr>
        <p:spPr>
          <a:xfrm>
            <a:off x="10927080" y="5074920"/>
            <a:ext cx="155448" cy="155448"/>
          </a:xfrm>
          <a:prstGeom prst="ellipse">
            <a:avLst/>
          </a:prstGeom>
          <a:solidFill>
            <a:srgbClr val="98A2B3">
              <a:alpha val="45000"/>
            </a:srgbClr>
          </a:solidFill>
          <a:ln/>
        </p:spPr>
      </p:sp>
      <p:sp>
        <p:nvSpPr>
          <p:cNvPr id="162" name="Municipio"/>
          <p:cNvSpPr/>
          <p:nvPr/>
        </p:nvSpPr>
        <p:spPr>
          <a:xfrm>
            <a:off x="11237976" y="5074920"/>
            <a:ext cx="155448" cy="155448"/>
          </a:xfrm>
          <a:prstGeom prst="ellipse">
            <a:avLst/>
          </a:prstGeom>
          <a:solidFill>
            <a:srgbClr val="98A2B3">
              <a:alpha val="45000"/>
            </a:srgbClr>
          </a:solidFill>
          <a:ln/>
        </p:spPr>
      </p:sp>
    </p:spTree>
  </p:cSld>
  <p:clrMapOvr>
    <a:masterClrMapping/>
  </p:clrMapOvr>
  <p:transition spd="med">
    <p:fade/>
  </p:transition>
</p:sld>
</file>

<file path=ppt/theme/theme1.xml><?xml version="1.0" encoding="utf-8"?>
<a:theme xmlns:a="http://schemas.openxmlformats.org/drawingml/2006/main" name="MadridNext">
  <a:themeElements>
    <a:clrScheme name="MadridNext">
      <a:dk1>
        <a:srgbClr val="161A26"/>
      </a:dk1>
      <a:lt1>
        <a:srgbClr val="FFFFFF"/>
      </a:lt1>
      <a:dk2>
        <a:srgbClr val="424A5E"/>
      </a:dk2>
      <a:lt2>
        <a:srgbClr val="F1F3F6"/>
      </a:lt2>
      <a:accent1>
        <a:srgbClr val="C0263F"/>
      </a:accent1>
      <a:accent2>
        <a:srgbClr val="2E7D5B"/>
      </a:accent2>
      <a:accent3>
        <a:srgbClr val="C4820A"/>
      </a:accent3>
      <a:accent4>
        <a:srgbClr val="5C6F8A"/>
      </a:accent4>
      <a:accent5>
        <a:srgbClr val="98A2B3"/>
      </a:accent5>
      <a:accent6>
        <a:srgbClr val="E5566D"/>
      </a:accent6>
      <a:hlink>
        <a:srgbClr val="C0263F"/>
      </a:hlink>
      <a:folHlink>
        <a:srgbClr val="424A5E"/>
      </a:folHlink>
    </a:clrScheme>
    <a:fontScheme name="MadridNex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II Datathon LODCOREMADRID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MadridNext: capacidad de acogida territorial</dc:title>
  <dc:subject>PptxGenJS Presentation</dc:subject>
  <dc:creator>Adrián Hernando Muñoz, Juan Torrero de Pablo, Alejandro Cuntin Bariteau</dc:creator>
  <cp:lastModifiedBy>Adrián Hernando Muñoz, Juan Torrero de Pablo, Alejandro Cuntin Bariteau</cp:lastModifiedBy>
  <cp:revision>1</cp:revision>
  <dcterms:created xsi:type="dcterms:W3CDTF">2026-10-27T10:54:56Z</dcterms:created>
  <dcterms:modified xsi:type="dcterms:W3CDTF">2026-10-27T10:54:56Z</dcterms:modified>
</cp:coreProperties>
</file>