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70" r:id="rId21"/>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d79cb0c-73c5-a7db-6bb0-17f61ca8a021}">
          <p14:sldIdLst>
            <p14:sldId id="256"/>
          </p14:sldIdLst>
        </p14:section>
        <p14:section name="Problema" id="{6140f5fe-b817-f66a-fcfc-6641b9e56e37}">
          <p14:sldIdLst>
            <p14:sldId id="257"/>
          </p14:sldIdLst>
        </p14:section>
        <p14:section name="Datos y modelos" id="{402da8f9-781a-f859-5bf7-58461423028e}">
          <p14:sldIdLst>
            <p14:sldId id="258"/>
            <p14:sldId id="259"/>
            <p14:sldId id="260"/>
            <p14:sldId id="261"/>
          </p14:sldIdLst>
        </p14:section>
        <p14:section name="Validación" id="{7a6cbde0-0859-3ff7-fbc5-08bdf50ab9d6}">
          <p14:sldIdLst>
            <p14:sldId id="262"/>
            <p14:sldId id="263"/>
            <p14:sldId id="264"/>
            <p14:sldId id="265"/>
          </p14:sldIdLst>
        </p14:section>
        <p14:section name="Herramientas y cierre" id="{bce62d3b-00e3-19d7-e750-42e9b436cf46}">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Error (%)</c:v>
                </c:pt>
              </c:strCache>
            </c:strRef>
          </c:tx>
          <c:spPr>
            <a:solidFill>
              <a:srgbClr val="424A5E"/>
            </a:solidFill>
            <a:effectLst/>
          </c:spPr>
          <c:invertIfNegative val="0"/>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dPt>
            <c:idx val="0"/>
            <c:invertIfNegative val="0"/>
            <c:bubble3D val="0"/>
            <c:spPr>
              <a:solidFill>
                <a:srgbClr val="424A5E"/>
              </a:solidFill>
              <a:effectLst/>
            </c:spPr>
          </c:dPt>
          <c:dPt>
            <c:idx val="1"/>
            <c:invertIfNegative val="0"/>
            <c:bubble3D val="0"/>
            <c:spPr>
              <a:solidFill>
                <a:srgbClr val="424A5E"/>
              </a:solidFill>
              <a:effectLst/>
            </c:spPr>
          </c:dPt>
          <c:dPt>
            <c:idx val="2"/>
            <c:invertIfNegative val="0"/>
            <c:bubble3D val="0"/>
            <c:spPr>
              <a:solidFill>
                <a:srgbClr val="424A5E"/>
              </a:solidFill>
              <a:effectLst/>
            </c:spPr>
          </c:dPt>
          <c:dPt>
            <c:idx val="3"/>
            <c:invertIfNegative val="0"/>
            <c:bubble3D val="0"/>
            <c:spPr>
              <a:solidFill>
                <a:srgbClr val="424A5E"/>
              </a:solidFill>
              <a:effectLst/>
            </c:spPr>
          </c:dPt>
          <c:dPt>
            <c:idx val="4"/>
            <c:invertIfNegative val="0"/>
            <c:bubble3D val="0"/>
            <c:spPr>
              <a:solidFill>
                <a:srgbClr val="C0263F"/>
              </a:solidFill>
              <a:effectLst/>
            </c:spPr>
          </c:dPt>
          <c:dPt>
            <c:idx val="5"/>
            <c:invertIfNegative val="0"/>
            <c:bubble3D val="0"/>
            <c:spPr>
              <a:solidFill>
                <a:srgbClr val="C0263F"/>
              </a:solidFill>
              <a:effectLst/>
            </c:spPr>
          </c:dPt>
          <c:dPt>
            <c:idx val="6"/>
            <c:invertIfNegative val="0"/>
            <c:bubble3D val="0"/>
            <c:spPr>
              <a:solidFill>
                <a:srgbClr val="C0263F"/>
              </a:solidFill>
              <a:effectLst/>
            </c:spPr>
          </c:dPt>
          <c:cat>
            <c:multiLvlStrRef>
              <c:f>Sheet1!$A$2:$A$8</c:f>
              <c:multiLvlStrCache>
                <c:ptCount val="7"/>
                <c:lvl>
                  <c:pt idx="0">
                    <c:v>Robledo de Chavela</c:v>
                  </c:pt>
                  <c:pt idx="1">
                    <c:v>Manzanares el Real</c:v>
                  </c:pt>
                  <c:pt idx="2">
                    <c:v>Buitrago del Lozoya</c:v>
                  </c:pt>
                  <c:pt idx="3">
                    <c:v>Meco</c:v>
                  </c:pt>
                  <c:pt idx="4">
                    <c:v>Chinchón</c:v>
                  </c:pt>
                  <c:pt idx="5">
                    <c:v>Villa del Prado</c:v>
                  </c:pt>
                  <c:pt idx="6">
                    <c:v>Montejo de la Sierra</c:v>
                  </c:pt>
                </c:lvl>
              </c:multiLvlStrCache>
            </c:multiLvlStrRef>
          </c:cat>
          <c:val>
            <c:numRef>
              <c:f>Sheet1!$B$2:$B$8</c:f>
              <c:numCache>
                <c:formatCode>General</c:formatCode>
                <c:ptCount val="7"/>
                <c:pt idx="0">
                  <c:v>0.06</c:v>
                </c:pt>
                <c:pt idx="1">
                  <c:v>0.39</c:v>
                </c:pt>
                <c:pt idx="2">
                  <c:v>1.17</c:v>
                </c:pt>
                <c:pt idx="3">
                  <c:v>1.86</c:v>
                </c:pt>
                <c:pt idx="4">
                  <c:v>7.07</c:v>
                </c:pt>
                <c:pt idx="5">
                  <c:v>10.66</c:v>
                </c:pt>
                <c:pt idx="6">
                  <c:v>12.31</c:v>
                </c:pt>
              </c:numCache>
            </c:numRef>
          </c:val>
        </c:ser>
        <c:dLbls>
          <c:numFmt formatCode="0.00&quot;%&quot;"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Habitantes acogibles</c:v>
                </c:pt>
              </c:strCache>
            </c:strRef>
          </c:tx>
          <c:spPr>
            <a:solidFill>
              <a:srgbClr val="C0263F"/>
            </a:solidFill>
            <a:effectLst/>
          </c:spPr>
          <c:invertIfNegative val="0"/>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cat>
            <c:multiLvlStrRef>
              <c:f>Sheet1!$A$2:$A$5</c:f>
              <c:multiLvlStrCache>
                <c:ptCount val="4"/>
                <c:lvl>
                  <c:pt idx="0">
                    <c:v>Villa del Prado (450.000 €)</c:v>
                  </c:pt>
                  <c:pt idx="1">
                    <c:v>San Martín de Valdeiglesias (600.000 €)</c:v>
                  </c:pt>
                  <c:pt idx="2">
                    <c:v>Robledo de Chavela (600.000 €)</c:v>
                  </c:pt>
                  <c:pt idx="3">
                    <c:v>Navalcarnero (0 €)</c:v>
                  </c:pt>
                </c:lvl>
              </c:multiLvlStrCache>
            </c:multiLvlStrRef>
          </c:cat>
          <c:val>
            <c:numRef>
              <c:f>Sheet1!$B$2:$B$5</c:f>
              <c:numCache>
                <c:formatCode>General</c:formatCode>
                <c:ptCount val="4"/>
                <c:pt idx="0">
                  <c:v>830</c:v>
                </c:pt>
                <c:pt idx="1">
                  <c:v>279</c:v>
                </c:pt>
                <c:pt idx="2">
                  <c:v>227</c:v>
                </c:pt>
                <c:pt idx="3">
                  <c:v>0</c:v>
                </c:pt>
              </c:numCache>
            </c:numRef>
          </c:val>
        </c:ser>
        <c:dLbls>
          <c:numFmt formatCode="&quot;+&quot;0" sourceLinked="0"/>
          <c:txPr>
            <a:bodyPr/>
            <a:lstStyle/>
            <a:p>
              <a:pPr>
                <a:defRPr b="0" i="0" strike="noStrike" sz="1200" u="none">
                  <a:solidFill>
                    <a:srgbClr val="161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24A5E"/>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Presentamos al equipo y el reto. Idea fuerza: el crecimiento regional no se planifica por intuición. Cada punto es un municipio de menos de 50.000 habitantes (155 en total); los resaltados son los 20 del piloto. Puente: empezamos por el problema de partida.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El 80% de la población se concentra en el área metropolitana central. Los 155 municipios pequeños tienen potencial, pero la decisión residencial basada solo en precio es insuficiente: un pueblo barato puede no tener plazas escolares ni médicos. Por la ley del mínimo de Liebig, un servicio crítico en carencia no se compensa con suelo o zonas verdes: si hab/médico &gt; 1.500 o la ocupación escolar &gt; 95%, el índice de capacidad queda en alerta (&lt; 40). Puente: para medirlo hace falta un dato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Cuatro fuentes oficiales (INE, Comunidad de Madrid, Catastro y CRTM) y cada variable lleva su etiqueta REAL o ESTIMADO para no confundir lo observado con lo modelado. Control de calidad: 92 columnas, ningún nulo, 20 códigos INE únicos, todos entre 1 y 49.999 habitantes y magnitudes positivas. El dataset está certificado y congelado, con 36 pruebas unitarias y de integración. Puente: con datos limpios, vemos qué introduce el ciudadano.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El ciudadano introduce seis parámetros: presupuesto, ingresos, tiempo de conexión, transporte, familia y tenencia. El módulo config/perfiles.py los traduce en pesos personales normalizados (suman 1,0) para reordenar municipios sin tocar el ICA objetivo. Python lee el CSV validado y Oracle APEX funciona de forma autónoma; los tests automatizados verifican que dan los mismos pesos y rankings. Oracle no almacena datos personales: solo reglas maestras de ponderación. Puente: detrás de todo esto hay cinco modelos.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Recorrer M1 a M5 con la frase del subtítulo. M1: asequibilidad y precio. M2: cuatro subíndices (sanidad, educación, conectividad y calidad residencial). M3: demografía a 2030 y 2035 y año de saturación. M4 es el ICA, el núcleo del proyecto: cuánta gente cabe y qué se rompe primero. M5: recomendador para la familia y optimizador para la Administración. Puente: conviene no confundir tres operaciones.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Evaluar u ordenar no necesita datos del futuro: reordena municipios según preferencias (ranking por perfiles, M5). Predecir sí necesita estimar una incógnita futura: es el modelo M3 con series temporales. Simular no predice: recalcula con reglas normativas ante supuestos hipotéticos, es el simulador what-if y el optimizador Simplex. Puente: veamos cómo de bien predice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Backtest: con la población real de 2015 y 2020 calculamos la tasa geométrica, proyectamos a 2025 sin ver el dato real y comparamos con el padrón oficial. Error mediano del 1,55% a 5 años frente al 7,02% de suponer que nada cambia. Predicho frente a real: Robledo de Chavela 4.815 / 4.818; Manzanares el Real 9.610 / 9.648; Buitrago del Lozoya 2.058 / 2.034; Meco 16.219 / 15.922; Chinchón 5.390 / 5.800; Villa del Prado 6.918 / 7.743; Montejo de la Sierra 354 / 404. En un municipio de 5.000 habitantes, el desvío suele ser de unas 78 personas. Puente: ¿y el ICA, anticipa el crecimiento?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Ser honestos: el ICA no predice el crecimiento espontáneo (ρ = 0,10, no significativo) y por eso no lo afirmamos. Mide dónde hay infraestructura para crecer sin colapsar. Para estimar la probabilidad de absorción futura se puede combinar con variables de mercado (catastro, migración, brecha de precios). Villa del Prado creció un 16,2% entre 2020 y 2025 con ICA bajo (36,9). Navalcarnero creció un 11,2% (31.979 habitantes) con ICA 24,5, alerta roja. Si la Comunidad no interviene, la inercia seguirá llenando municipios saturados. Puente: el semáforo traduce el ICA en decisiones.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ALTA (ICA ≥ 60): mucho margen, por ejemplo Robledo 66,7 y Buitrago 62,5. MEDIA (40 a 59): margen condicionado a inversiones puntuales. BAJA (&lt; 40): saturación. La alerta S es el mecanismo no compensatorio: con más de 1.500 hab/médico o más del 95% de ocupación escolar, el ICA se trunca por debajo de 40 y el encaje máximo para cualquier ciudadano queda en 39. Ejemplo documentado: Cercedilla, con puntuación teórica de 34,61 y alerta S. Puente: ¿cómo sabemos que el modelo no hace trampas?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formas de hacer trampa: mirar datos del futuro, mezclar territorios vecinos entre entrenamiento y prueba, y memorizar por sobreajuste con N = 20. Cuatro controles: comparativa adversarial entre modelo honesto y tramposo, validación espacial GroupKFold por comarcas, control point-in-time y 36 tests que auditan las 7 fugas potenciales (L1 a L7). Puente: pasemos a las herramientas para gestionar.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Simulador: «¿si entran 2.000 personas en este pueblo, qué pasa?». Recalcula al instante, dice qué servicio colapsa primero, cuántas plazas o médicos faltan y el coste de reforzarlo. Optimizador con programación lineal Simplex, caso Sierra Oeste con 2.000.000 €: Villa del Prado 450.000 € (1 médico) para +830 habitantes; San Martín de Valdeiglesias 600.000 € (50 plazas) para +279; Robledo de Chavela 600.000 € (50 plazas) para +227; Navalcarnero 0 € porque su restricción es la vivienda. Balance: 1.650.000 € invertidos, +1.336 personas y 350.000 € ahorrados. Puente: cerramos con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Tres aportaciones: un marco cuantitativo verificado con backtest real, doble utilidad para familias y gestores públicos, y una arquitectura en Oracle 23ai lista para los 155 municipios cuando la Comunidad incorpore los registros internos de centros y plazas. Cerrar con la frase final y dar paso 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apoyo para el turno de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Turno de preguntas. Recordar el enlace con los datasets y la presentación que pide la organización para la deliberación.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61A26"/>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rtlCol="0"/>
          <a:lstStyle>
            <a:lvl1pPr algn="l" indent="0" marL="0">
              <a:buNone/>
              <a:defRPr lang="en-US" sz="1200" b="1" spc="300" kern="0" dirty="0">
                <a:solidFill>
                  <a:schemeClr val="accent6"/>
                </a:solidFill>
              </a:defRPr>
            </a:lvl1pPr>
          </a:lstStyle>
          <a:p>
            <a:pPr algn="l" indent="0" marL="0">
              <a:buNone/>
            </a:pP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64008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MadridNext  ·  II Datathon LODCOREMADRID 2026</a:t>
            </a:r>
            <a:endParaRPr lang="en-US" sz="10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3.xml"/><Relationship Id="rId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MadridNext</a:t>
            </a:r>
            <a:endParaRPr lang="en-US" sz="6000" dirty="0"/>
          </a:p>
        </p:txBody>
      </p:sp>
      <p:sp>
        <p:nvSpPr>
          <p:cNvPr id="4" name="Text 2"/>
          <p:cNvSpPr txBox="1"/>
          <p:nvPr/>
        </p:nvSpPr>
        <p:spPr>
          <a:xfrm>
            <a:off x="731520" y="2377440"/>
            <a:ext cx="6583680" cy="502920"/>
          </a:xfrm>
          <a:prstGeom prst="rect">
            <a:avLst/>
          </a:prstGeom>
          <a:noFill/>
          <a:ln/>
        </p:spPr>
        <p:txBody>
          <a:bodyPr wrap="square" lIns="0" tIns="0" rIns="0" bIns="0" rtlCol="0" anchor="t"/>
          <a:lstStyle/>
          <a:p>
            <a:pPr indent="0" marL="0">
              <a:buNone/>
            </a:pPr>
            <a:r>
              <a:rPr lang="en-US" sz="2800" dirty="0">
                <a:solidFill>
                  <a:schemeClr val="accent6"/>
                </a:solidFill>
                <a:latin typeface="+mj-lt" pitchFamily="34" charset="0"/>
                <a:ea typeface="+mj-lt" pitchFamily="34" charset="-122"/>
                <a:cs typeface="+mj-lt" pitchFamily="34" charset="-120"/>
              </a:rPr>
              <a:t>Capacidad de acogida territorial</a:t>
            </a:r>
            <a:endParaRPr lang="en-US" sz="2800" dirty="0"/>
          </a:p>
        </p:txBody>
      </p:sp>
      <p:sp>
        <p:nvSpPr>
          <p:cNvPr id="5" name="Text 3"/>
          <p:cNvSpPr txBox="1"/>
          <p:nvPr/>
        </p:nvSpPr>
        <p:spPr>
          <a:xfrm>
            <a:off x="731520" y="3063240"/>
            <a:ext cx="6217920" cy="777240"/>
          </a:xfrm>
          <a:prstGeom prst="rect">
            <a:avLst/>
          </a:prstGeom>
          <a:noFill/>
          <a:ln/>
        </p:spPr>
        <p:txBody>
          <a:bodyPr wrap="square" lIns="0" tIns="0" rIns="0" bIns="0" rtlCol="0" anchor="t"/>
          <a:lstStyle/>
          <a:p>
            <a:pPr indent="0" marL="0">
              <a:buNone/>
            </a:pPr>
            <a:r>
              <a:rPr lang="en-US" sz="1600" dirty="0">
                <a:solidFill>
                  <a:schemeClr val="bg1"/>
                </a:solidFill>
              </a:rPr>
              <a:t>Herramienta de diagnóstico dotacional y optimización presupuestaria para municipios de menos de 50.000 habitantes</a:t>
            </a:r>
            <a:endParaRPr lang="en-US" sz="1600" dirty="0"/>
          </a:p>
        </p:txBody>
      </p:sp>
      <p:sp>
        <p:nvSpPr>
          <p:cNvPr id="6" name="Text 4"/>
          <p:cNvSpPr txBox="1"/>
          <p:nvPr/>
        </p:nvSpPr>
        <p:spPr>
          <a:xfrm>
            <a:off x="731520" y="4160520"/>
            <a:ext cx="6217920" cy="1325880"/>
          </a:xfrm>
          <a:prstGeom prst="rect">
            <a:avLst/>
          </a:prstGeom>
          <a:noFill/>
          <a:ln/>
        </p:spPr>
        <p:txBody>
          <a:bodyPr wrap="square" lIns="0" tIns="0" rIns="0" bIns="0" rtlCol="0" anchor="t"/>
          <a:lstStyle/>
          <a:p>
            <a:pPr indent="0" marL="0">
              <a:buNone/>
            </a:pPr>
            <a:r>
              <a:rPr lang="en-US" sz="1400" i="1" dirty="0">
                <a:solidFill>
                  <a:schemeClr val="accent5"/>
                </a:solidFill>
              </a:rPr>
              <a:t>«El crecimiento demográfico regional no debe planificarse por intuición ni por mero atractivo inmobiliario. MadridNext ofrece a la Administración y a la ciudadanía una base objetiva para identificar techos dotacionales, prever cuellos de botella y priorizar inversiones públicas.»</a:t>
            </a:r>
            <a:endParaRPr lang="en-US" sz="1400" dirty="0"/>
          </a:p>
        </p:txBody>
      </p:sp>
      <p:sp>
        <p:nvSpPr>
          <p:cNvPr id="7" name="Text 5"/>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400" b="1" dirty="0">
                <a:solidFill>
                  <a:schemeClr val="bg1"/>
                </a:solidFill>
              </a:rPr>
              <a:t>Adrián Hernando Muñoz   ·   Juan Torrero de Pablo   ·   Alejandro Cuntin Bariteau</a:t>
            </a:r>
            <a:endParaRPr lang="en-US" sz="14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
        <p:nvSpPr>
          <p:cNvPr id="163" name="Text 161"/>
          <p:cNvSpPr txBox="1"/>
          <p:nvPr/>
        </p:nvSpPr>
        <p:spPr>
          <a:xfrm>
            <a:off x="7818120" y="5577840"/>
            <a:ext cx="4023360" cy="274320"/>
          </a:xfrm>
          <a:prstGeom prst="rect">
            <a:avLst/>
          </a:prstGeom>
          <a:noFill/>
          <a:ln/>
        </p:spPr>
        <p:txBody>
          <a:bodyPr wrap="square" lIns="0" tIns="0" rIns="0" bIns="0" rtlCol="0" anchor="t"/>
          <a:lstStyle/>
          <a:p>
            <a:pPr indent="0" marL="0">
              <a:buNone/>
            </a:pPr>
            <a:r>
              <a:rPr lang="en-US" sz="1200" dirty="0">
                <a:solidFill>
                  <a:schemeClr val="accent5"/>
                </a:solidFill>
              </a:rPr>
              <a:t>155 municipios, 20 en el piloto</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  ·  CONTEXTO TERRITORIAL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Asimetría demográfica y no compensación</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Diagnóstico de partida en los 155 municipios de menos de 50.000 habitantes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40280"/>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60981"/>
            <a:ext cx="307238" cy="307238"/>
          </a:xfrm>
          <a:prstGeom prst="rect">
            <a:avLst/>
          </a:prstGeom>
        </p:spPr>
      </p:pic>
      <p:sp>
        <p:nvSpPr>
          <p:cNvPr id="8" name="Text 5"/>
          <p:cNvSpPr txBox="1"/>
          <p:nvPr/>
        </p:nvSpPr>
        <p:spPr>
          <a:xfrm>
            <a:off x="914400"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CONCENTRACIÓN METROPOLITANA</a:t>
            </a:r>
            <a:endParaRPr lang="en-US" sz="1200" dirty="0"/>
          </a:p>
        </p:txBody>
      </p:sp>
      <p:sp>
        <p:nvSpPr>
          <p:cNvPr id="9" name="Text 6"/>
          <p:cNvSpPr txBox="1"/>
          <p:nvPr/>
        </p:nvSpPr>
        <p:spPr>
          <a:xfrm>
            <a:off x="914400" y="3337560"/>
            <a:ext cx="2926080" cy="777240"/>
          </a:xfrm>
          <a:prstGeom prst="rect">
            <a:avLst/>
          </a:prstGeom>
          <a:noFill/>
          <a:ln/>
        </p:spPr>
        <p:txBody>
          <a:bodyPr wrap="square" lIns="0" tIns="0" rIns="0" bIns="0" rtlCol="0" anchor="t"/>
          <a:lstStyle/>
          <a:p>
            <a:pPr indent="0" marL="0">
              <a:buNone/>
            </a:pPr>
            <a:r>
              <a:rPr lang="en-US" sz="5400" b="1" dirty="0">
                <a:solidFill>
                  <a:schemeClr val="accent1"/>
                </a:solidFill>
                <a:latin typeface="+mj-lt" pitchFamily="34" charset="0"/>
                <a:ea typeface="+mj-lt" pitchFamily="34" charset="-122"/>
                <a:cs typeface="+mj-lt" pitchFamily="34" charset="-120"/>
              </a:rPr>
              <a:t>80%</a:t>
            </a:r>
            <a:endParaRPr lang="en-US" sz="5400" dirty="0"/>
          </a:p>
        </p:txBody>
      </p:sp>
      <p:sp>
        <p:nvSpPr>
          <p:cNvPr id="10" name="Text 7"/>
          <p:cNvSpPr txBox="1"/>
          <p:nvPr/>
        </p:nvSpPr>
        <p:spPr>
          <a:xfrm>
            <a:off x="914400"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de la población regional vive en el área metropolitana central: congestión viaria, vivienda cara y tensión en la red asistencial. Los 155 municipios restantes tienen potencial, pero antes hay que medir cuánto aguantan.</a:t>
            </a:r>
            <a:endParaRPr lang="en-US" sz="1500" dirty="0"/>
          </a:p>
        </p:txBody>
      </p:sp>
      <p:sp>
        <p:nvSpPr>
          <p:cNvPr id="11" name="Tarjeta"/>
          <p:cNvSpPr/>
          <p:nvPr/>
        </p:nvSpPr>
        <p:spPr>
          <a:xfrm>
            <a:off x="4357116" y="1965960"/>
            <a:ext cx="3474720" cy="4206240"/>
          </a:xfrm>
          <a:prstGeom prst="roundRect">
            <a:avLst>
              <a:gd name="adj" fmla="val 2632"/>
            </a:avLst>
          </a:prstGeom>
          <a:solidFill>
            <a:schemeClr val="bg2"/>
          </a:solidFill>
          <a:ln/>
        </p:spPr>
      </p:sp>
      <p:sp>
        <p:nvSpPr>
          <p:cNvPr id="12" name="Círculo icono"/>
          <p:cNvSpPr/>
          <p:nvPr/>
        </p:nvSpPr>
        <p:spPr>
          <a:xfrm>
            <a:off x="4631436" y="2240280"/>
            <a:ext cx="548640" cy="548640"/>
          </a:xfrm>
          <a:prstGeom prst="ellipse">
            <a:avLst/>
          </a:prstGeom>
          <a:solidFill>
            <a:srgbClr val="C0263F"/>
          </a:solidFill>
          <a:ln/>
        </p:spPr>
      </p:sp>
      <p:pic>
        <p:nvPicPr>
          <p:cNvPr id="13" name="Image 1" descr="preencoded.png">    </p:cNvPr>
          <p:cNvPicPr>
            <a:picLocks noChangeAspect="1"/>
          </p:cNvPicPr>
          <p:nvPr/>
        </p:nvPicPr>
        <p:blipFill>
          <a:blip r:embed="rId2"/>
          <a:stretch>
            <a:fillRect/>
          </a:stretch>
        </p:blipFill>
        <p:spPr>
          <a:xfrm>
            <a:off x="4752137" y="2360981"/>
            <a:ext cx="307238" cy="307238"/>
          </a:xfrm>
          <a:prstGeom prst="rect">
            <a:avLst/>
          </a:prstGeom>
        </p:spPr>
      </p:pic>
      <p:sp>
        <p:nvSpPr>
          <p:cNvPr id="14" name="Text 10"/>
          <p:cNvSpPr txBox="1"/>
          <p:nvPr/>
        </p:nvSpPr>
        <p:spPr>
          <a:xfrm>
            <a:off x="4631436"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LA PARADOJA DEL ATRACTIVO</a:t>
            </a:r>
            <a:endParaRPr lang="en-US" sz="1200" dirty="0"/>
          </a:p>
        </p:txBody>
      </p:sp>
      <p:sp>
        <p:nvSpPr>
          <p:cNvPr id="15" name="Text 11"/>
          <p:cNvSpPr txBox="1"/>
          <p:nvPr/>
        </p:nvSpPr>
        <p:spPr>
          <a:xfrm>
            <a:off x="4631436"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Menor precio ≠ mayor capacidad</a:t>
            </a:r>
            <a:endParaRPr lang="en-US" sz="2100" dirty="0"/>
          </a:p>
        </p:txBody>
      </p:sp>
      <p:sp>
        <p:nvSpPr>
          <p:cNvPr id="16" name="Text 12"/>
          <p:cNvSpPr txBox="1"/>
          <p:nvPr/>
        </p:nvSpPr>
        <p:spPr>
          <a:xfrm>
            <a:off x="4631436"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Un municipio asequible puede no tener plazas escolares ni médicos para nuevas familias. Atraer población donde no hay holgura dotacional traslada el colapso al entorno rural.</a:t>
            </a:r>
            <a:endParaRPr lang="en-US" sz="1500" dirty="0"/>
          </a:p>
        </p:txBody>
      </p:sp>
      <p:sp>
        <p:nvSpPr>
          <p:cNvPr id="17" name="Tarjeta"/>
          <p:cNvSpPr/>
          <p:nvPr/>
        </p:nvSpPr>
        <p:spPr>
          <a:xfrm>
            <a:off x="8074152" y="1965960"/>
            <a:ext cx="3474720" cy="4206240"/>
          </a:xfrm>
          <a:prstGeom prst="roundRect">
            <a:avLst>
              <a:gd name="adj" fmla="val 2632"/>
            </a:avLst>
          </a:prstGeom>
          <a:solidFill>
            <a:schemeClr val="bg2"/>
          </a:solidFill>
          <a:ln/>
        </p:spPr>
      </p:sp>
      <p:sp>
        <p:nvSpPr>
          <p:cNvPr id="18" name="Círculo icono"/>
          <p:cNvSpPr/>
          <p:nvPr/>
        </p:nvSpPr>
        <p:spPr>
          <a:xfrm>
            <a:off x="8348472" y="2240280"/>
            <a:ext cx="548640" cy="548640"/>
          </a:xfrm>
          <a:prstGeom prst="ellipse">
            <a:avLst/>
          </a:prstGeom>
          <a:solidFill>
            <a:srgbClr val="C0263F"/>
          </a:solidFill>
          <a:ln/>
        </p:spPr>
      </p:sp>
      <p:pic>
        <p:nvPicPr>
          <p:cNvPr id="19" name="Image 2" descr="preencoded.png">    </p:cNvPr>
          <p:cNvPicPr>
            <a:picLocks noChangeAspect="1"/>
          </p:cNvPicPr>
          <p:nvPr/>
        </p:nvPicPr>
        <p:blipFill>
          <a:blip r:embed="rId3"/>
          <a:stretch>
            <a:fillRect/>
          </a:stretch>
        </p:blipFill>
        <p:spPr>
          <a:xfrm>
            <a:off x="8469173" y="2360981"/>
            <a:ext cx="307238" cy="307238"/>
          </a:xfrm>
          <a:prstGeom prst="rect">
            <a:avLst/>
          </a:prstGeom>
        </p:spPr>
      </p:pic>
      <p:sp>
        <p:nvSpPr>
          <p:cNvPr id="20" name="Text 15"/>
          <p:cNvSpPr txBox="1"/>
          <p:nvPr/>
        </p:nvSpPr>
        <p:spPr>
          <a:xfrm>
            <a:off x="8348472" y="3017520"/>
            <a:ext cx="30175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REGLA DE NO COMPENSACIÓN</a:t>
            </a:r>
            <a:endParaRPr lang="en-US" sz="1200" dirty="0"/>
          </a:p>
        </p:txBody>
      </p:sp>
      <p:sp>
        <p:nvSpPr>
          <p:cNvPr id="21" name="Text 16"/>
          <p:cNvSpPr txBox="1"/>
          <p:nvPr/>
        </p:nvSpPr>
        <p:spPr>
          <a:xfrm>
            <a:off x="8348472" y="3337560"/>
            <a:ext cx="2926080" cy="77724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Principio del cuello de botella</a:t>
            </a:r>
            <a:endParaRPr lang="en-US" sz="2100" dirty="0"/>
          </a:p>
        </p:txBody>
      </p:sp>
      <p:sp>
        <p:nvSpPr>
          <p:cNvPr id="22" name="Text 17"/>
          <p:cNvSpPr txBox="1"/>
          <p:nvPr/>
        </p:nvSpPr>
        <p:spPr>
          <a:xfrm>
            <a:off x="8348472" y="4251960"/>
            <a:ext cx="2926080" cy="1783080"/>
          </a:xfrm>
          <a:prstGeom prst="rect">
            <a:avLst/>
          </a:prstGeom>
          <a:noFill/>
          <a:ln/>
        </p:spPr>
        <p:txBody>
          <a:bodyPr wrap="square" lIns="0" tIns="0" rIns="0" bIns="0" rtlCol="0" anchor="t"/>
          <a:lstStyle/>
          <a:p>
            <a:pPr indent="0" marL="0">
              <a:buNone/>
            </a:pPr>
            <a:r>
              <a:rPr lang="en-US" sz="1500" dirty="0">
                <a:solidFill>
                  <a:schemeClr val="tx2"/>
                </a:solidFill>
              </a:rPr>
              <a:t>Según la ley del mínimo de Liebig, la falta de sanidad o educación no se compensa con suelo ni zonas verdes. Más de 1.500 hab/médico o aulas al 95%: el índice queda por debajo de 40.</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2  ·  TRATAMIENTO DE DATOS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Datos trazables: qué es real y qué es estimado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Fase 1, ingesta y etiquetado de fuentes. Fase 2, control de calidad.</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1  ·  INGESTA</a:t>
            </a:r>
            <a:endParaRPr lang="en-US" sz="1200" dirty="0"/>
          </a:p>
        </p:txBody>
      </p:sp>
      <p:sp>
        <p:nvSpPr>
          <p:cNvPr id="6" name="Etiqueta fuente"/>
          <p:cNvSpPr/>
          <p:nvPr/>
        </p:nvSpPr>
        <p:spPr>
          <a:xfrm>
            <a:off x="640080" y="2450592"/>
            <a:ext cx="1143000" cy="420624"/>
          </a:xfrm>
          <a:prstGeom prst="roundRect">
            <a:avLst>
              <a:gd name="adj" fmla="val 17391"/>
            </a:avLst>
          </a:prstGeom>
          <a:solidFill>
            <a:schemeClr val="tx1"/>
          </a:solidFill>
          <a:ln/>
        </p:spPr>
        <p:txBody>
          <a:bodyPr/>
          <a:p/>
        </p:txBody>
      </p:sp>
      <p:sp>
        <p:nvSpPr>
          <p:cNvPr id="7" name="Text 5"/>
          <p:cNvSpPr txBox="1"/>
          <p:nvPr/>
        </p:nvSpPr>
        <p:spPr>
          <a:xfrm>
            <a:off x="640080" y="2450592"/>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INE</a:t>
            </a:r>
            <a:endParaRPr lang="en-US" sz="1200" dirty="0"/>
          </a:p>
        </p:txBody>
      </p:sp>
      <p:sp>
        <p:nvSpPr>
          <p:cNvPr id="8" name="Text 6"/>
          <p:cNvSpPr txBox="1"/>
          <p:nvPr/>
        </p:nvSpPr>
        <p:spPr>
          <a:xfrm>
            <a:off x="2011680" y="2377440"/>
            <a:ext cx="4114800" cy="685800"/>
          </a:xfrm>
          <a:prstGeom prst="rect">
            <a:avLst/>
          </a:prstGeom>
          <a:noFill/>
          <a:ln/>
        </p:spPr>
        <p:txBody>
          <a:bodyPr wrap="square" lIns="0" tIns="0" rIns="0" bIns="0" rtlCol="0" anchor="t"/>
          <a:lstStyle/>
          <a:p>
            <a:pPr indent="0" marL="0">
              <a:buNone/>
            </a:pPr>
            <a:r>
              <a:rPr lang="en-US" sz="1500" b="1" dirty="0">
                <a:solidFill>
                  <a:schemeClr val="tx1"/>
                </a:solidFill>
              </a:rPr>
              <a:t>Padrón continuo y migraciones</a:t>
            </a:r>
            <a:endParaRPr lang="en-US" sz="1500" dirty="0"/>
          </a:p>
          <a:p>
            <a:pPr indent="0" marL="0">
              <a:buNone/>
            </a:pPr>
            <a:r>
              <a:rPr lang="en-US" sz="1400" dirty="0">
                <a:solidFill>
                  <a:schemeClr val="tx2"/>
                </a:solidFill>
              </a:rPr>
              <a:t>Población histórica y saldo neto (datos reales)</a:t>
            </a:r>
            <a:endParaRPr lang="en-US" sz="1500" dirty="0"/>
          </a:p>
        </p:txBody>
      </p:sp>
      <p:sp>
        <p:nvSpPr>
          <p:cNvPr id="9" name="Etiqueta fuente"/>
          <p:cNvSpPr/>
          <p:nvPr/>
        </p:nvSpPr>
        <p:spPr>
          <a:xfrm>
            <a:off x="640080" y="3236976"/>
            <a:ext cx="1143000" cy="420624"/>
          </a:xfrm>
          <a:prstGeom prst="roundRect">
            <a:avLst>
              <a:gd name="adj" fmla="val 17391"/>
            </a:avLst>
          </a:prstGeom>
          <a:solidFill>
            <a:schemeClr val="tx1"/>
          </a:solidFill>
          <a:ln/>
        </p:spPr>
        <p:txBody>
          <a:bodyPr/>
          <a:p/>
        </p:txBody>
      </p:sp>
      <p:sp>
        <p:nvSpPr>
          <p:cNvPr id="10" name="Text 8"/>
          <p:cNvSpPr txBox="1"/>
          <p:nvPr/>
        </p:nvSpPr>
        <p:spPr>
          <a:xfrm>
            <a:off x="640080" y="3236976"/>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CAM</a:t>
            </a:r>
            <a:endParaRPr lang="en-US" sz="1200" dirty="0"/>
          </a:p>
        </p:txBody>
      </p:sp>
      <p:sp>
        <p:nvSpPr>
          <p:cNvPr id="11" name="Text 9"/>
          <p:cNvSpPr txBox="1"/>
          <p:nvPr/>
        </p:nvSpPr>
        <p:spPr>
          <a:xfrm>
            <a:off x="2011680" y="3163824"/>
            <a:ext cx="4114800" cy="685800"/>
          </a:xfrm>
          <a:prstGeom prst="rect">
            <a:avLst/>
          </a:prstGeom>
          <a:noFill/>
          <a:ln/>
        </p:spPr>
        <p:txBody>
          <a:bodyPr wrap="square" lIns="0" tIns="0" rIns="0" bIns="0" rtlCol="0" anchor="t"/>
          <a:lstStyle/>
          <a:p>
            <a:pPr indent="0" marL="0">
              <a:buNone/>
            </a:pPr>
            <a:r>
              <a:rPr lang="en-US" sz="1500" b="1" dirty="0">
                <a:solidFill>
                  <a:schemeClr val="tx1"/>
                </a:solidFill>
              </a:rPr>
              <a:t>Datos abiertos de la Comunidad (CKAN)</a:t>
            </a:r>
            <a:endParaRPr lang="en-US" sz="1500" dirty="0"/>
          </a:p>
          <a:p>
            <a:pPr indent="0" marL="0">
              <a:buNone/>
            </a:pPr>
            <a:r>
              <a:rPr lang="en-US" sz="1400" dirty="0">
                <a:solidFill>
                  <a:schemeClr val="tx2"/>
                </a:solidFill>
              </a:rPr>
              <a:t>Centros de salud en alta (SERMAS) y centros educativos</a:t>
            </a:r>
            <a:endParaRPr lang="en-US" sz="1500" dirty="0"/>
          </a:p>
        </p:txBody>
      </p:sp>
      <p:sp>
        <p:nvSpPr>
          <p:cNvPr id="12" name="Etiqueta fuente"/>
          <p:cNvSpPr/>
          <p:nvPr/>
        </p:nvSpPr>
        <p:spPr>
          <a:xfrm>
            <a:off x="640080" y="4023360"/>
            <a:ext cx="1143000" cy="420624"/>
          </a:xfrm>
          <a:prstGeom prst="roundRect">
            <a:avLst>
              <a:gd name="adj" fmla="val 17391"/>
            </a:avLst>
          </a:prstGeom>
          <a:solidFill>
            <a:schemeClr val="tx1"/>
          </a:solidFill>
          <a:ln/>
        </p:spPr>
        <p:txBody>
          <a:bodyPr/>
          <a:p/>
        </p:txBody>
      </p:sp>
      <p:sp>
        <p:nvSpPr>
          <p:cNvPr id="13" name="Text 11"/>
          <p:cNvSpPr txBox="1"/>
          <p:nvPr/>
        </p:nvSpPr>
        <p:spPr>
          <a:xfrm>
            <a:off x="640080" y="4023360"/>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CATASTRO</a:t>
            </a:r>
            <a:endParaRPr lang="en-US" sz="1200" dirty="0"/>
          </a:p>
        </p:txBody>
      </p:sp>
      <p:sp>
        <p:nvSpPr>
          <p:cNvPr id="14" name="Text 12"/>
          <p:cNvSpPr txBox="1"/>
          <p:nvPr/>
        </p:nvSpPr>
        <p:spPr>
          <a:xfrm>
            <a:off x="2011680" y="3950208"/>
            <a:ext cx="4114800" cy="685800"/>
          </a:xfrm>
          <a:prstGeom prst="rect">
            <a:avLst/>
          </a:prstGeom>
          <a:noFill/>
          <a:ln/>
        </p:spPr>
        <p:txBody>
          <a:bodyPr wrap="square" lIns="0" tIns="0" rIns="0" bIns="0" rtlCol="0" anchor="t"/>
          <a:lstStyle/>
          <a:p>
            <a:pPr indent="0" marL="0">
              <a:buNone/>
            </a:pPr>
            <a:r>
              <a:rPr lang="en-US" sz="1500" b="1" dirty="0">
                <a:solidFill>
                  <a:schemeClr val="tx1"/>
                </a:solidFill>
              </a:rPr>
              <a:t>Dirección General del Catastro, 2026</a:t>
            </a:r>
            <a:endParaRPr lang="en-US" sz="1500" dirty="0"/>
          </a:p>
          <a:p>
            <a:pPr indent="0" marL="0">
              <a:buNone/>
            </a:pPr>
            <a:r>
              <a:rPr lang="en-US" sz="1400" dirty="0">
                <a:solidFill>
                  <a:schemeClr val="tx2"/>
                </a:solidFill>
              </a:rPr>
              <a:t>Valor catastral medio (€/m²) y volumen edificado</a:t>
            </a:r>
            <a:endParaRPr lang="en-US" sz="1500" dirty="0"/>
          </a:p>
        </p:txBody>
      </p:sp>
      <p:sp>
        <p:nvSpPr>
          <p:cNvPr id="15" name="Etiqueta fuente"/>
          <p:cNvSpPr/>
          <p:nvPr/>
        </p:nvSpPr>
        <p:spPr>
          <a:xfrm>
            <a:off x="640080" y="4809744"/>
            <a:ext cx="1143000" cy="420624"/>
          </a:xfrm>
          <a:prstGeom prst="roundRect">
            <a:avLst>
              <a:gd name="adj" fmla="val 17391"/>
            </a:avLst>
          </a:prstGeom>
          <a:solidFill>
            <a:schemeClr val="tx1"/>
          </a:solidFill>
          <a:ln/>
        </p:spPr>
        <p:txBody>
          <a:bodyPr/>
          <a:p/>
        </p:txBody>
      </p:sp>
      <p:sp>
        <p:nvSpPr>
          <p:cNvPr id="16" name="Text 14"/>
          <p:cNvSpPr txBox="1"/>
          <p:nvPr/>
        </p:nvSpPr>
        <p:spPr>
          <a:xfrm>
            <a:off x="640080" y="4809744"/>
            <a:ext cx="1143000" cy="420624"/>
          </a:xfrm>
          <a:prstGeom prst="rect">
            <a:avLst/>
          </a:prstGeom>
          <a:noFill/>
          <a:ln/>
        </p:spPr>
        <p:txBody>
          <a:bodyPr wrap="square" lIns="0" tIns="0" rIns="0" bIns="0" rtlCol="0" anchor="ctr"/>
          <a:lstStyle/>
          <a:p>
            <a:pPr algn="ctr" indent="0" marL="0">
              <a:buNone/>
            </a:pPr>
            <a:r>
              <a:rPr lang="en-US" sz="1200" b="1" dirty="0">
                <a:solidFill>
                  <a:schemeClr val="bg1"/>
                </a:solidFill>
              </a:rPr>
              <a:t>CRTM</a:t>
            </a:r>
            <a:endParaRPr lang="en-US" sz="1200" dirty="0"/>
          </a:p>
        </p:txBody>
      </p:sp>
      <p:sp>
        <p:nvSpPr>
          <p:cNvPr id="17" name="Text 15"/>
          <p:cNvSpPr txBox="1"/>
          <p:nvPr/>
        </p:nvSpPr>
        <p:spPr>
          <a:xfrm>
            <a:off x="2011680" y="4736592"/>
            <a:ext cx="4114800" cy="685800"/>
          </a:xfrm>
          <a:prstGeom prst="rect">
            <a:avLst/>
          </a:prstGeom>
          <a:noFill/>
          <a:ln/>
        </p:spPr>
        <p:txBody>
          <a:bodyPr wrap="square" lIns="0" tIns="0" rIns="0" bIns="0" rtlCol="0" anchor="t"/>
          <a:lstStyle/>
          <a:p>
            <a:pPr indent="0" marL="0">
              <a:buNone/>
            </a:pPr>
            <a:r>
              <a:rPr lang="en-US" sz="1500" b="1" dirty="0">
                <a:solidFill>
                  <a:schemeClr val="tx1"/>
                </a:solidFill>
              </a:rPr>
              <a:t>Consorcio Regional de Transportes</a:t>
            </a:r>
            <a:endParaRPr lang="en-US" sz="1500" dirty="0"/>
          </a:p>
          <a:p>
            <a:pPr indent="0" marL="0">
              <a:buNone/>
            </a:pPr>
            <a:r>
              <a:rPr lang="en-US" sz="1400" dirty="0">
                <a:solidFill>
                  <a:schemeClr val="tx2"/>
                </a:solidFill>
              </a:rPr>
              <a:t>Zonas tarifarias e isócronas medias a Madrid</a:t>
            </a:r>
            <a:endParaRPr lang="en-US" sz="1500" dirty="0"/>
          </a:p>
        </p:txBody>
      </p:sp>
      <p:sp>
        <p:nvSpPr>
          <p:cNvPr id="18" name="Text 16"/>
          <p:cNvSpPr txBox="1"/>
          <p:nvPr/>
        </p:nvSpPr>
        <p:spPr>
          <a:xfrm>
            <a:off x="640080" y="5623560"/>
            <a:ext cx="5486400" cy="457200"/>
          </a:xfrm>
          <a:prstGeom prst="rect">
            <a:avLst/>
          </a:prstGeom>
          <a:noFill/>
          <a:ln/>
        </p:spPr>
        <p:txBody>
          <a:bodyPr wrap="square" lIns="0" tIns="0" rIns="0" bIns="0" rtlCol="0" anchor="t"/>
          <a:lstStyle/>
          <a:p>
            <a:r>
              <a:rPr sz="1000">
                <a:solidFill>
                  <a:srgbClr val="475569"/>
                </a:solidFill>
                <a:latin typeface="Segoe UI"/>
              </a:rPr>
              <a:t>Regla de honestidad: cada variable lleva su etiqueta REAL o ESTIMADO. Control de overfitting desde la ingesta.</a:t>
            </a:r>
          </a:p>
        </p:txBody>
      </p:sp>
      <p:sp>
        <p:nvSpPr>
          <p:cNvPr id="19" name="Text 17"/>
          <p:cNvSpPr txBox="1"/>
          <p:nvPr/>
        </p:nvSpPr>
        <p:spPr>
          <a:xfrm>
            <a:off x="667512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FASE 2  ·  CONTROL DE CALIDAD</a:t>
            </a:r>
            <a:endParaRPr lang="en-US" sz="1200" dirty="0"/>
          </a:p>
        </p:txBody>
      </p:sp>
      <p:sp>
        <p:nvSpPr>
          <p:cNvPr id="20" name="Dato"/>
          <p:cNvSpPr/>
          <p:nvPr/>
        </p:nvSpPr>
        <p:spPr>
          <a:xfrm>
            <a:off x="6675120" y="2377440"/>
            <a:ext cx="2359152" cy="1325880"/>
          </a:xfrm>
          <a:prstGeom prst="roundRect">
            <a:avLst>
              <a:gd name="adj" fmla="val 6897"/>
            </a:avLst>
          </a:prstGeom>
          <a:solidFill>
            <a:schemeClr val="bg2"/>
          </a:solidFill>
          <a:ln/>
        </p:spPr>
        <p:txBody>
          <a:bodyPr/>
          <a:p/>
        </p:txBody>
      </p:sp>
      <p:sp>
        <p:nvSpPr>
          <p:cNvPr id="21" name="Text 19"/>
          <p:cNvSpPr txBox="1"/>
          <p:nvPr/>
        </p:nvSpPr>
        <p:spPr>
          <a:xfrm>
            <a:off x="68762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92</a:t>
            </a:r>
            <a:endParaRPr lang="en-US" sz="3800" dirty="0"/>
          </a:p>
        </p:txBody>
      </p:sp>
      <p:sp>
        <p:nvSpPr>
          <p:cNvPr id="22" name="Text 20"/>
          <p:cNvSpPr txBox="1"/>
          <p:nvPr/>
        </p:nvSpPr>
        <p:spPr>
          <a:xfrm>
            <a:off x="68762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columnas del panel verificadas</a:t>
            </a:r>
            <a:endParaRPr lang="en-US" sz="1400" dirty="0"/>
          </a:p>
        </p:txBody>
      </p:sp>
      <p:sp>
        <p:nvSpPr>
          <p:cNvPr id="23" name="Dato"/>
          <p:cNvSpPr/>
          <p:nvPr/>
        </p:nvSpPr>
        <p:spPr>
          <a:xfrm>
            <a:off x="9189720" y="2377440"/>
            <a:ext cx="2359152" cy="1325880"/>
          </a:xfrm>
          <a:prstGeom prst="roundRect">
            <a:avLst>
              <a:gd name="adj" fmla="val 6897"/>
            </a:avLst>
          </a:prstGeom>
          <a:solidFill>
            <a:schemeClr val="bg2"/>
          </a:solidFill>
          <a:ln/>
        </p:spPr>
        <p:txBody>
          <a:bodyPr/>
          <a:p/>
        </p:txBody>
      </p:sp>
      <p:sp>
        <p:nvSpPr>
          <p:cNvPr id="24" name="Text 22"/>
          <p:cNvSpPr txBox="1"/>
          <p:nvPr/>
        </p:nvSpPr>
        <p:spPr>
          <a:xfrm>
            <a:off x="9390888" y="248716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0</a:t>
            </a:r>
            <a:endParaRPr lang="en-US" sz="3800" dirty="0"/>
          </a:p>
        </p:txBody>
      </p:sp>
      <p:sp>
        <p:nvSpPr>
          <p:cNvPr id="25" name="Text 23"/>
          <p:cNvSpPr txBox="1"/>
          <p:nvPr/>
        </p:nvSpPr>
        <p:spPr>
          <a:xfrm>
            <a:off x="9390888" y="3090672"/>
            <a:ext cx="2011680" cy="548640"/>
          </a:xfrm>
          <a:prstGeom prst="rect">
            <a:avLst/>
          </a:prstGeom>
          <a:noFill/>
          <a:ln/>
        </p:spPr>
        <p:txBody>
          <a:bodyPr wrap="square" lIns="0" tIns="0" rIns="0" bIns="0" rtlCol="0" anchor="t"/>
          <a:lstStyle/>
          <a:p>
            <a:pPr indent="0" marL="0">
              <a:buNone/>
            </a:pPr>
            <a:r>
              <a:rPr lang="en-US" sz="1400" dirty="0">
                <a:solidFill>
                  <a:schemeClr val="tx2"/>
                </a:solidFill>
              </a:rPr>
              <a:t>valores ausentes en las variables de modelado</a:t>
            </a:r>
            <a:endParaRPr lang="en-US" sz="1400" dirty="0"/>
          </a:p>
        </p:txBody>
      </p:sp>
      <p:sp>
        <p:nvSpPr>
          <p:cNvPr id="26" name="Dato"/>
          <p:cNvSpPr/>
          <p:nvPr/>
        </p:nvSpPr>
        <p:spPr>
          <a:xfrm>
            <a:off x="6675120" y="3840480"/>
            <a:ext cx="2359152" cy="1325880"/>
          </a:xfrm>
          <a:prstGeom prst="roundRect">
            <a:avLst>
              <a:gd name="adj" fmla="val 6897"/>
            </a:avLst>
          </a:prstGeom>
          <a:solidFill>
            <a:schemeClr val="bg2"/>
          </a:solidFill>
          <a:ln/>
        </p:spPr>
        <p:txBody>
          <a:bodyPr/>
          <a:p/>
        </p:txBody>
      </p:sp>
      <p:sp>
        <p:nvSpPr>
          <p:cNvPr id="27" name="Text 25"/>
          <p:cNvSpPr txBox="1"/>
          <p:nvPr/>
        </p:nvSpPr>
        <p:spPr>
          <a:xfrm>
            <a:off x="6876288" y="3950208"/>
            <a:ext cx="2011680" cy="594360"/>
          </a:xfrm>
          <a:prstGeom prst="rect">
            <a:avLst/>
          </a:prstGeom>
          <a:noFill/>
          <a:ln/>
        </p:spPr>
        <p:txBody>
          <a:bodyPr wrap="square" lIns="0" tIns="0" rIns="0" bIns="0" rtlCol="0" anchor="t"/>
          <a:lstStyle/>
          <a:p>
            <a:pPr indent="0" marL="0">
              <a:buNone/>
            </a:pPr>
            <a:r>
              <a:rPr lang="en-US" sz="3800" b="1" dirty="0">
                <a:solidFill>
                  <a:schemeClr val="accent1"/>
                </a:solidFill>
                <a:latin typeface="+mj-lt" pitchFamily="34" charset="0"/>
                <a:ea typeface="+mj-lt" pitchFamily="34" charset="-122"/>
                <a:cs typeface="+mj-lt" pitchFamily="34" charset="-120"/>
              </a:rPr>
              <a:t>20</a:t>
            </a:r>
            <a:endParaRPr lang="en-US" sz="3800" dirty="0"/>
          </a:p>
        </p:txBody>
      </p:sp>
      <p:sp>
        <p:nvSpPr>
          <p:cNvPr id="28" name="Text 26"/>
          <p:cNvSpPr txBox="1"/>
          <p:nvPr/>
        </p:nvSpPr>
        <p:spPr>
          <a:xfrm>
            <a:off x="68762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códigos INE únicos, sin repetidos</a:t>
            </a:r>
            <a:endParaRPr lang="en-US" sz="1400" dirty="0"/>
          </a:p>
        </p:txBody>
      </p:sp>
      <p:sp>
        <p:nvSpPr>
          <p:cNvPr id="29" name="Dato"/>
          <p:cNvSpPr/>
          <p:nvPr/>
        </p:nvSpPr>
        <p:spPr>
          <a:xfrm>
            <a:off x="9189720" y="3840480"/>
            <a:ext cx="2359152" cy="1325880"/>
          </a:xfrm>
          <a:prstGeom prst="roundRect">
            <a:avLst>
              <a:gd name="adj" fmla="val 6897"/>
            </a:avLst>
          </a:prstGeom>
          <a:solidFill>
            <a:schemeClr val="bg2"/>
          </a:solidFill>
          <a:ln/>
        </p:spPr>
        <p:txBody>
          <a:bodyPr/>
          <a:p/>
        </p:txBody>
      </p:sp>
      <p:sp>
        <p:nvSpPr>
          <p:cNvPr id="30" name="Text 28"/>
          <p:cNvSpPr txBox="1"/>
          <p:nvPr/>
        </p:nvSpPr>
        <p:spPr>
          <a:xfrm>
            <a:off x="9390888" y="3950208"/>
            <a:ext cx="2011680" cy="594360"/>
          </a:xfrm>
          <a:prstGeom prst="rect">
            <a:avLst/>
          </a:prstGeom>
          <a:noFill/>
          <a:ln/>
        </p:spPr>
        <p:txBody>
          <a:bodyPr wrap="square" lIns="0" tIns="0" rIns="0" bIns="0" rtlCol="0" anchor="t"/>
          <a:lstStyle/>
          <a:p>
            <a:r>
              <a:t>73</a:t>
            </a:r>
          </a:p>
        </p:txBody>
      </p:sp>
      <p:sp>
        <p:nvSpPr>
          <p:cNvPr id="31" name="Text 29"/>
          <p:cNvSpPr txBox="1"/>
          <p:nvPr/>
        </p:nvSpPr>
        <p:spPr>
          <a:xfrm>
            <a:off x="9390888" y="4553712"/>
            <a:ext cx="2011680" cy="548640"/>
          </a:xfrm>
          <a:prstGeom prst="rect">
            <a:avLst/>
          </a:prstGeom>
          <a:noFill/>
          <a:ln/>
        </p:spPr>
        <p:txBody>
          <a:bodyPr wrap="square" lIns="0" tIns="0" rIns="0" bIns="0" rtlCol="0" anchor="t"/>
          <a:lstStyle/>
          <a:p>
            <a:pPr indent="0" marL="0">
              <a:buNone/>
            </a:pPr>
            <a:r>
              <a:rPr lang="en-US" sz="1400" dirty="0">
                <a:solidFill>
                  <a:schemeClr val="tx2"/>
                </a:solidFill>
              </a:rPr>
              <a:t>pruebas unitarias y de integración</a:t>
            </a:r>
            <a:endParaRPr lang="en-US" sz="1400" dirty="0"/>
          </a:p>
        </p:txBody>
      </p:sp>
      <p:sp>
        <p:nvSpPr>
          <p:cNvPr id="32" name="Text 30"/>
          <p:cNvSpPr txBox="1"/>
          <p:nvPr/>
        </p:nvSpPr>
        <p:spPr>
          <a:xfrm>
            <a:off x="6675120" y="5349240"/>
            <a:ext cx="4873752" cy="457200"/>
          </a:xfrm>
          <a:prstGeom prst="rect">
            <a:avLst/>
          </a:prstGeom>
          <a:noFill/>
          <a:ln/>
        </p:spPr>
        <p:txBody>
          <a:bodyPr wrap="square" lIns="0" tIns="0" rIns="0" bIns="0" rtlCol="0" anchor="t"/>
          <a:lstStyle/>
          <a:p>
            <a:r>
              <a:rPr sz="950">
                <a:solidFill>
                  <a:srgbClr val="475569"/>
                </a:solidFill>
                <a:latin typeface="Segoe UI"/>
              </a:rPr>
              <a:t>Piloto: 20 municipios (92 vars) · Cobertura regional en Git: 155 municipios &lt; 50k hab. (997.059 hab., 0 nulos) y 179 CAM (pipeline_179.py).</a:t>
            </a:r>
          </a:p>
        </p:txBody>
      </p:sp>
      <p:sp>
        <p:nvSpPr>
          <p:cNvPr id="33" name="Text 31"/>
          <p:cNvSpPr txBox="1"/>
          <p:nvPr/>
        </p:nvSpPr>
        <p:spPr>
          <a:xfrm>
            <a:off x="6675120" y="5870448"/>
            <a:ext cx="4873752" cy="27432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data/validated/municipios_panel_validado.csv</a:t>
            </a:r>
            <a:endParaRPr lang="en-US" sz="1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3  ·  PERFIL CIUDADANO Y PRIVACIDAD</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Perfil ciudadano y privacidad por diseño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Python y Oracle como caminos paralelos, con garantía de privacidad (RGPD)</a:t>
            </a:r>
            <a:endParaRPr lang="en-US" sz="1600" dirty="0"/>
          </a:p>
        </p:txBody>
      </p:sp>
      <p:sp>
        <p:nvSpPr>
          <p:cNvPr id="5" name="Text 3"/>
          <p:cNvSpPr txBox="1"/>
          <p:nvPr/>
        </p:nvSpPr>
        <p:spPr>
          <a:xfrm>
            <a:off x="640080" y="2011680"/>
            <a:ext cx="54864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 QUE INTRODUCE EL CIUDADANO</a:t>
            </a:r>
            <a:endParaRPr lang="en-US" sz="1200" dirty="0"/>
          </a:p>
        </p:txBody>
      </p:sp>
      <p:sp>
        <p:nvSpPr>
          <p:cNvPr id="6" name="Parámetro"/>
          <p:cNvSpPr/>
          <p:nvPr/>
        </p:nvSpPr>
        <p:spPr>
          <a:xfrm>
            <a:off x="640080" y="2377440"/>
            <a:ext cx="3200400" cy="960120"/>
          </a:xfrm>
          <a:prstGeom prst="roundRect">
            <a:avLst>
              <a:gd name="adj" fmla="val 9524"/>
            </a:avLst>
          </a:prstGeom>
          <a:solidFill>
            <a:schemeClr val="bg2"/>
          </a:solidFill>
          <a:ln/>
        </p:spPr>
      </p:sp>
      <p:sp>
        <p:nvSpPr>
          <p:cNvPr id="7" name="Círculo icono"/>
          <p:cNvSpPr/>
          <p:nvPr/>
        </p:nvSpPr>
        <p:spPr>
          <a:xfrm>
            <a:off x="804672" y="2624328"/>
            <a:ext cx="457200" cy="457200"/>
          </a:xfrm>
          <a:prstGeom prst="ellipse">
            <a:avLst/>
          </a:prstGeom>
          <a:solidFill>
            <a:srgbClr val="161A26"/>
          </a:solidFill>
          <a:ln/>
        </p:spPr>
      </p:sp>
      <p:pic>
        <p:nvPicPr>
          <p:cNvPr id="8" name="Image 0" descr="preencoded.png">    </p:cNvPr>
          <p:cNvPicPr>
            <a:picLocks noChangeAspect="1"/>
          </p:cNvPicPr>
          <p:nvPr/>
        </p:nvPicPr>
        <p:blipFill>
          <a:blip r:embed="rId1"/>
          <a:stretch>
            <a:fillRect/>
          </a:stretch>
        </p:blipFill>
        <p:spPr>
          <a:xfrm>
            <a:off x="905256" y="2724912"/>
            <a:ext cx="256032" cy="256032"/>
          </a:xfrm>
          <a:prstGeom prst="rect">
            <a:avLst/>
          </a:prstGeom>
        </p:spPr>
      </p:pic>
      <p:sp>
        <p:nvSpPr>
          <p:cNvPr id="9" name="Text 6"/>
          <p:cNvSpPr txBox="1"/>
          <p:nvPr/>
        </p:nvSpPr>
        <p:spPr>
          <a:xfrm>
            <a:off x="141732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Presupuesto de vivienda</a:t>
            </a:r>
            <a:endParaRPr lang="en-US" sz="1400" dirty="0"/>
          </a:p>
          <a:p>
            <a:pPr indent="0" marL="0">
              <a:buNone/>
            </a:pPr>
            <a:r>
              <a:rPr lang="en-US" sz="1400" dirty="0">
                <a:solidFill>
                  <a:schemeClr val="tx2"/>
                </a:solidFill>
              </a:rPr>
              <a:t>Total en euros o máximo por m²</a:t>
            </a:r>
            <a:endParaRPr lang="en-US" sz="1400" dirty="0"/>
          </a:p>
        </p:txBody>
      </p:sp>
      <p:sp>
        <p:nvSpPr>
          <p:cNvPr id="10" name="Parámetro"/>
          <p:cNvSpPr/>
          <p:nvPr/>
        </p:nvSpPr>
        <p:spPr>
          <a:xfrm>
            <a:off x="4023360" y="2377440"/>
            <a:ext cx="3200400" cy="960120"/>
          </a:xfrm>
          <a:prstGeom prst="roundRect">
            <a:avLst>
              <a:gd name="adj" fmla="val 9524"/>
            </a:avLst>
          </a:prstGeom>
          <a:solidFill>
            <a:schemeClr val="bg2"/>
          </a:solidFill>
          <a:ln/>
        </p:spPr>
      </p:sp>
      <p:sp>
        <p:nvSpPr>
          <p:cNvPr id="11" name="Círculo icono"/>
          <p:cNvSpPr/>
          <p:nvPr/>
        </p:nvSpPr>
        <p:spPr>
          <a:xfrm>
            <a:off x="4187952" y="2624328"/>
            <a:ext cx="457200" cy="457200"/>
          </a:xfrm>
          <a:prstGeom prst="ellipse">
            <a:avLst/>
          </a:prstGeom>
          <a:solidFill>
            <a:srgbClr val="161A26"/>
          </a:solidFill>
          <a:ln/>
        </p:spPr>
      </p:sp>
      <p:pic>
        <p:nvPicPr>
          <p:cNvPr id="12" name="Image 1" descr="preencoded.png">    </p:cNvPr>
          <p:cNvPicPr>
            <a:picLocks noChangeAspect="1"/>
          </p:cNvPicPr>
          <p:nvPr/>
        </p:nvPicPr>
        <p:blipFill>
          <a:blip r:embed="rId2"/>
          <a:stretch>
            <a:fillRect/>
          </a:stretch>
        </p:blipFill>
        <p:spPr>
          <a:xfrm>
            <a:off x="4288536" y="2724912"/>
            <a:ext cx="256032" cy="256032"/>
          </a:xfrm>
          <a:prstGeom prst="rect">
            <a:avLst/>
          </a:prstGeom>
        </p:spPr>
      </p:pic>
      <p:sp>
        <p:nvSpPr>
          <p:cNvPr id="13" name="Text 9"/>
          <p:cNvSpPr txBox="1"/>
          <p:nvPr/>
        </p:nvSpPr>
        <p:spPr>
          <a:xfrm>
            <a:off x="4800600" y="2505456"/>
            <a:ext cx="2331720" cy="777240"/>
          </a:xfrm>
          <a:prstGeom prst="rect">
            <a:avLst/>
          </a:prstGeom>
          <a:noFill/>
          <a:ln/>
        </p:spPr>
        <p:txBody>
          <a:bodyPr wrap="square" lIns="0" tIns="0" rIns="0" bIns="0" rtlCol="0" anchor="t"/>
          <a:lstStyle/>
          <a:p>
            <a:pPr indent="0" marL="0">
              <a:buNone/>
            </a:pPr>
            <a:r>
              <a:rPr lang="en-US" sz="1400" b="1" dirty="0">
                <a:solidFill>
                  <a:schemeClr val="tx1"/>
                </a:solidFill>
              </a:rPr>
              <a:t>Ingresos netos del hogar</a:t>
            </a:r>
            <a:endParaRPr lang="en-US" sz="1400" dirty="0"/>
          </a:p>
          <a:p>
            <a:pPr indent="0" marL="0">
              <a:buNone/>
            </a:pPr>
            <a:r>
              <a:rPr lang="en-US" sz="1400" dirty="0">
                <a:solidFill>
                  <a:schemeClr val="tx2"/>
                </a:solidFill>
              </a:rPr>
              <a:t>Esfuerzo sostenible por debajo del 30%</a:t>
            </a:r>
            <a:endParaRPr lang="en-US" sz="1400" dirty="0"/>
          </a:p>
        </p:txBody>
      </p:sp>
      <p:sp>
        <p:nvSpPr>
          <p:cNvPr id="14" name="Parámetro"/>
          <p:cNvSpPr/>
          <p:nvPr/>
        </p:nvSpPr>
        <p:spPr>
          <a:xfrm>
            <a:off x="640080" y="3447288"/>
            <a:ext cx="3200400" cy="960120"/>
          </a:xfrm>
          <a:prstGeom prst="roundRect">
            <a:avLst>
              <a:gd name="adj" fmla="val 9524"/>
            </a:avLst>
          </a:prstGeom>
          <a:solidFill>
            <a:schemeClr val="bg2"/>
          </a:solidFill>
          <a:ln/>
        </p:spPr>
      </p:sp>
      <p:sp>
        <p:nvSpPr>
          <p:cNvPr id="15" name="Círculo icono"/>
          <p:cNvSpPr/>
          <p:nvPr/>
        </p:nvSpPr>
        <p:spPr>
          <a:xfrm>
            <a:off x="804672" y="3694176"/>
            <a:ext cx="457200" cy="457200"/>
          </a:xfrm>
          <a:prstGeom prst="ellipse">
            <a:avLst/>
          </a:prstGeom>
          <a:solidFill>
            <a:srgbClr val="161A26"/>
          </a:solidFill>
          <a:ln/>
        </p:spPr>
      </p:sp>
      <p:pic>
        <p:nvPicPr>
          <p:cNvPr id="16" name="Image 2" descr="preencoded.png">    </p:cNvPr>
          <p:cNvPicPr>
            <a:picLocks noChangeAspect="1"/>
          </p:cNvPicPr>
          <p:nvPr/>
        </p:nvPicPr>
        <p:blipFill>
          <a:blip r:embed="rId3"/>
          <a:stretch>
            <a:fillRect/>
          </a:stretch>
        </p:blipFill>
        <p:spPr>
          <a:xfrm>
            <a:off x="905256" y="3794760"/>
            <a:ext cx="256032" cy="256032"/>
          </a:xfrm>
          <a:prstGeom prst="rect">
            <a:avLst/>
          </a:prstGeom>
        </p:spPr>
      </p:pic>
      <p:sp>
        <p:nvSpPr>
          <p:cNvPr id="17" name="Text 12"/>
          <p:cNvSpPr txBox="1"/>
          <p:nvPr/>
        </p:nvSpPr>
        <p:spPr>
          <a:xfrm>
            <a:off x="141732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Tiempo máximo de conexión</a:t>
            </a:r>
            <a:endParaRPr lang="en-US" sz="1400" dirty="0"/>
          </a:p>
          <a:p>
            <a:pPr indent="0" marL="0">
              <a:buNone/>
            </a:pPr>
            <a:r>
              <a:rPr lang="en-US" sz="1400" dirty="0">
                <a:solidFill>
                  <a:schemeClr val="tx2"/>
                </a:solidFill>
              </a:rPr>
              <a:t>Minutos al trabajo o a Madrid</a:t>
            </a:r>
            <a:endParaRPr lang="en-US" sz="1400" dirty="0"/>
          </a:p>
        </p:txBody>
      </p:sp>
      <p:sp>
        <p:nvSpPr>
          <p:cNvPr id="18" name="Parámetro"/>
          <p:cNvSpPr/>
          <p:nvPr/>
        </p:nvSpPr>
        <p:spPr>
          <a:xfrm>
            <a:off x="4023360" y="3447288"/>
            <a:ext cx="3200400" cy="960120"/>
          </a:xfrm>
          <a:prstGeom prst="roundRect">
            <a:avLst>
              <a:gd name="adj" fmla="val 9524"/>
            </a:avLst>
          </a:prstGeom>
          <a:solidFill>
            <a:schemeClr val="bg2"/>
          </a:solidFill>
          <a:ln/>
        </p:spPr>
      </p:sp>
      <p:sp>
        <p:nvSpPr>
          <p:cNvPr id="19" name="Círculo icono"/>
          <p:cNvSpPr/>
          <p:nvPr/>
        </p:nvSpPr>
        <p:spPr>
          <a:xfrm>
            <a:off x="4187952" y="3694176"/>
            <a:ext cx="457200" cy="457200"/>
          </a:xfrm>
          <a:prstGeom prst="ellipse">
            <a:avLst/>
          </a:prstGeom>
          <a:solidFill>
            <a:srgbClr val="161A26"/>
          </a:solidFill>
          <a:ln/>
        </p:spPr>
      </p:sp>
      <p:pic>
        <p:nvPicPr>
          <p:cNvPr id="20" name="Image 3" descr="preencoded.png">    </p:cNvPr>
          <p:cNvPicPr>
            <a:picLocks noChangeAspect="1"/>
          </p:cNvPicPr>
          <p:nvPr/>
        </p:nvPicPr>
        <p:blipFill>
          <a:blip r:embed="rId4"/>
          <a:stretch>
            <a:fillRect/>
          </a:stretch>
        </p:blipFill>
        <p:spPr>
          <a:xfrm>
            <a:off x="4288536" y="3794760"/>
            <a:ext cx="256032" cy="256032"/>
          </a:xfrm>
          <a:prstGeom prst="rect">
            <a:avLst/>
          </a:prstGeom>
        </p:spPr>
      </p:pic>
      <p:sp>
        <p:nvSpPr>
          <p:cNvPr id="21" name="Text 15"/>
          <p:cNvSpPr txBox="1"/>
          <p:nvPr/>
        </p:nvSpPr>
        <p:spPr>
          <a:xfrm>
            <a:off x="4800600" y="3575304"/>
            <a:ext cx="2331720" cy="777240"/>
          </a:xfrm>
          <a:prstGeom prst="rect">
            <a:avLst/>
          </a:prstGeom>
          <a:noFill/>
          <a:ln/>
        </p:spPr>
        <p:txBody>
          <a:bodyPr wrap="square" lIns="0" tIns="0" rIns="0" bIns="0" rtlCol="0" anchor="t"/>
          <a:lstStyle/>
          <a:p>
            <a:pPr indent="0" marL="0">
              <a:buNone/>
            </a:pPr>
            <a:r>
              <a:rPr lang="en-US" sz="1400" b="1" dirty="0">
                <a:solidFill>
                  <a:schemeClr val="tx1"/>
                </a:solidFill>
              </a:rPr>
              <a:t>Modo de transporte</a:t>
            </a:r>
            <a:endParaRPr lang="en-US" sz="1400" dirty="0"/>
          </a:p>
          <a:p>
            <a:pPr indent="0" marL="0">
              <a:buNone/>
            </a:pPr>
            <a:r>
              <a:rPr lang="en-US" sz="1400" dirty="0">
                <a:solidFill>
                  <a:schemeClr val="tx2"/>
                </a:solidFill>
              </a:rPr>
              <a:t>Público (CRTM) o vehículo privado</a:t>
            </a:r>
            <a:endParaRPr lang="en-US" sz="1400" dirty="0"/>
          </a:p>
        </p:txBody>
      </p:sp>
      <p:sp>
        <p:nvSpPr>
          <p:cNvPr id="22" name="Parámetro"/>
          <p:cNvSpPr/>
          <p:nvPr/>
        </p:nvSpPr>
        <p:spPr>
          <a:xfrm>
            <a:off x="640080" y="4517136"/>
            <a:ext cx="3200400" cy="960120"/>
          </a:xfrm>
          <a:prstGeom prst="roundRect">
            <a:avLst>
              <a:gd name="adj" fmla="val 9524"/>
            </a:avLst>
          </a:prstGeom>
          <a:solidFill>
            <a:schemeClr val="bg2"/>
          </a:solidFill>
          <a:ln/>
        </p:spPr>
      </p:sp>
      <p:sp>
        <p:nvSpPr>
          <p:cNvPr id="23" name="Círculo icono"/>
          <p:cNvSpPr/>
          <p:nvPr/>
        </p:nvSpPr>
        <p:spPr>
          <a:xfrm>
            <a:off x="804672" y="4764024"/>
            <a:ext cx="457200" cy="457200"/>
          </a:xfrm>
          <a:prstGeom prst="ellipse">
            <a:avLst/>
          </a:prstGeom>
          <a:solidFill>
            <a:srgbClr val="161A26"/>
          </a:solidFill>
          <a:ln/>
        </p:spPr>
      </p:sp>
      <p:pic>
        <p:nvPicPr>
          <p:cNvPr id="24" name="Image 4" descr="preencoded.png">    </p:cNvPr>
          <p:cNvPicPr>
            <a:picLocks noChangeAspect="1"/>
          </p:cNvPicPr>
          <p:nvPr/>
        </p:nvPicPr>
        <p:blipFill>
          <a:blip r:embed="rId5"/>
          <a:stretch>
            <a:fillRect/>
          </a:stretch>
        </p:blipFill>
        <p:spPr>
          <a:xfrm>
            <a:off x="905256" y="4864608"/>
            <a:ext cx="256032" cy="256032"/>
          </a:xfrm>
          <a:prstGeom prst="rect">
            <a:avLst/>
          </a:prstGeom>
        </p:spPr>
      </p:pic>
      <p:sp>
        <p:nvSpPr>
          <p:cNvPr id="25" name="Text 18"/>
          <p:cNvSpPr txBox="1"/>
          <p:nvPr/>
        </p:nvSpPr>
        <p:spPr>
          <a:xfrm>
            <a:off x="141732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Composición familiar</a:t>
            </a:r>
            <a:endParaRPr lang="en-US" sz="1400" dirty="0"/>
          </a:p>
          <a:p>
            <a:pPr indent="0" marL="0">
              <a:buNone/>
            </a:pPr>
            <a:r>
              <a:rPr lang="en-US" sz="1400" dirty="0">
                <a:solidFill>
                  <a:schemeClr val="tx2"/>
                </a:solidFill>
              </a:rPr>
              <a:t>Hijos y edades: ajusta las plazas escolares</a:t>
            </a:r>
            <a:endParaRPr lang="en-US" sz="1400" dirty="0"/>
          </a:p>
        </p:txBody>
      </p:sp>
      <p:sp>
        <p:nvSpPr>
          <p:cNvPr id="26" name="Parámetro"/>
          <p:cNvSpPr/>
          <p:nvPr/>
        </p:nvSpPr>
        <p:spPr>
          <a:xfrm>
            <a:off x="4023360" y="4517136"/>
            <a:ext cx="3200400" cy="960120"/>
          </a:xfrm>
          <a:prstGeom prst="roundRect">
            <a:avLst>
              <a:gd name="adj" fmla="val 9524"/>
            </a:avLst>
          </a:prstGeom>
          <a:solidFill>
            <a:schemeClr val="bg2"/>
          </a:solidFill>
          <a:ln/>
        </p:spPr>
      </p:sp>
      <p:sp>
        <p:nvSpPr>
          <p:cNvPr id="27" name="Círculo icono"/>
          <p:cNvSpPr/>
          <p:nvPr/>
        </p:nvSpPr>
        <p:spPr>
          <a:xfrm>
            <a:off x="4187952" y="4764024"/>
            <a:ext cx="457200" cy="457200"/>
          </a:xfrm>
          <a:prstGeom prst="ellipse">
            <a:avLst/>
          </a:prstGeom>
          <a:solidFill>
            <a:srgbClr val="161A26"/>
          </a:solidFill>
          <a:ln/>
        </p:spPr>
      </p:sp>
      <p:pic>
        <p:nvPicPr>
          <p:cNvPr id="28" name="Image 5" descr="preencoded.png">    </p:cNvPr>
          <p:cNvPicPr>
            <a:picLocks noChangeAspect="1"/>
          </p:cNvPicPr>
          <p:nvPr/>
        </p:nvPicPr>
        <p:blipFill>
          <a:blip r:embed="rId6"/>
          <a:stretch>
            <a:fillRect/>
          </a:stretch>
        </p:blipFill>
        <p:spPr>
          <a:xfrm>
            <a:off x="4288536" y="4864608"/>
            <a:ext cx="256032" cy="256032"/>
          </a:xfrm>
          <a:prstGeom prst="rect">
            <a:avLst/>
          </a:prstGeom>
        </p:spPr>
      </p:pic>
      <p:sp>
        <p:nvSpPr>
          <p:cNvPr id="29" name="Text 21"/>
          <p:cNvSpPr txBox="1"/>
          <p:nvPr/>
        </p:nvSpPr>
        <p:spPr>
          <a:xfrm>
            <a:off x="4800600" y="4645152"/>
            <a:ext cx="2331720" cy="777240"/>
          </a:xfrm>
          <a:prstGeom prst="rect">
            <a:avLst/>
          </a:prstGeom>
          <a:noFill/>
          <a:ln/>
        </p:spPr>
        <p:txBody>
          <a:bodyPr wrap="square" lIns="0" tIns="0" rIns="0" bIns="0" rtlCol="0" anchor="t"/>
          <a:lstStyle/>
          <a:p>
            <a:pPr indent="0" marL="0">
              <a:buNone/>
            </a:pPr>
            <a:r>
              <a:rPr lang="en-US" sz="1400" b="1" dirty="0">
                <a:solidFill>
                  <a:schemeClr val="tx1"/>
                </a:solidFill>
              </a:rPr>
              <a:t>Régimen de tenencia</a:t>
            </a:r>
            <a:endParaRPr lang="en-US" sz="1400" dirty="0"/>
          </a:p>
          <a:p>
            <a:pPr indent="0" marL="0">
              <a:buNone/>
            </a:pPr>
            <a:r>
              <a:rPr lang="en-US" sz="1400" dirty="0">
                <a:solidFill>
                  <a:schemeClr val="tx2"/>
                </a:solidFill>
              </a:rPr>
              <a:t>Compra o alquiler</a:t>
            </a:r>
            <a:endParaRPr lang="en-US" sz="1400" dirty="0"/>
          </a:p>
        </p:txBody>
      </p:sp>
      <p:sp>
        <p:nvSpPr>
          <p:cNvPr id="30" name="Text 22"/>
          <p:cNvSpPr txBox="1"/>
          <p:nvPr/>
        </p:nvSpPr>
        <p:spPr>
          <a:xfrm>
            <a:off x="640080" y="5623560"/>
            <a:ext cx="6583680" cy="548640"/>
          </a:xfrm>
          <a:prstGeom prst="rect">
            <a:avLst/>
          </a:prstGeom>
          <a:noFill/>
          <a:ln/>
        </p:spPr>
        <p:txBody>
          <a:bodyPr wrap="square" lIns="0" tIns="0" rIns="0" bIns="0" rtlCol="0" anchor="t"/>
          <a:lstStyle/>
          <a:p>
            <a:pPr indent="0" marL="0">
              <a:buNone/>
            </a:pPr>
            <a:r>
              <a:rPr lang="en-US" sz="1400" dirty="0">
                <a:solidFill>
                  <a:schemeClr val="tx2"/>
                </a:solidFill>
              </a:rPr>
              <a:t>Un módulo (config/perfiles.py) convierte las respuestas en pesos que suman 1,0 y reordena los municipios sin tocar el ICA objetivo.</a:t>
            </a:r>
            <a:endParaRPr lang="en-US" sz="1400" dirty="0"/>
          </a:p>
        </p:txBody>
      </p:sp>
      <p:sp>
        <p:nvSpPr>
          <p:cNvPr id="31" name="Text 23"/>
          <p:cNvSpPr txBox="1"/>
          <p:nvPr/>
        </p:nvSpPr>
        <p:spPr>
          <a:xfrm>
            <a:off x="7589520" y="2011680"/>
            <a:ext cx="393192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DOS CAMINOS PARALELOS</a:t>
            </a:r>
            <a:endParaRPr lang="en-US" sz="1200" dirty="0"/>
          </a:p>
        </p:txBody>
      </p:sp>
      <p:sp>
        <p:nvSpPr>
          <p:cNvPr id="32" name="Camino Python"/>
          <p:cNvSpPr/>
          <p:nvPr/>
        </p:nvSpPr>
        <p:spPr>
          <a:xfrm>
            <a:off x="7589520" y="2377440"/>
            <a:ext cx="1783080" cy="1051560"/>
          </a:xfrm>
          <a:prstGeom prst="roundRect">
            <a:avLst>
              <a:gd name="adj" fmla="val 8696"/>
            </a:avLst>
          </a:prstGeom>
          <a:solidFill>
            <a:schemeClr val="bg2"/>
          </a:solidFill>
          <a:ln/>
        </p:spPr>
      </p:sp>
      <p:sp>
        <p:nvSpPr>
          <p:cNvPr id="33" name="Text 25"/>
          <p:cNvSpPr txBox="1"/>
          <p:nvPr/>
        </p:nvSpPr>
        <p:spPr>
          <a:xfrm>
            <a:off x="7726680"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Python</a:t>
            </a:r>
            <a:endParaRPr lang="en-US" sz="1600" dirty="0"/>
          </a:p>
          <a:p>
            <a:pPr indent="0" marL="0">
              <a:buNone/>
            </a:pPr>
            <a:r>
              <a:rPr lang="en-US" sz="1400" dirty="0">
                <a:solidFill>
                  <a:schemeClr val="tx2"/>
                </a:solidFill>
              </a:rPr>
              <a:t>Lee el CSV validado</a:t>
            </a:r>
            <a:endParaRPr lang="en-US" sz="1600" dirty="0"/>
          </a:p>
        </p:txBody>
      </p:sp>
      <p:sp>
        <p:nvSpPr>
          <p:cNvPr id="34" name="Text 26"/>
          <p:cNvSpPr txBox="1"/>
          <p:nvPr/>
        </p:nvSpPr>
        <p:spPr>
          <a:xfrm>
            <a:off x="9372600" y="2624328"/>
            <a:ext cx="393192" cy="548640"/>
          </a:xfrm>
          <a:prstGeom prst="rect">
            <a:avLst/>
          </a:prstGeom>
          <a:noFill/>
          <a:ln/>
        </p:spPr>
        <p:txBody>
          <a:bodyPr wrap="square" lIns="0" tIns="0" rIns="0" bIns="0" rtlCol="0" anchor="t"/>
          <a:lstStyle/>
          <a:p>
            <a:pPr algn="ctr" indent="0" marL="0">
              <a:buNone/>
            </a:pPr>
            <a:r>
              <a:rPr lang="en-US" sz="2800" b="1" dirty="0">
                <a:solidFill>
                  <a:schemeClr val="accent1"/>
                </a:solidFill>
                <a:latin typeface="+mj-lt" pitchFamily="34" charset="0"/>
                <a:ea typeface="+mj-lt" pitchFamily="34" charset="-122"/>
                <a:cs typeface="+mj-lt" pitchFamily="34" charset="-120"/>
              </a:rPr>
              <a:t>=</a:t>
            </a:r>
            <a:endParaRPr lang="en-US" sz="2800" dirty="0"/>
          </a:p>
        </p:txBody>
      </p:sp>
      <p:sp>
        <p:nvSpPr>
          <p:cNvPr id="35" name="Camino Oracle"/>
          <p:cNvSpPr/>
          <p:nvPr/>
        </p:nvSpPr>
        <p:spPr>
          <a:xfrm>
            <a:off x="9765792" y="2377440"/>
            <a:ext cx="1783080" cy="1051560"/>
          </a:xfrm>
          <a:prstGeom prst="roundRect">
            <a:avLst>
              <a:gd name="adj" fmla="val 8696"/>
            </a:avLst>
          </a:prstGeom>
          <a:solidFill>
            <a:schemeClr val="bg2"/>
          </a:solidFill>
          <a:ln/>
        </p:spPr>
      </p:sp>
      <p:sp>
        <p:nvSpPr>
          <p:cNvPr id="36" name="Text 28"/>
          <p:cNvSpPr txBox="1"/>
          <p:nvPr/>
        </p:nvSpPr>
        <p:spPr>
          <a:xfrm>
            <a:off x="9902952" y="2514600"/>
            <a:ext cx="1554480" cy="914400"/>
          </a:xfrm>
          <a:prstGeom prst="rect">
            <a:avLst/>
          </a:prstGeom>
          <a:noFill/>
          <a:ln/>
        </p:spPr>
        <p:txBody>
          <a:bodyPr wrap="square" lIns="0" tIns="0" rIns="0" bIns="0" rtlCol="0" anchor="t"/>
          <a:lstStyle/>
          <a:p>
            <a:pPr indent="0" marL="0">
              <a:buNone/>
            </a:pPr>
            <a:r>
              <a:rPr lang="en-US" sz="1600" b="1" dirty="0">
                <a:solidFill>
                  <a:schemeClr val="tx1"/>
                </a:solidFill>
              </a:rPr>
              <a:t>Oracle APEX</a:t>
            </a:r>
            <a:endParaRPr lang="en-US" sz="1600" dirty="0"/>
          </a:p>
          <a:p>
            <a:pPr indent="0" marL="0">
              <a:buNone/>
            </a:pPr>
            <a:r>
              <a:rPr lang="en-US" sz="1400" dirty="0">
                <a:solidFill>
                  <a:schemeClr val="tx2"/>
                </a:solidFill>
              </a:rPr>
              <a:t>Autónomo, sin llamar a Python</a:t>
            </a:r>
            <a:endParaRPr lang="en-US" sz="1600" dirty="0"/>
          </a:p>
        </p:txBody>
      </p:sp>
      <p:sp>
        <p:nvSpPr>
          <p:cNvPr id="37" name="Text 29"/>
          <p:cNvSpPr txBox="1"/>
          <p:nvPr/>
        </p:nvSpPr>
        <p:spPr>
          <a:xfrm>
            <a:off x="7589520" y="3566160"/>
            <a:ext cx="3959352" cy="502920"/>
          </a:xfrm>
          <a:prstGeom prst="rect">
            <a:avLst/>
          </a:prstGeom>
          <a:noFill/>
          <a:ln/>
        </p:spPr>
        <p:txBody>
          <a:bodyPr wrap="square" lIns="0" tIns="0" rIns="0" bIns="0" rtlCol="0" anchor="t"/>
          <a:lstStyle/>
          <a:p>
            <a:pPr indent="0" marL="0">
              <a:buNone/>
            </a:pPr>
            <a:r>
              <a:rPr lang="en-US" sz="1400" dirty="0">
                <a:solidFill>
                  <a:schemeClr val="tx2"/>
                </a:solidFill>
              </a:rPr>
              <a:t>Los tests comprueban que ambos producen los mismos pesos y rankings.</a:t>
            </a:r>
            <a:endParaRPr lang="en-US" sz="1400" dirty="0"/>
          </a:p>
        </p:txBody>
      </p:sp>
      <p:sp>
        <p:nvSpPr>
          <p:cNvPr id="38" name="Privacidad"/>
          <p:cNvSpPr/>
          <p:nvPr/>
        </p:nvSpPr>
        <p:spPr>
          <a:xfrm>
            <a:off x="7589520" y="4160520"/>
            <a:ext cx="3959352" cy="2011680"/>
          </a:xfrm>
          <a:prstGeom prst="roundRect">
            <a:avLst>
              <a:gd name="adj" fmla="val 4545"/>
            </a:avLst>
          </a:prstGeom>
          <a:solidFill>
            <a:schemeClr val="tx1"/>
          </a:solidFill>
          <a:ln/>
        </p:spPr>
      </p:sp>
      <p:sp>
        <p:nvSpPr>
          <p:cNvPr id="39" name="Círculo icono"/>
          <p:cNvSpPr/>
          <p:nvPr/>
        </p:nvSpPr>
        <p:spPr>
          <a:xfrm>
            <a:off x="7818120" y="4343400"/>
            <a:ext cx="457200" cy="457200"/>
          </a:xfrm>
          <a:prstGeom prst="ellipse">
            <a:avLst/>
          </a:prstGeom>
          <a:solidFill>
            <a:srgbClr val="C0263F"/>
          </a:solidFill>
          <a:ln/>
        </p:spPr>
      </p:sp>
      <p:pic>
        <p:nvPicPr>
          <p:cNvPr id="40" name="Image 6" descr="preencoded.png">    </p:cNvPr>
          <p:cNvPicPr>
            <a:picLocks noChangeAspect="1"/>
          </p:cNvPicPr>
          <p:nvPr/>
        </p:nvPicPr>
        <p:blipFill>
          <a:blip r:embed="rId7"/>
          <a:stretch>
            <a:fillRect/>
          </a:stretch>
        </p:blipFill>
        <p:spPr>
          <a:xfrm>
            <a:off x="7918704" y="4443984"/>
            <a:ext cx="256032" cy="256032"/>
          </a:xfrm>
          <a:prstGeom prst="rect">
            <a:avLst/>
          </a:prstGeom>
        </p:spPr>
      </p:pic>
      <p:sp>
        <p:nvSpPr>
          <p:cNvPr id="41" name="Text 32"/>
          <p:cNvSpPr txBox="1"/>
          <p:nvPr/>
        </p:nvSpPr>
        <p:spPr>
          <a:xfrm>
            <a:off x="8412480" y="4434840"/>
            <a:ext cx="2926080" cy="320040"/>
          </a:xfrm>
          <a:prstGeom prst="rect">
            <a:avLst/>
          </a:prstGeom>
          <a:noFill/>
          <a:ln/>
        </p:spPr>
        <p:txBody>
          <a:bodyPr wrap="square" lIns="0" tIns="0" rIns="0" bIns="0" rtlCol="0" anchor="t"/>
          <a:lstStyle/>
          <a:p>
            <a:pPr indent="0" marL="0">
              <a:buNone/>
            </a:pPr>
            <a:r>
              <a:rPr lang="en-US" sz="1600" b="1" dirty="0">
                <a:solidFill>
                  <a:schemeClr val="bg1"/>
                </a:solidFill>
              </a:rPr>
              <a:t>Privacidad estricta</a:t>
            </a:r>
            <a:endParaRPr lang="en-US" sz="1600" dirty="0"/>
          </a:p>
        </p:txBody>
      </p:sp>
      <p:sp>
        <p:nvSpPr>
          <p:cNvPr id="42" name="Text 33"/>
          <p:cNvSpPr txBox="1"/>
          <p:nvPr/>
        </p:nvSpPr>
        <p:spPr>
          <a:xfrm>
            <a:off x="7818120" y="4983480"/>
            <a:ext cx="3520440" cy="1097280"/>
          </a:xfrm>
          <a:prstGeom prst="rect">
            <a:avLst/>
          </a:prstGeom>
          <a:noFill/>
          <a:ln/>
        </p:spPr>
        <p:txBody>
          <a:bodyPr wrap="square" lIns="0" tIns="0" rIns="0" bIns="0" rtlCol="0" anchor="t"/>
          <a:lstStyle/>
          <a:p>
            <a:pPr indent="0" marL="0">
              <a:buNone/>
            </a:pPr>
            <a:r>
              <a:rPr lang="en-US" sz="1400" dirty="0">
                <a:solidFill>
                  <a:schemeClr val="bg2"/>
                </a:solidFill>
              </a:rPr>
              <a:t>Oracle no guarda ningún dato personal, solo reglas de ponderación (cada hijo suma 0,05 a educación). Los datos del ciudadano son parámetros de sesión y nunca se escriben en disco.</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4  ·  ECOSISTEMA DE MODELOS</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Cinco modelos, una ficha municipal</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500" i="1" dirty="0">
                <a:solidFill>
                  <a:schemeClr val="tx2"/>
                </a:solidFill>
              </a:rPr>
              <a:t>«M1 dice si es asequible, M2 si tiene servicios, M3 si va a crecer, M4 cuánta gente cabe y M5 cuál te conviene»</a:t>
            </a:r>
            <a:endParaRPr lang="en-US" sz="1500" dirty="0"/>
          </a:p>
        </p:txBody>
      </p:sp>
      <p:sp>
        <p:nvSpPr>
          <p:cNvPr id="5" name="Modelo M1"/>
          <p:cNvSpPr/>
          <p:nvPr/>
        </p:nvSpPr>
        <p:spPr>
          <a:xfrm>
            <a:off x="640080" y="2103120"/>
            <a:ext cx="2002536" cy="4069080"/>
          </a:xfrm>
          <a:prstGeom prst="roundRect">
            <a:avLst>
              <a:gd name="adj" fmla="val 4566"/>
            </a:avLst>
          </a:prstGeom>
          <a:solidFill>
            <a:schemeClr val="bg2"/>
          </a:solidFill>
          <a:ln/>
        </p:spPr>
      </p:sp>
      <p:sp>
        <p:nvSpPr>
          <p:cNvPr id="6" name="Text 4"/>
          <p:cNvSpPr txBox="1"/>
          <p:nvPr/>
        </p:nvSpPr>
        <p:spPr>
          <a:xfrm>
            <a:off x="841248"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M1</a:t>
            </a:r>
            <a:endParaRPr lang="en-US" sz="4000" dirty="0"/>
          </a:p>
        </p:txBody>
      </p:sp>
      <p:sp>
        <p:nvSpPr>
          <p:cNvPr id="7" name="Text 5"/>
          <p:cNvSpPr txBox="1"/>
          <p:nvPr/>
        </p:nvSpPr>
        <p:spPr>
          <a:xfrm>
            <a:off x="841248"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Asequibilidad y precio (AVM)</a:t>
            </a:r>
            <a:endParaRPr lang="en-US" sz="1600" dirty="0"/>
          </a:p>
        </p:txBody>
      </p:sp>
      <p:sp>
        <p:nvSpPr>
          <p:cNvPr id="8" name="Text 6"/>
          <p:cNvSpPr txBox="1"/>
          <p:nvPr/>
        </p:nvSpPr>
        <p:spPr>
          <a:xfrm>
            <a:off x="841248"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¿Puedo permitirme vivir aquí?</a:t>
            </a:r>
            <a:endParaRPr lang="en-US" sz="1400" dirty="0"/>
          </a:p>
        </p:txBody>
      </p:sp>
      <p:sp>
        <p:nvSpPr>
          <p:cNvPr id="9" name="Text 7"/>
          <p:cNvSpPr txBox="1"/>
          <p:nvPr/>
        </p:nvSpPr>
        <p:spPr>
          <a:xfrm>
            <a:off x="841248"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Precio predicho (€/m²), esfuerzo familiar (% de la renta) y brecha de mercado.</a:t>
            </a:r>
            <a:endParaRPr lang="en-US" sz="1400" dirty="0"/>
          </a:p>
        </p:txBody>
      </p:sp>
      <p:sp>
        <p:nvSpPr>
          <p:cNvPr id="10" name="Modelo M2"/>
          <p:cNvSpPr/>
          <p:nvPr/>
        </p:nvSpPr>
        <p:spPr>
          <a:xfrm>
            <a:off x="2866644" y="2103120"/>
            <a:ext cx="2002536" cy="4069080"/>
          </a:xfrm>
          <a:prstGeom prst="roundRect">
            <a:avLst>
              <a:gd name="adj" fmla="val 4566"/>
            </a:avLst>
          </a:prstGeom>
          <a:solidFill>
            <a:schemeClr val="bg2"/>
          </a:solidFill>
          <a:ln/>
        </p:spPr>
      </p:sp>
      <p:sp>
        <p:nvSpPr>
          <p:cNvPr id="11" name="Text 9"/>
          <p:cNvSpPr txBox="1"/>
          <p:nvPr/>
        </p:nvSpPr>
        <p:spPr>
          <a:xfrm>
            <a:off x="3067812"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M2</a:t>
            </a:r>
            <a:endParaRPr lang="en-US" sz="4000" dirty="0"/>
          </a:p>
        </p:txBody>
      </p:sp>
      <p:sp>
        <p:nvSpPr>
          <p:cNvPr id="12" name="Text 10"/>
          <p:cNvSpPr txBox="1"/>
          <p:nvPr/>
        </p:nvSpPr>
        <p:spPr>
          <a:xfrm>
            <a:off x="3067812"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Dotación e infraestructuras</a:t>
            </a:r>
            <a:endParaRPr lang="en-US" sz="1600" dirty="0"/>
          </a:p>
        </p:txBody>
      </p:sp>
      <p:sp>
        <p:nvSpPr>
          <p:cNvPr id="13" name="Text 11"/>
          <p:cNvSpPr txBox="1"/>
          <p:nvPr/>
        </p:nvSpPr>
        <p:spPr>
          <a:xfrm>
            <a:off x="3067812"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¿Qué tal servicios y conexión?</a:t>
            </a:r>
            <a:endParaRPr lang="en-US" sz="1400" dirty="0"/>
          </a:p>
        </p:txBody>
      </p:sp>
      <p:sp>
        <p:nvSpPr>
          <p:cNvPr id="14" name="Text 12"/>
          <p:cNvSpPr txBox="1"/>
          <p:nvPr/>
        </p:nvSpPr>
        <p:spPr>
          <a:xfrm>
            <a:off x="3067812"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Cuatro subíndices de 0 a 100: sanidad, educación, conectividad y calidad residencial.</a:t>
            </a:r>
            <a:endParaRPr lang="en-US" sz="1400" dirty="0"/>
          </a:p>
        </p:txBody>
      </p:sp>
      <p:sp>
        <p:nvSpPr>
          <p:cNvPr id="15" name="Modelo M3"/>
          <p:cNvSpPr/>
          <p:nvPr/>
        </p:nvSpPr>
        <p:spPr>
          <a:xfrm>
            <a:off x="5093208" y="2103120"/>
            <a:ext cx="2002536" cy="4069080"/>
          </a:xfrm>
          <a:prstGeom prst="roundRect">
            <a:avLst>
              <a:gd name="adj" fmla="val 4566"/>
            </a:avLst>
          </a:prstGeom>
          <a:solidFill>
            <a:schemeClr val="bg2"/>
          </a:solidFill>
          <a:ln/>
        </p:spPr>
      </p:sp>
      <p:sp>
        <p:nvSpPr>
          <p:cNvPr id="16" name="Text 14"/>
          <p:cNvSpPr txBox="1"/>
          <p:nvPr/>
        </p:nvSpPr>
        <p:spPr>
          <a:xfrm>
            <a:off x="5294376"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M3</a:t>
            </a:r>
            <a:endParaRPr lang="en-US" sz="4000" dirty="0"/>
          </a:p>
        </p:txBody>
      </p:sp>
      <p:sp>
        <p:nvSpPr>
          <p:cNvPr id="17" name="Text 15"/>
          <p:cNvSpPr txBox="1"/>
          <p:nvPr/>
        </p:nvSpPr>
        <p:spPr>
          <a:xfrm>
            <a:off x="5294376"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Demografía y series temporales</a:t>
            </a:r>
            <a:endParaRPr lang="en-US" sz="1600" dirty="0"/>
          </a:p>
        </p:txBody>
      </p:sp>
      <p:sp>
        <p:nvSpPr>
          <p:cNvPr id="18" name="Text 16"/>
          <p:cNvSpPr txBox="1"/>
          <p:nvPr/>
        </p:nvSpPr>
        <p:spPr>
          <a:xfrm>
            <a:off x="5294376"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¿Va a crecer o a vaciarse?</a:t>
            </a:r>
            <a:endParaRPr lang="en-US" sz="1400" dirty="0"/>
          </a:p>
        </p:txBody>
      </p:sp>
      <p:sp>
        <p:nvSpPr>
          <p:cNvPr id="19" name="Text 17"/>
          <p:cNvSpPr txBox="1"/>
          <p:nvPr/>
        </p:nvSpPr>
        <p:spPr>
          <a:xfrm>
            <a:off x="5294376"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Proyección a 5 y 10 años (2030 y 2035) y año estimado de saturación.</a:t>
            </a:r>
            <a:endParaRPr lang="en-US" sz="1400" dirty="0"/>
          </a:p>
        </p:txBody>
      </p:sp>
      <p:sp>
        <p:nvSpPr>
          <p:cNvPr id="20" name="Modelo M4"/>
          <p:cNvSpPr/>
          <p:nvPr/>
        </p:nvSpPr>
        <p:spPr>
          <a:xfrm>
            <a:off x="7319772" y="2103120"/>
            <a:ext cx="2002536" cy="4069080"/>
          </a:xfrm>
          <a:prstGeom prst="roundRect">
            <a:avLst>
              <a:gd name="adj" fmla="val 4566"/>
            </a:avLst>
          </a:prstGeom>
          <a:solidFill>
            <a:schemeClr val="tx1"/>
          </a:solidFill>
          <a:ln/>
        </p:spPr>
      </p:sp>
      <p:sp>
        <p:nvSpPr>
          <p:cNvPr id="21" name="Text 19"/>
          <p:cNvSpPr txBox="1"/>
          <p:nvPr/>
        </p:nvSpPr>
        <p:spPr>
          <a:xfrm>
            <a:off x="7520940" y="2331720"/>
            <a:ext cx="155448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M4</a:t>
            </a:r>
            <a:endParaRPr lang="en-US" sz="4000" dirty="0"/>
          </a:p>
        </p:txBody>
      </p:sp>
      <p:sp>
        <p:nvSpPr>
          <p:cNvPr id="22" name="Text 20"/>
          <p:cNvSpPr txBox="1"/>
          <p:nvPr/>
        </p:nvSpPr>
        <p:spPr>
          <a:xfrm>
            <a:off x="7520940" y="3108960"/>
            <a:ext cx="1645920" cy="594360"/>
          </a:xfrm>
          <a:prstGeom prst="rect">
            <a:avLst/>
          </a:prstGeom>
          <a:noFill/>
          <a:ln/>
        </p:spPr>
        <p:txBody>
          <a:bodyPr wrap="square" lIns="0" tIns="0" rIns="0" bIns="0" rtlCol="0" anchor="t"/>
          <a:lstStyle/>
          <a:p>
            <a:pPr indent="0" marL="0">
              <a:buNone/>
            </a:pPr>
            <a:r>
              <a:rPr lang="en-US" sz="1600" b="1" dirty="0">
                <a:solidFill>
                  <a:schemeClr val="bg1"/>
                </a:solidFill>
              </a:rPr>
              <a:t>Capacidad neta de carga (ICA)</a:t>
            </a:r>
            <a:endParaRPr lang="en-US" sz="1600" dirty="0"/>
          </a:p>
        </p:txBody>
      </p:sp>
      <p:sp>
        <p:nvSpPr>
          <p:cNvPr id="23" name="Text 21"/>
          <p:cNvSpPr txBox="1"/>
          <p:nvPr/>
        </p:nvSpPr>
        <p:spPr>
          <a:xfrm>
            <a:off x="7520940" y="3794760"/>
            <a:ext cx="1645920" cy="685800"/>
          </a:xfrm>
          <a:prstGeom prst="rect">
            <a:avLst/>
          </a:prstGeom>
          <a:noFill/>
          <a:ln/>
        </p:spPr>
        <p:txBody>
          <a:bodyPr wrap="square" lIns="0" tIns="0" rIns="0" bIns="0" rtlCol="0" anchor="t"/>
          <a:lstStyle/>
          <a:p>
            <a:pPr indent="0" marL="0">
              <a:buNone/>
            </a:pPr>
            <a:r>
              <a:rPr lang="en-US" sz="1400" i="1" dirty="0">
                <a:solidFill>
                  <a:schemeClr val="accent5"/>
                </a:solidFill>
              </a:rPr>
              <a:t>¿Cuánta gente cabe y qué se rompe?</a:t>
            </a:r>
            <a:endParaRPr lang="en-US" sz="1400" dirty="0"/>
          </a:p>
        </p:txBody>
      </p:sp>
      <p:sp>
        <p:nvSpPr>
          <p:cNvPr id="24" name="Text 22"/>
          <p:cNvSpPr txBox="1"/>
          <p:nvPr/>
        </p:nvSpPr>
        <p:spPr>
          <a:xfrm>
            <a:off x="7520940" y="4572000"/>
            <a:ext cx="1645920" cy="1463040"/>
          </a:xfrm>
          <a:prstGeom prst="rect">
            <a:avLst/>
          </a:prstGeom>
          <a:noFill/>
          <a:ln/>
        </p:spPr>
        <p:txBody>
          <a:bodyPr wrap="square" lIns="0" tIns="0" rIns="0" bIns="0" rtlCol="0" anchor="t"/>
          <a:lstStyle/>
          <a:p>
            <a:pPr indent="0" marL="0">
              <a:buNone/>
            </a:pPr>
            <a:r>
              <a:rPr lang="en-US" sz="1400" dirty="0">
                <a:solidFill>
                  <a:schemeClr val="bg2"/>
                </a:solidFill>
              </a:rPr>
              <a:t>Habitantes adicionales sostenibles e identificación del factor limitante.</a:t>
            </a:r>
            <a:endParaRPr lang="en-US" sz="1400" dirty="0"/>
          </a:p>
        </p:txBody>
      </p:sp>
      <p:sp>
        <p:nvSpPr>
          <p:cNvPr id="25" name="Modelo M5"/>
          <p:cNvSpPr/>
          <p:nvPr/>
        </p:nvSpPr>
        <p:spPr>
          <a:xfrm>
            <a:off x="9546336" y="2103120"/>
            <a:ext cx="2002536" cy="4069080"/>
          </a:xfrm>
          <a:prstGeom prst="roundRect">
            <a:avLst>
              <a:gd name="adj" fmla="val 4566"/>
            </a:avLst>
          </a:prstGeom>
          <a:solidFill>
            <a:schemeClr val="bg2"/>
          </a:solidFill>
          <a:ln/>
        </p:spPr>
      </p:sp>
      <p:sp>
        <p:nvSpPr>
          <p:cNvPr id="26" name="Text 24"/>
          <p:cNvSpPr txBox="1"/>
          <p:nvPr/>
        </p:nvSpPr>
        <p:spPr>
          <a:xfrm>
            <a:off x="9747504" y="2331720"/>
            <a:ext cx="1554480" cy="6400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M5</a:t>
            </a:r>
            <a:endParaRPr lang="en-US" sz="4000" dirty="0"/>
          </a:p>
        </p:txBody>
      </p:sp>
      <p:sp>
        <p:nvSpPr>
          <p:cNvPr id="27" name="Text 25"/>
          <p:cNvSpPr txBox="1"/>
          <p:nvPr/>
        </p:nvSpPr>
        <p:spPr>
          <a:xfrm>
            <a:off x="9747504" y="3108960"/>
            <a:ext cx="1645920" cy="594360"/>
          </a:xfrm>
          <a:prstGeom prst="rect">
            <a:avLst/>
          </a:prstGeom>
          <a:noFill/>
          <a:ln/>
        </p:spPr>
        <p:txBody>
          <a:bodyPr wrap="square" lIns="0" tIns="0" rIns="0" bIns="0" rtlCol="0" anchor="t"/>
          <a:lstStyle/>
          <a:p>
            <a:pPr indent="0" marL="0">
              <a:buNone/>
            </a:pPr>
            <a:r>
              <a:rPr lang="en-US" sz="1600" b="1" dirty="0">
                <a:solidFill>
                  <a:schemeClr val="tx1"/>
                </a:solidFill>
              </a:rPr>
              <a:t>Recomendador y optimizador</a:t>
            </a:r>
            <a:endParaRPr lang="en-US" sz="1600" dirty="0"/>
          </a:p>
        </p:txBody>
      </p:sp>
      <p:sp>
        <p:nvSpPr>
          <p:cNvPr id="28" name="Text 26"/>
          <p:cNvSpPr txBox="1"/>
          <p:nvPr/>
        </p:nvSpPr>
        <p:spPr>
          <a:xfrm>
            <a:off x="9747504" y="3794760"/>
            <a:ext cx="1645920" cy="685800"/>
          </a:xfrm>
          <a:prstGeom prst="rect">
            <a:avLst/>
          </a:prstGeom>
          <a:noFill/>
          <a:ln/>
        </p:spPr>
        <p:txBody>
          <a:bodyPr wrap="square" lIns="0" tIns="0" rIns="0" bIns="0" rtlCol="0" anchor="t"/>
          <a:lstStyle/>
          <a:p>
            <a:pPr indent="0" marL="0">
              <a:buNone/>
            </a:pPr>
            <a:r>
              <a:rPr lang="en-US" sz="1400" i="1" dirty="0">
                <a:solidFill>
                  <a:schemeClr val="tx2"/>
                </a:solidFill>
              </a:rPr>
              <a:t>¿Cuál encaja conmigo?</a:t>
            </a:r>
            <a:endParaRPr lang="en-US" sz="1400" dirty="0"/>
          </a:p>
        </p:txBody>
      </p:sp>
      <p:sp>
        <p:nvSpPr>
          <p:cNvPr id="29" name="Text 27"/>
          <p:cNvSpPr txBox="1"/>
          <p:nvPr/>
        </p:nvSpPr>
        <p:spPr>
          <a:xfrm>
            <a:off x="9747504" y="4572000"/>
            <a:ext cx="1645920" cy="1463040"/>
          </a:xfrm>
          <a:prstGeom prst="rect">
            <a:avLst/>
          </a:prstGeom>
          <a:noFill/>
          <a:ln/>
        </p:spPr>
        <p:txBody>
          <a:bodyPr wrap="square" lIns="0" tIns="0" rIns="0" bIns="0" rtlCol="0" anchor="t"/>
          <a:lstStyle/>
          <a:p>
            <a:pPr indent="0" marL="0">
              <a:buNone/>
            </a:pPr>
            <a:r>
              <a:rPr lang="en-US" sz="1400" dirty="0">
                <a:solidFill>
                  <a:schemeClr val="tx2"/>
                </a:solidFill>
              </a:rPr>
              <a:t>Ranking adaptado al perfil ciudadano y optimización de la inversión pública.</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5  ·  CLARIDAD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Evaluar, predecir y simular no es lo mismo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Evaluar el presente, predecir el futuro y simular escenarios</a:t>
            </a:r>
            <a:endParaRPr lang="en-US" sz="1600" dirty="0"/>
          </a:p>
        </p:txBody>
      </p:sp>
      <p:sp>
        <p:nvSpPr>
          <p:cNvPr id="5" name="Tarjeta"/>
          <p:cNvSpPr/>
          <p:nvPr/>
        </p:nvSpPr>
        <p:spPr>
          <a:xfrm>
            <a:off x="640080" y="1965960"/>
            <a:ext cx="3474720" cy="4206240"/>
          </a:xfrm>
          <a:prstGeom prst="roundRect">
            <a:avLst>
              <a:gd name="adj" fmla="val 2632"/>
            </a:avLst>
          </a:prstGeom>
          <a:solidFill>
            <a:schemeClr val="bg2"/>
          </a:solidFill>
          <a:ln/>
        </p:spPr>
      </p:sp>
      <p:sp>
        <p:nvSpPr>
          <p:cNvPr id="6" name="Círculo icono"/>
          <p:cNvSpPr/>
          <p:nvPr/>
        </p:nvSpPr>
        <p:spPr>
          <a:xfrm>
            <a:off x="914400" y="2221992"/>
            <a:ext cx="548640" cy="548640"/>
          </a:xfrm>
          <a:prstGeom prst="ellipse">
            <a:avLst/>
          </a:prstGeom>
          <a:solidFill>
            <a:srgbClr val="C0263F"/>
          </a:solidFill>
          <a:ln/>
        </p:spPr>
      </p:sp>
      <p:pic>
        <p:nvPicPr>
          <p:cNvPr id="7" name="Image 0" descr="preencoded.png">    </p:cNvPr>
          <p:cNvPicPr>
            <a:picLocks noChangeAspect="1"/>
          </p:cNvPicPr>
          <p:nvPr/>
        </p:nvPicPr>
        <p:blipFill>
          <a:blip r:embed="rId1"/>
          <a:stretch>
            <a:fillRect/>
          </a:stretch>
        </p:blipFill>
        <p:spPr>
          <a:xfrm>
            <a:off x="1035101" y="2342693"/>
            <a:ext cx="307238" cy="307238"/>
          </a:xfrm>
          <a:prstGeom prst="rect">
            <a:avLst/>
          </a:prstGeom>
        </p:spPr>
      </p:pic>
      <p:sp>
        <p:nvSpPr>
          <p:cNvPr id="8" name="Text 5"/>
          <p:cNvSpPr txBox="1"/>
          <p:nvPr/>
        </p:nvSpPr>
        <p:spPr>
          <a:xfrm>
            <a:off x="1645920"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Evaluar</a:t>
            </a:r>
            <a:endParaRPr lang="en-US" sz="2400" dirty="0"/>
          </a:p>
        </p:txBody>
      </p:sp>
      <p:sp>
        <p:nvSpPr>
          <p:cNvPr id="9" name="Text 6"/>
          <p:cNvSpPr txBox="1"/>
          <p:nvPr/>
        </p:nvSpPr>
        <p:spPr>
          <a:xfrm>
            <a:off x="914400"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municipio encaja con lo que pido?</a:t>
            </a:r>
            <a:endParaRPr lang="en-US" sz="1600" dirty="0"/>
          </a:p>
        </p:txBody>
      </p:sp>
      <p:sp>
        <p:nvSpPr>
          <p:cNvPr id="10" name="Text 7"/>
          <p:cNvSpPr txBox="1"/>
          <p:nvPr/>
        </p:nvSpPr>
        <p:spPr>
          <a:xfrm>
            <a:off x="914400"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11" name="Text 8"/>
          <p:cNvSpPr txBox="1"/>
          <p:nvPr/>
        </p:nvSpPr>
        <p:spPr>
          <a:xfrm>
            <a:off x="914400"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Ningún dato del futuro: lo observado ya existe hoy.</a:t>
            </a:r>
            <a:endParaRPr lang="en-US" sz="1400" dirty="0"/>
          </a:p>
        </p:txBody>
      </p:sp>
      <p:sp>
        <p:nvSpPr>
          <p:cNvPr id="12" name="Text 9"/>
          <p:cNvSpPr txBox="1"/>
          <p:nvPr/>
        </p:nvSpPr>
        <p:spPr>
          <a:xfrm>
            <a:off x="914400"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13" name="Text 10"/>
          <p:cNvSpPr txBox="1"/>
          <p:nvPr/>
        </p:nvSpPr>
        <p:spPr>
          <a:xfrm>
            <a:off x="914400"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Reordenar municipios según preferencias declaradas.</a:t>
            </a:r>
            <a:endParaRPr lang="en-US" sz="1400" dirty="0"/>
          </a:p>
        </p:txBody>
      </p:sp>
      <p:sp>
        <p:nvSpPr>
          <p:cNvPr id="14" name="Text 11"/>
          <p:cNvSpPr txBox="1"/>
          <p:nvPr/>
        </p:nvSpPr>
        <p:spPr>
          <a:xfrm>
            <a:off x="914400"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15" name="Text 12"/>
          <p:cNvSpPr txBox="1"/>
          <p:nvPr/>
        </p:nvSpPr>
        <p:spPr>
          <a:xfrm>
            <a:off x="914400"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Ranking adaptativo por perfiles (C2 / M5).</a:t>
            </a:r>
            <a:endParaRPr lang="en-US" sz="1400" dirty="0"/>
          </a:p>
        </p:txBody>
      </p:sp>
      <p:sp>
        <p:nvSpPr>
          <p:cNvPr id="16" name="Tarjeta"/>
          <p:cNvSpPr/>
          <p:nvPr/>
        </p:nvSpPr>
        <p:spPr>
          <a:xfrm>
            <a:off x="4357116" y="1965960"/>
            <a:ext cx="3474720" cy="4206240"/>
          </a:xfrm>
          <a:prstGeom prst="roundRect">
            <a:avLst>
              <a:gd name="adj" fmla="val 2632"/>
            </a:avLst>
          </a:prstGeom>
          <a:solidFill>
            <a:schemeClr val="bg2"/>
          </a:solidFill>
          <a:ln/>
        </p:spPr>
      </p:sp>
      <p:sp>
        <p:nvSpPr>
          <p:cNvPr id="17" name="Círculo icono"/>
          <p:cNvSpPr/>
          <p:nvPr/>
        </p:nvSpPr>
        <p:spPr>
          <a:xfrm>
            <a:off x="4631436" y="2221992"/>
            <a:ext cx="548640" cy="548640"/>
          </a:xfrm>
          <a:prstGeom prst="ellipse">
            <a:avLst/>
          </a:prstGeom>
          <a:solidFill>
            <a:srgbClr val="C0263F"/>
          </a:solidFill>
          <a:ln/>
        </p:spPr>
      </p:sp>
      <p:pic>
        <p:nvPicPr>
          <p:cNvPr id="18" name="Image 1" descr="preencoded.png">    </p:cNvPr>
          <p:cNvPicPr>
            <a:picLocks noChangeAspect="1"/>
          </p:cNvPicPr>
          <p:nvPr/>
        </p:nvPicPr>
        <p:blipFill>
          <a:blip r:embed="rId2"/>
          <a:stretch>
            <a:fillRect/>
          </a:stretch>
        </p:blipFill>
        <p:spPr>
          <a:xfrm>
            <a:off x="4752137" y="2342693"/>
            <a:ext cx="307238" cy="307238"/>
          </a:xfrm>
          <a:prstGeom prst="rect">
            <a:avLst/>
          </a:prstGeom>
        </p:spPr>
      </p:pic>
      <p:sp>
        <p:nvSpPr>
          <p:cNvPr id="19" name="Text 15"/>
          <p:cNvSpPr txBox="1"/>
          <p:nvPr/>
        </p:nvSpPr>
        <p:spPr>
          <a:xfrm>
            <a:off x="5362956"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Predecir</a:t>
            </a:r>
            <a:endParaRPr lang="en-US" sz="2400" dirty="0"/>
          </a:p>
        </p:txBody>
      </p:sp>
      <p:sp>
        <p:nvSpPr>
          <p:cNvPr id="20" name="Text 16"/>
          <p:cNvSpPr txBox="1"/>
          <p:nvPr/>
        </p:nvSpPr>
        <p:spPr>
          <a:xfrm>
            <a:off x="4631436"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pasará en este municipio en 2030?</a:t>
            </a:r>
            <a:endParaRPr lang="en-US" sz="1600" dirty="0"/>
          </a:p>
        </p:txBody>
      </p:sp>
      <p:sp>
        <p:nvSpPr>
          <p:cNvPr id="21" name="Text 17"/>
          <p:cNvSpPr txBox="1"/>
          <p:nvPr/>
        </p:nvSpPr>
        <p:spPr>
          <a:xfrm>
            <a:off x="4631436"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22" name="Text 18"/>
          <p:cNvSpPr txBox="1"/>
          <p:nvPr/>
        </p:nvSpPr>
        <p:spPr>
          <a:xfrm>
            <a:off x="4631436"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Estimar una incógnita futura con series temporales.</a:t>
            </a:r>
            <a:endParaRPr lang="en-US" sz="1400" dirty="0"/>
          </a:p>
        </p:txBody>
      </p:sp>
      <p:sp>
        <p:nvSpPr>
          <p:cNvPr id="23" name="Text 19"/>
          <p:cNvSpPr txBox="1"/>
          <p:nvPr/>
        </p:nvSpPr>
        <p:spPr>
          <a:xfrm>
            <a:off x="4631436"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24" name="Text 20"/>
          <p:cNvSpPr txBox="1"/>
          <p:nvPr/>
        </p:nvSpPr>
        <p:spPr>
          <a:xfrm>
            <a:off x="4631436"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Anticipar población y año de saturación.</a:t>
            </a:r>
            <a:endParaRPr lang="en-US" sz="1400" dirty="0"/>
          </a:p>
        </p:txBody>
      </p:sp>
      <p:sp>
        <p:nvSpPr>
          <p:cNvPr id="25" name="Text 21"/>
          <p:cNvSpPr txBox="1"/>
          <p:nvPr/>
        </p:nvSpPr>
        <p:spPr>
          <a:xfrm>
            <a:off x="4631436"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26" name="Text 22"/>
          <p:cNvSpPr txBox="1"/>
          <p:nvPr/>
        </p:nvSpPr>
        <p:spPr>
          <a:xfrm>
            <a:off x="4631436"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Modelo M3 (población 2030/2035 y año de colapso).</a:t>
            </a:r>
            <a:endParaRPr lang="en-US" sz="1400" dirty="0"/>
          </a:p>
        </p:txBody>
      </p:sp>
      <p:sp>
        <p:nvSpPr>
          <p:cNvPr id="27" name="Tarjeta"/>
          <p:cNvSpPr/>
          <p:nvPr/>
        </p:nvSpPr>
        <p:spPr>
          <a:xfrm>
            <a:off x="8074152" y="1965960"/>
            <a:ext cx="3474720" cy="4206240"/>
          </a:xfrm>
          <a:prstGeom prst="roundRect">
            <a:avLst>
              <a:gd name="adj" fmla="val 2632"/>
            </a:avLst>
          </a:prstGeom>
          <a:solidFill>
            <a:schemeClr val="bg2"/>
          </a:solidFill>
          <a:ln/>
        </p:spPr>
      </p:sp>
      <p:sp>
        <p:nvSpPr>
          <p:cNvPr id="28" name="Círculo icono"/>
          <p:cNvSpPr/>
          <p:nvPr/>
        </p:nvSpPr>
        <p:spPr>
          <a:xfrm>
            <a:off x="8348472" y="2221992"/>
            <a:ext cx="548640" cy="548640"/>
          </a:xfrm>
          <a:prstGeom prst="ellipse">
            <a:avLst/>
          </a:prstGeom>
          <a:solidFill>
            <a:srgbClr val="C0263F"/>
          </a:solidFill>
          <a:ln/>
        </p:spPr>
      </p:sp>
      <p:pic>
        <p:nvPicPr>
          <p:cNvPr id="29" name="Image 2" descr="preencoded.png">    </p:cNvPr>
          <p:cNvPicPr>
            <a:picLocks noChangeAspect="1"/>
          </p:cNvPicPr>
          <p:nvPr/>
        </p:nvPicPr>
        <p:blipFill>
          <a:blip r:embed="rId3"/>
          <a:stretch>
            <a:fillRect/>
          </a:stretch>
        </p:blipFill>
        <p:spPr>
          <a:xfrm>
            <a:off x="8469173" y="2342693"/>
            <a:ext cx="307238" cy="307238"/>
          </a:xfrm>
          <a:prstGeom prst="rect">
            <a:avLst/>
          </a:prstGeom>
        </p:spPr>
      </p:pic>
      <p:sp>
        <p:nvSpPr>
          <p:cNvPr id="30" name="Text 25"/>
          <p:cNvSpPr txBox="1"/>
          <p:nvPr/>
        </p:nvSpPr>
        <p:spPr>
          <a:xfrm>
            <a:off x="9079992" y="2295144"/>
            <a:ext cx="228600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Simular</a:t>
            </a:r>
            <a:endParaRPr lang="en-US" sz="2400" dirty="0"/>
          </a:p>
        </p:txBody>
      </p:sp>
      <p:sp>
        <p:nvSpPr>
          <p:cNvPr id="31" name="Text 26"/>
          <p:cNvSpPr txBox="1"/>
          <p:nvPr/>
        </p:nvSpPr>
        <p:spPr>
          <a:xfrm>
            <a:off x="8348472" y="2990088"/>
            <a:ext cx="2926080" cy="594360"/>
          </a:xfrm>
          <a:prstGeom prst="rect">
            <a:avLst/>
          </a:prstGeom>
          <a:noFill/>
          <a:ln/>
        </p:spPr>
        <p:txBody>
          <a:bodyPr wrap="square" lIns="0" tIns="0" rIns="0" bIns="0" rtlCol="0" anchor="t"/>
          <a:lstStyle/>
          <a:p>
            <a:pPr indent="0" marL="0">
              <a:buNone/>
            </a:pPr>
            <a:r>
              <a:rPr lang="en-US" sz="1600" i="1" dirty="0">
                <a:solidFill>
                  <a:schemeClr val="tx1"/>
                </a:solidFill>
              </a:rPr>
              <a:t>¿Qué pasa si invierto X o llegan N personas?</a:t>
            </a:r>
            <a:endParaRPr lang="en-US" sz="1600" dirty="0"/>
          </a:p>
        </p:txBody>
      </p:sp>
      <p:sp>
        <p:nvSpPr>
          <p:cNvPr id="32" name="Text 27"/>
          <p:cNvSpPr txBox="1"/>
          <p:nvPr/>
        </p:nvSpPr>
        <p:spPr>
          <a:xfrm>
            <a:off x="8348472" y="374904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NECESITA</a:t>
            </a:r>
            <a:endParaRPr lang="en-US" sz="1100" dirty="0"/>
          </a:p>
        </p:txBody>
      </p:sp>
      <p:sp>
        <p:nvSpPr>
          <p:cNvPr id="33" name="Text 28"/>
          <p:cNvSpPr txBox="1"/>
          <p:nvPr/>
        </p:nvSpPr>
        <p:spPr>
          <a:xfrm>
            <a:off x="8348472" y="3968496"/>
            <a:ext cx="2926080" cy="502920"/>
          </a:xfrm>
          <a:prstGeom prst="rect">
            <a:avLst/>
          </a:prstGeom>
          <a:noFill/>
          <a:ln/>
        </p:spPr>
        <p:txBody>
          <a:bodyPr wrap="square" lIns="0" tIns="0" rIns="0" bIns="0" rtlCol="0" anchor="t"/>
          <a:lstStyle/>
          <a:p>
            <a:pPr indent="0" marL="0">
              <a:buNone/>
            </a:pPr>
            <a:r>
              <a:rPr lang="en-US" sz="1400" dirty="0">
                <a:solidFill>
                  <a:schemeClr val="tx2"/>
                </a:solidFill>
              </a:rPr>
              <a:t>No predice: recalcula con reglas normativas ante supuestos (what-if).</a:t>
            </a:r>
            <a:endParaRPr lang="en-US" sz="1400" dirty="0"/>
          </a:p>
        </p:txBody>
      </p:sp>
      <p:sp>
        <p:nvSpPr>
          <p:cNvPr id="34" name="Text 29"/>
          <p:cNvSpPr txBox="1"/>
          <p:nvPr/>
        </p:nvSpPr>
        <p:spPr>
          <a:xfrm>
            <a:off x="8348472" y="452628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FUNCIÓN</a:t>
            </a:r>
            <a:endParaRPr lang="en-US" sz="1100" dirty="0"/>
          </a:p>
        </p:txBody>
      </p:sp>
      <p:sp>
        <p:nvSpPr>
          <p:cNvPr id="35" name="Text 30"/>
          <p:cNvSpPr txBox="1"/>
          <p:nvPr/>
        </p:nvSpPr>
        <p:spPr>
          <a:xfrm>
            <a:off x="8348472" y="4745736"/>
            <a:ext cx="2926080" cy="502920"/>
          </a:xfrm>
          <a:prstGeom prst="rect">
            <a:avLst/>
          </a:prstGeom>
          <a:noFill/>
          <a:ln/>
        </p:spPr>
        <p:txBody>
          <a:bodyPr wrap="square" lIns="0" tIns="0" rIns="0" bIns="0" rtlCol="0" anchor="t"/>
          <a:lstStyle/>
          <a:p>
            <a:pPr indent="0" marL="0">
              <a:buNone/>
            </a:pPr>
            <a:r>
              <a:rPr lang="en-US" sz="1400" dirty="0">
                <a:solidFill>
                  <a:schemeClr val="tx2"/>
                </a:solidFill>
              </a:rPr>
              <a:t>Medir impacto presupuestario y cuellos de botella.</a:t>
            </a:r>
            <a:endParaRPr lang="en-US" sz="1400" dirty="0"/>
          </a:p>
        </p:txBody>
      </p:sp>
      <p:sp>
        <p:nvSpPr>
          <p:cNvPr id="36" name="Text 31"/>
          <p:cNvSpPr txBox="1"/>
          <p:nvPr/>
        </p:nvSpPr>
        <p:spPr>
          <a:xfrm>
            <a:off x="8348472" y="5303520"/>
            <a:ext cx="2926080" cy="201168"/>
          </a:xfrm>
          <a:prstGeom prst="rect">
            <a:avLst/>
          </a:prstGeom>
          <a:noFill/>
          <a:ln/>
        </p:spPr>
        <p:txBody>
          <a:bodyPr wrap="square" lIns="0" tIns="0" rIns="0" bIns="0" rtlCol="0" anchor="t"/>
          <a:lstStyle/>
          <a:p>
            <a:pPr indent="0" marL="0">
              <a:buNone/>
            </a:pPr>
            <a:r>
              <a:rPr lang="en-US" sz="1100" b="1" spc="200" kern="0" dirty="0">
                <a:solidFill>
                  <a:schemeClr val="accent1"/>
                </a:solidFill>
              </a:rPr>
              <a:t>IMPLEMENTACIÓN</a:t>
            </a:r>
            <a:endParaRPr lang="en-US" sz="1100" dirty="0"/>
          </a:p>
        </p:txBody>
      </p:sp>
      <p:sp>
        <p:nvSpPr>
          <p:cNvPr id="37" name="Text 32"/>
          <p:cNvSpPr txBox="1"/>
          <p:nvPr/>
        </p:nvSpPr>
        <p:spPr>
          <a:xfrm>
            <a:off x="8348472" y="5522976"/>
            <a:ext cx="2926080" cy="502920"/>
          </a:xfrm>
          <a:prstGeom prst="rect">
            <a:avLst/>
          </a:prstGeom>
          <a:noFill/>
          <a:ln/>
        </p:spPr>
        <p:txBody>
          <a:bodyPr wrap="square" lIns="0" tIns="0" rIns="0" bIns="0" rtlCol="0" anchor="t"/>
          <a:lstStyle/>
          <a:p>
            <a:pPr indent="0" marL="0">
              <a:buNone/>
            </a:pPr>
            <a:r>
              <a:rPr lang="en-US" sz="1400" dirty="0">
                <a:solidFill>
                  <a:schemeClr val="tx2"/>
                </a:solidFill>
              </a:rPr>
              <a:t>Simulador what-if y optimizador Simplex.</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pPr>
              <a:defRPr sz="1050" b="1">
                <a:solidFill>
                  <a:srgbClr val="C8102E"/>
                </a:solidFill>
                <a:latin typeface="Segoe UI"/>
              </a:defRPr>
            </a:pPr>
            <a:r>
              <a:t>DEMOSTRACIÓN EN DIRECTO</a:t>
            </a:r>
          </a:p>
        </p:txBody>
      </p:sp>
      <p:sp>
        <p:nvSpPr>
          <p:cNvPr id="3" name="Title 2"/>
          <p:cNvSpPr>
            <a:spLocks noGrp="1"/>
          </p:cNvSpPr>
          <p:nvPr>
            <p:ph type="title" idx="101"/>
          </p:nvPr>
        </p:nvSpPr>
        <p:spPr/>
        <p:txBody>
          <a:bodyPr/>
          <a:lstStyle/>
          <a:p>
            <a:pPr>
              <a:defRPr sz="2100" b="1">
                <a:solidFill>
                  <a:srgbClr val="1E293B"/>
                </a:solidFill>
                <a:latin typeface="Segoe UI"/>
              </a:defRPr>
            </a:pPr>
            <a:r>
              <a:t>Plataforma interactiva (MVP) y panel de datos</a:t>
            </a:r>
          </a:p>
        </p:txBody>
      </p:sp>
      <p:sp>
        <p:nvSpPr>
          <p:cNvPr id="4" name="TextBox 3"/>
          <p:cNvSpPr txBox="1"/>
          <p:nvPr/>
        </p:nvSpPr>
        <p:spPr>
          <a:xfrm>
            <a:off x="640080" y="1325880"/>
            <a:ext cx="10881360" cy="365760"/>
          </a:xfrm>
          <a:prstGeom prst="rect">
            <a:avLst/>
          </a:prstGeom>
          <a:noFill/>
        </p:spPr>
        <p:txBody>
          <a:bodyPr wrap="square">
            <a:spAutoFit/>
          </a:bodyPr>
          <a:lstStyle/>
          <a:p>
            <a:pPr>
              <a:defRPr sz="1100">
                <a:solidFill>
                  <a:srgbClr val="64748B"/>
                </a:solidFill>
                <a:latin typeface="Segoe UI"/>
              </a:defRPr>
            </a:pPr>
            <a:r>
              <a:t>Espacio de transición para la demostración del prototipo funcional web y la estructura del panel de datos</a:t>
            </a:r>
          </a:p>
        </p:txBody>
      </p:sp>
      <p:sp>
        <p:nvSpPr>
          <p:cNvPr id="5" name="Rounded Rectangle 4"/>
          <p:cNvSpPr/>
          <p:nvPr/>
        </p:nvSpPr>
        <p:spPr>
          <a:xfrm>
            <a:off x="64008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874519"/>
            <a:ext cx="4892040" cy="594360"/>
          </a:xfrm>
          <a:prstGeom prst="rect">
            <a:avLst/>
          </a:prstGeom>
          <a:noFill/>
        </p:spPr>
        <p:txBody>
          <a:bodyPr wrap="square" lIns="0" rIns="0" tIns="0" bIns="0">
            <a:spAutoFit/>
          </a:bodyPr>
          <a:lstStyle/>
          <a:p>
            <a:pPr>
              <a:defRPr sz="1200" b="1">
                <a:solidFill>
                  <a:srgbClr val="1E40AF"/>
                </a:solidFill>
                <a:latin typeface="Segoe UI"/>
              </a:defRPr>
            </a:pPr>
            <a:r>
              <a:t>DEMO EN VIVO  ·  MVP WEB INTERACTIVO</a:t>
            </a:r>
          </a:p>
          <a:p>
            <a:pPr>
              <a:spcBef>
                <a:spcPts val="200"/>
              </a:spcBef>
              <a:defRPr sz="900">
                <a:solidFill>
                  <a:srgbClr val="64748B"/>
                </a:solidFill>
                <a:latin typeface="Consolas"/>
              </a:defRPr>
            </a:pPr>
            <a:r>
              <a:t>http://localhost:8088/index.html  ·  mapa/mapa.html</a:t>
            </a:r>
          </a:p>
        </p:txBody>
      </p:sp>
      <p:pic>
        <p:nvPicPr>
          <p:cNvPr id="7" name="Picture 6" descr="mvp_screenshot.png"/>
          <p:cNvPicPr>
            <a:picLocks noChangeAspect="1"/>
          </p:cNvPicPr>
          <p:nvPr/>
        </p:nvPicPr>
        <p:blipFill>
          <a:blip r:embed="rId2"/>
          <a:stretch>
            <a:fillRect/>
          </a:stretch>
        </p:blipFill>
        <p:spPr>
          <a:xfrm>
            <a:off x="822960" y="2514600"/>
            <a:ext cx="4892040" cy="2148840"/>
          </a:xfrm>
          <a:prstGeom prst="rect">
            <a:avLst/>
          </a:prstGeom>
          <a:ln w="12700">
            <a:solidFill>
              <a:srgbClr val="CBD5E1"/>
            </a:solidFill>
          </a:ln>
        </p:spPr>
      </p:pic>
      <p:sp>
        <p:nvSpPr>
          <p:cNvPr id="8" name="TextBox 7"/>
          <p:cNvSpPr txBox="1"/>
          <p:nvPr/>
        </p:nvSpPr>
        <p:spPr>
          <a:xfrm>
            <a:off x="822960" y="4754880"/>
            <a:ext cx="4892040" cy="1280160"/>
          </a:xfrm>
          <a:prstGeom prst="rect">
            <a:avLst/>
          </a:prstGeom>
          <a:noFill/>
        </p:spPr>
        <p:txBody>
          <a:bodyPr wrap="square" lIns="0" rIns="0" tIns="0" bIns="0">
            <a:spAutoFit/>
          </a:bodyPr>
          <a:lstStyle/>
          <a:p>
            <a:pPr>
              <a:spcBef>
                <a:spcPts val="0"/>
              </a:spcBef>
            </a:pPr>
            <a:r>
              <a:rPr sz="950" b="1">
                <a:solidFill>
                  <a:srgbClr val="1E40AF"/>
                </a:solidFill>
                <a:latin typeface="Segoe UI"/>
              </a:rPr>
              <a:t>• </a:t>
            </a:r>
            <a:r>
              <a:rPr sz="950" b="1">
                <a:solidFill>
                  <a:srgbClr val="1E293B"/>
                </a:solidFill>
                <a:latin typeface="Segoe UI"/>
              </a:rPr>
              <a:t>Hero interactivo: </a:t>
            </a:r>
            <a:r>
              <a:rPr sz="950">
                <a:solidFill>
                  <a:srgbClr val="475569"/>
                </a:solidFill>
                <a:latin typeface="Segoe UI"/>
              </a:rPr>
              <a:t>+108.400 hab. acogibles y 12,4 M€ inversión dotacional.</a:t>
            </a:r>
          </a:p>
          <a:p>
            <a:pPr>
              <a:spcBef>
                <a:spcPts val="300"/>
              </a:spcBef>
            </a:pPr>
            <a:r>
              <a:rPr sz="950" b="1">
                <a:solidFill>
                  <a:srgbClr val="1E40AF"/>
                </a:solidFill>
                <a:latin typeface="Segoe UI"/>
              </a:rPr>
              <a:t>• </a:t>
            </a:r>
            <a:r>
              <a:rPr sz="950" b="1">
                <a:solidFill>
                  <a:srgbClr val="1E293B"/>
                </a:solidFill>
                <a:latin typeface="Segoe UI"/>
              </a:rPr>
              <a:t>Recomendador ciudadano: </a:t>
            </a:r>
            <a:r>
              <a:rPr sz="950">
                <a:solidFill>
                  <a:srgbClr val="475569"/>
                </a:solidFill>
                <a:latin typeface="Segoe UI"/>
              </a:rPr>
              <a:t>Filtro por presupuesto y perfiles sin persistir datos.</a:t>
            </a:r>
          </a:p>
          <a:p>
            <a:pPr>
              <a:spcBef>
                <a:spcPts val="300"/>
              </a:spcBef>
            </a:pPr>
            <a:r>
              <a:rPr sz="950" b="1">
                <a:solidFill>
                  <a:srgbClr val="1E40AF"/>
                </a:solidFill>
                <a:latin typeface="Segoe UI"/>
              </a:rPr>
              <a:t>• </a:t>
            </a:r>
            <a:r>
              <a:rPr sz="950" b="1">
                <a:solidFill>
                  <a:srgbClr val="1E293B"/>
                </a:solidFill>
                <a:latin typeface="Segoe UI"/>
              </a:rPr>
              <a:t>Mapa comarcal: </a:t>
            </a:r>
            <a:r>
              <a:rPr sz="950">
                <a:solidFill>
                  <a:srgbClr val="475569"/>
                </a:solidFill>
                <a:latin typeface="Segoe UI"/>
              </a:rPr>
              <a:t>Semáforo dotacional y detección de cuellos de botella.</a:t>
            </a:r>
          </a:p>
        </p:txBody>
      </p:sp>
      <p:sp>
        <p:nvSpPr>
          <p:cNvPr id="9" name="Rounded Rectangle 8"/>
          <p:cNvSpPr/>
          <p:nvPr/>
        </p:nvSpPr>
        <p:spPr>
          <a:xfrm>
            <a:off x="6263640" y="1783080"/>
            <a:ext cx="5257800" cy="4434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874519"/>
            <a:ext cx="4892040" cy="594360"/>
          </a:xfrm>
          <a:prstGeom prst="rect">
            <a:avLst/>
          </a:prstGeom>
          <a:noFill/>
        </p:spPr>
        <p:txBody>
          <a:bodyPr wrap="square" lIns="0" rIns="0" tIns="0" bIns="0">
            <a:spAutoFit/>
          </a:bodyPr>
          <a:lstStyle/>
          <a:p>
            <a:pPr>
              <a:defRPr sz="1200" b="1">
                <a:solidFill>
                  <a:srgbClr val="166534"/>
                </a:solidFill>
                <a:latin typeface="Segoe UI"/>
              </a:defRPr>
            </a:pPr>
            <a:r>
              <a:t>PANEL CERTIFICADO  ·  DATASET AUDITADO</a:t>
            </a:r>
          </a:p>
          <a:p>
            <a:pPr>
              <a:spcBef>
                <a:spcPts val="200"/>
              </a:spcBef>
              <a:defRPr sz="850">
                <a:solidFill>
                  <a:srgbClr val="64748B"/>
                </a:solidFill>
                <a:latin typeface="Consolas"/>
              </a:defRPr>
            </a:pPr>
            <a:r>
              <a:t>data/validated/municipios_panel_validado.csv · panel_menores_50k_real.csv</a:t>
            </a:r>
          </a:p>
        </p:txBody>
      </p:sp>
      <p:pic>
        <p:nvPicPr>
          <p:cNvPr id="11" name="Picture 10" descr="dataset_screenshot.png"/>
          <p:cNvPicPr>
            <a:picLocks noChangeAspect="1"/>
          </p:cNvPicPr>
          <p:nvPr/>
        </p:nvPicPr>
        <p:blipFill>
          <a:blip r:embed="rId3"/>
          <a:stretch>
            <a:fillRect/>
          </a:stretch>
        </p:blipFill>
        <p:spPr>
          <a:xfrm>
            <a:off x="6446520" y="2514600"/>
            <a:ext cx="4892040" cy="2148840"/>
          </a:xfrm>
          <a:prstGeom prst="rect">
            <a:avLst/>
          </a:prstGeom>
          <a:ln w="12700">
            <a:solidFill>
              <a:srgbClr val="CBD5E1"/>
            </a:solidFill>
          </a:ln>
        </p:spPr>
      </p:pic>
      <p:sp>
        <p:nvSpPr>
          <p:cNvPr id="12" name="TextBox 11"/>
          <p:cNvSpPr txBox="1"/>
          <p:nvPr/>
        </p:nvSpPr>
        <p:spPr>
          <a:xfrm>
            <a:off x="6446520" y="4754880"/>
            <a:ext cx="4892040" cy="1280160"/>
          </a:xfrm>
          <a:prstGeom prst="rect">
            <a:avLst/>
          </a:prstGeom>
          <a:noFill/>
        </p:spPr>
        <p:txBody>
          <a:bodyPr wrap="square" lIns="0" rIns="0" tIns="0" bIns="0">
            <a:spAutoFit/>
          </a:bodyPr>
          <a:lstStyle/>
          <a:p>
            <a:pPr>
              <a:spcBef>
                <a:spcPts val="0"/>
              </a:spcBef>
            </a:pPr>
            <a:r>
              <a:rPr sz="950" b="1">
                <a:solidFill>
                  <a:srgbClr val="166534"/>
                </a:solidFill>
                <a:latin typeface="Segoe UI"/>
              </a:rPr>
              <a:t>• </a:t>
            </a:r>
            <a:r>
              <a:rPr sz="950" b="1">
                <a:solidFill>
                  <a:srgbClr val="1E293B"/>
                </a:solidFill>
                <a:latin typeface="Segoe UI"/>
              </a:rPr>
              <a:t>Cobertura comarcal y regional: </a:t>
            </a:r>
            <a:r>
              <a:rPr sz="950">
                <a:solidFill>
                  <a:srgbClr val="475569"/>
                </a:solidFill>
                <a:latin typeface="Segoe UI"/>
              </a:rPr>
              <a:t>20 municipios piloto (92 vars) + Capa real de 155 municipios &lt; 50k (997.059 hab.) con 0 nulos.</a:t>
            </a:r>
          </a:p>
          <a:p>
            <a:pPr>
              <a:spcBef>
                <a:spcPts val="300"/>
              </a:spcBef>
            </a:pPr>
            <a:r>
              <a:rPr sz="950" b="1">
                <a:solidFill>
                  <a:srgbClr val="166534"/>
                </a:solidFill>
                <a:latin typeface="Segoe UI"/>
              </a:rPr>
              <a:t>• </a:t>
            </a:r>
            <a:r>
              <a:rPr sz="950" b="1">
                <a:solidFill>
                  <a:srgbClr val="1E293B"/>
                </a:solidFill>
                <a:latin typeface="Segoe UI"/>
              </a:rPr>
              <a:t>Ingesta oficial y 0 nulos: </a:t>
            </a:r>
            <a:r>
              <a:rPr sz="950">
                <a:solidFill>
                  <a:srgbClr val="475569"/>
                </a:solidFill>
                <a:latin typeface="Segoe UI"/>
              </a:rPr>
              <a:t>Pipeline automatizado (pipeline_179.py) cruzando INE, Catastro y CKAN sin datos sintéticos.</a:t>
            </a:r>
          </a:p>
          <a:p>
            <a:pPr>
              <a:spcBef>
                <a:spcPts val="300"/>
              </a:spcBef>
            </a:pPr>
            <a:r>
              <a:rPr sz="950" b="1">
                <a:solidFill>
                  <a:srgbClr val="166534"/>
                </a:solidFill>
                <a:latin typeface="Segoe UI"/>
              </a:rPr>
              <a:t>• </a:t>
            </a:r>
            <a:r>
              <a:rPr sz="950" b="1">
                <a:solidFill>
                  <a:srgbClr val="1E293B"/>
                </a:solidFill>
                <a:latin typeface="Segoe UI"/>
              </a:rPr>
              <a:t>Garantía anti-overfitting: </a:t>
            </a:r>
            <a:r>
              <a:rPr sz="950">
                <a:solidFill>
                  <a:srgbClr val="475569"/>
                </a:solidFill>
                <a:latin typeface="Segoe UI"/>
              </a:rPr>
              <a:t>73 tests continuos en verde (fugas L1 a L7) y validación espacial GroupKFold por comarca.</a:t>
            </a:r>
          </a:p>
        </p:txBody>
      </p:sp>
      <p:sp>
        <p:nvSpPr>
          <p:cNvPr id="13" name="TextBox 12"/>
          <p:cNvSpPr txBox="1"/>
          <p:nvPr/>
        </p:nvSpPr>
        <p:spPr>
          <a:xfrm>
            <a:off x="10634472" y="6400800"/>
            <a:ext cx="914400" cy="274320"/>
          </a:xfrm>
          <a:prstGeom prst="rect">
            <a:avLst/>
          </a:prstGeom>
          <a:noFill/>
        </p:spPr>
        <p:txBody>
          <a:bodyPr wrap="none">
            <a:spAutoFit/>
          </a:bodyPr>
          <a:lstStyle/>
          <a:p>
            <a:pPr algn="r">
              <a:defRPr sz="1000">
                <a:solidFill>
                  <a:srgbClr val="94A3B8"/>
                </a:solidFill>
                <a:latin typeface="Segoe UI"/>
              </a:defRPr>
            </a:pPr>
            <a: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6  ·  VALIDACIÓN CIENTÍFICA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200" b="1">
                <a:solidFill>
                  <a:srgbClr val="1E293B"/>
                </a:solidFill>
                <a:latin typeface="Segoe UI"/>
              </a:rPr>
              <a:t>Validación con Backtesting histórico (2015–2025)</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Backtest temporal ciego: medimos el error proyectando 2020–2025 frente al padrón oficial del INE</a:t>
            </a:r>
          </a:p>
        </p:txBody>
      </p:sp>
      <p:sp>
        <p:nvSpPr>
          <p:cNvPr id="5" name="Número paso"/>
          <p:cNvSpPr/>
          <p:nvPr/>
        </p:nvSpPr>
        <p:spPr>
          <a:xfrm>
            <a:off x="640080" y="2048256"/>
            <a:ext cx="310896" cy="310896"/>
          </a:xfrm>
          <a:prstGeom prst="ellipse">
            <a:avLst/>
          </a:prstGeom>
          <a:solidFill>
            <a:schemeClr val="tx1"/>
          </a:solidFill>
          <a:ln/>
        </p:spPr>
        <p:txBody>
          <a:bodyPr/>
          <a:p/>
        </p:txBody>
      </p:sp>
      <p:sp>
        <p:nvSpPr>
          <p:cNvPr id="6" name="Text 4"/>
          <p:cNvSpPr txBox="1"/>
          <p:nvPr/>
        </p:nvSpPr>
        <p:spPr>
          <a:xfrm>
            <a:off x="640080" y="20482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143000" y="2048256"/>
            <a:ext cx="4297680" cy="310896"/>
          </a:xfrm>
          <a:prstGeom prst="rect">
            <a:avLst/>
          </a:prstGeom>
          <a:noFill/>
          <a:ln/>
        </p:spPr>
        <p:txBody>
          <a:bodyPr wrap="square" lIns="0" tIns="0" rIns="0" bIns="0" rtlCol="0" anchor="ctr"/>
          <a:lstStyle/>
          <a:p>
            <a:pPr indent="0" marL="0">
              <a:buNone/>
            </a:pPr>
            <a:r>
              <a:rPr lang="en-US" sz="1500" dirty="0">
                <a:solidFill>
                  <a:schemeClr val="tx1"/>
                </a:solidFill>
              </a:rPr>
              <a:t>Población real de 2015 y 2020 (INE)</a:t>
            </a:r>
            <a:endParaRPr lang="en-US" sz="1500" dirty="0"/>
          </a:p>
        </p:txBody>
      </p:sp>
      <p:sp>
        <p:nvSpPr>
          <p:cNvPr id="8" name="Número paso"/>
          <p:cNvSpPr/>
          <p:nvPr/>
        </p:nvSpPr>
        <p:spPr>
          <a:xfrm>
            <a:off x="640080" y="2505456"/>
            <a:ext cx="310896" cy="310896"/>
          </a:xfrm>
          <a:prstGeom prst="ellipse">
            <a:avLst/>
          </a:prstGeom>
          <a:solidFill>
            <a:schemeClr val="tx1"/>
          </a:solidFill>
          <a:ln/>
        </p:spPr>
        <p:txBody>
          <a:bodyPr/>
          <a:p/>
        </p:txBody>
      </p:sp>
      <p:sp>
        <p:nvSpPr>
          <p:cNvPr id="9" name="Text 7"/>
          <p:cNvSpPr txBox="1"/>
          <p:nvPr/>
        </p:nvSpPr>
        <p:spPr>
          <a:xfrm>
            <a:off x="640080" y="25054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2505456"/>
            <a:ext cx="4297680" cy="310896"/>
          </a:xfrm>
          <a:prstGeom prst="rect">
            <a:avLst/>
          </a:prstGeom>
          <a:noFill/>
          <a:ln/>
        </p:spPr>
        <p:txBody>
          <a:bodyPr wrap="square" lIns="0" tIns="0" rIns="0" bIns="0" rtlCol="0" anchor="ctr"/>
          <a:lstStyle/>
          <a:p>
            <a:pPr indent="0" marL="0">
              <a:buNone/>
            </a:pPr>
            <a:r>
              <a:rPr lang="en-US" sz="1500" dirty="0">
                <a:solidFill>
                  <a:schemeClr val="tx1"/>
                </a:solidFill>
              </a:rPr>
              <a:t>Tasa anual geométrica de crecimiento</a:t>
            </a:r>
            <a:endParaRPr lang="en-US" sz="1500" dirty="0"/>
          </a:p>
        </p:txBody>
      </p:sp>
      <p:sp>
        <p:nvSpPr>
          <p:cNvPr id="11" name="Número paso"/>
          <p:cNvSpPr/>
          <p:nvPr/>
        </p:nvSpPr>
        <p:spPr>
          <a:xfrm>
            <a:off x="640080" y="2962656"/>
            <a:ext cx="310896" cy="310896"/>
          </a:xfrm>
          <a:prstGeom prst="ellipse">
            <a:avLst/>
          </a:prstGeom>
          <a:solidFill>
            <a:schemeClr val="tx1"/>
          </a:solidFill>
          <a:ln/>
        </p:spPr>
        <p:txBody>
          <a:bodyPr/>
          <a:p/>
        </p:txBody>
      </p:sp>
      <p:sp>
        <p:nvSpPr>
          <p:cNvPr id="12" name="Text 10"/>
          <p:cNvSpPr txBox="1"/>
          <p:nvPr/>
        </p:nvSpPr>
        <p:spPr>
          <a:xfrm>
            <a:off x="640080" y="29626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143000" y="2962656"/>
            <a:ext cx="4297680" cy="310896"/>
          </a:xfrm>
          <a:prstGeom prst="rect">
            <a:avLst/>
          </a:prstGeom>
          <a:noFill/>
          <a:ln/>
        </p:spPr>
        <p:txBody>
          <a:bodyPr wrap="square" lIns="0" tIns="0" rIns="0" bIns="0" rtlCol="0" anchor="ctr"/>
          <a:lstStyle/>
          <a:p>
            <a:r>
              <a:rPr sz="1050">
                <a:latin typeface="Segoe UI"/>
              </a:rPr>
              <a:t>Proyección a 2025 sin ver el dato real (Backtest ciego)</a:t>
            </a:r>
          </a:p>
        </p:txBody>
      </p:sp>
      <p:sp>
        <p:nvSpPr>
          <p:cNvPr id="14" name="Número paso"/>
          <p:cNvSpPr/>
          <p:nvPr/>
        </p:nvSpPr>
        <p:spPr>
          <a:xfrm>
            <a:off x="640080" y="3419856"/>
            <a:ext cx="310896" cy="310896"/>
          </a:xfrm>
          <a:prstGeom prst="ellipse">
            <a:avLst/>
          </a:prstGeom>
          <a:solidFill>
            <a:schemeClr val="tx1"/>
          </a:solidFill>
          <a:ln/>
        </p:spPr>
        <p:txBody>
          <a:bodyPr/>
          <a:p/>
        </p:txBody>
      </p:sp>
      <p:sp>
        <p:nvSpPr>
          <p:cNvPr id="15" name="Text 13"/>
          <p:cNvSpPr txBox="1"/>
          <p:nvPr/>
        </p:nvSpPr>
        <p:spPr>
          <a:xfrm>
            <a:off x="640080" y="34198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14"/>
          <p:cNvSpPr txBox="1"/>
          <p:nvPr/>
        </p:nvSpPr>
        <p:spPr>
          <a:xfrm>
            <a:off x="1143000" y="3419856"/>
            <a:ext cx="4297680" cy="310896"/>
          </a:xfrm>
          <a:prstGeom prst="rect">
            <a:avLst/>
          </a:prstGeom>
          <a:noFill/>
          <a:ln/>
        </p:spPr>
        <p:txBody>
          <a:bodyPr wrap="square" lIns="0" tIns="0" rIns="0" bIns="0" rtlCol="0" anchor="ctr"/>
          <a:lstStyle/>
          <a:p>
            <a:pPr indent="0" marL="0">
              <a:buNone/>
            </a:pPr>
            <a:r>
              <a:rPr lang="en-US" sz="1500" dirty="0">
                <a:solidFill>
                  <a:schemeClr val="tx1"/>
                </a:solidFill>
              </a:rPr>
              <a:t>Contraste con el padrón oficial de 2025</a:t>
            </a:r>
            <a:endParaRPr lang="en-US" sz="1500" dirty="0"/>
          </a:p>
        </p:txBody>
      </p:sp>
      <p:sp>
        <p:nvSpPr>
          <p:cNvPr id="17" name="Número paso"/>
          <p:cNvSpPr/>
          <p:nvPr/>
        </p:nvSpPr>
        <p:spPr>
          <a:xfrm>
            <a:off x="640080" y="3877056"/>
            <a:ext cx="310896" cy="310896"/>
          </a:xfrm>
          <a:prstGeom prst="ellipse">
            <a:avLst/>
          </a:prstGeom>
          <a:solidFill>
            <a:schemeClr val="tx1"/>
          </a:solidFill>
          <a:ln/>
        </p:spPr>
        <p:txBody>
          <a:bodyPr/>
          <a:p/>
        </p:txBody>
      </p:sp>
      <p:sp>
        <p:nvSpPr>
          <p:cNvPr id="18" name="Text 16"/>
          <p:cNvSpPr txBox="1"/>
          <p:nvPr/>
        </p:nvSpPr>
        <p:spPr>
          <a:xfrm>
            <a:off x="640080" y="387705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17"/>
          <p:cNvSpPr txBox="1"/>
          <p:nvPr/>
        </p:nvSpPr>
        <p:spPr>
          <a:xfrm>
            <a:off x="1143000" y="3877056"/>
            <a:ext cx="4297680" cy="310896"/>
          </a:xfrm>
          <a:prstGeom prst="rect">
            <a:avLst/>
          </a:prstGeom>
          <a:noFill/>
          <a:ln/>
        </p:spPr>
        <p:txBody>
          <a:bodyPr wrap="square" lIns="0" tIns="0" rIns="0" bIns="0" rtlCol="0" anchor="ctr"/>
          <a:lstStyle/>
          <a:p>
            <a:pPr indent="0" marL="0">
              <a:buNone/>
            </a:pPr>
            <a:r>
              <a:rPr lang="en-US" sz="1500" dirty="0">
                <a:solidFill>
                  <a:schemeClr val="tx1"/>
                </a:solidFill>
              </a:rPr>
              <a:t>Error en porcentaje y en habitantes</a:t>
            </a:r>
            <a:endParaRPr lang="en-US" sz="1500" dirty="0"/>
          </a:p>
        </p:txBody>
      </p:sp>
      <p:sp>
        <p:nvSpPr>
          <p:cNvPr id="20" name="Dato error modelo"/>
          <p:cNvSpPr/>
          <p:nvPr/>
        </p:nvSpPr>
        <p:spPr>
          <a:xfrm>
            <a:off x="640080" y="4526280"/>
            <a:ext cx="2560320" cy="1645920"/>
          </a:xfrm>
          <a:prstGeom prst="roundRect">
            <a:avLst>
              <a:gd name="adj" fmla="val 5556"/>
            </a:avLst>
          </a:prstGeom>
          <a:solidFill>
            <a:schemeClr val="tx1"/>
          </a:solidFill>
          <a:ln/>
        </p:spPr>
        <p:txBody>
          <a:bodyPr/>
          <a:p/>
        </p:txBody>
      </p:sp>
      <p:sp>
        <p:nvSpPr>
          <p:cNvPr id="21" name="Text 19"/>
          <p:cNvSpPr txBox="1"/>
          <p:nvPr/>
        </p:nvSpPr>
        <p:spPr>
          <a:xfrm>
            <a:off x="841248" y="4636008"/>
            <a:ext cx="2194560" cy="640080"/>
          </a:xfrm>
          <a:prstGeom prst="rect">
            <a:avLst/>
          </a:prstGeom>
          <a:noFill/>
          <a:ln/>
        </p:spPr>
        <p:txBody>
          <a:bodyPr wrap="square" lIns="0" tIns="0" rIns="0" bIns="0" rtlCol="0" anchor="t"/>
          <a:lstStyle/>
          <a:p>
            <a:pPr indent="0" marL="0">
              <a:buNone/>
            </a:pPr>
            <a:r>
              <a:rPr lang="en-US" sz="4000" b="1" dirty="0">
                <a:solidFill>
                  <a:schemeClr val="accent6"/>
                </a:solidFill>
                <a:latin typeface="+mj-lt" pitchFamily="34" charset="0"/>
                <a:ea typeface="+mj-lt" pitchFamily="34" charset="-122"/>
                <a:cs typeface="+mj-lt" pitchFamily="34" charset="-120"/>
              </a:rPr>
              <a:t>1,55%</a:t>
            </a:r>
            <a:endParaRPr lang="en-US" sz="4000" dirty="0"/>
          </a:p>
        </p:txBody>
      </p:sp>
      <p:sp>
        <p:nvSpPr>
          <p:cNvPr id="22" name="Text 20"/>
          <p:cNvSpPr txBox="1"/>
          <p:nvPr/>
        </p:nvSpPr>
        <p:spPr>
          <a:xfrm>
            <a:off x="841248" y="5349240"/>
            <a:ext cx="2194560" cy="731520"/>
          </a:xfrm>
          <a:prstGeom prst="rect">
            <a:avLst/>
          </a:prstGeom>
          <a:noFill/>
          <a:ln/>
        </p:spPr>
        <p:txBody>
          <a:bodyPr wrap="square" lIns="0" tIns="0" rIns="0" bIns="0" rtlCol="0" anchor="t"/>
          <a:lstStyle/>
          <a:p>
            <a:pPr indent="0" marL="0">
              <a:buNone/>
            </a:pPr>
            <a:r>
              <a:rPr lang="en-US" sz="1400" dirty="0">
                <a:solidFill>
                  <a:schemeClr val="bg1"/>
                </a:solidFill>
              </a:rPr>
              <a:t>error mediano de nuestra proyección a 5 años</a:t>
            </a:r>
            <a:endParaRPr lang="en-US" sz="1400" dirty="0"/>
          </a:p>
        </p:txBody>
      </p:sp>
      <p:sp>
        <p:nvSpPr>
          <p:cNvPr id="23" name="Dato error estático"/>
          <p:cNvSpPr/>
          <p:nvPr/>
        </p:nvSpPr>
        <p:spPr>
          <a:xfrm>
            <a:off x="3383280" y="4526280"/>
            <a:ext cx="2560320" cy="1645920"/>
          </a:xfrm>
          <a:prstGeom prst="roundRect">
            <a:avLst>
              <a:gd name="adj" fmla="val 5556"/>
            </a:avLst>
          </a:prstGeom>
          <a:solidFill>
            <a:schemeClr val="bg2"/>
          </a:solidFill>
          <a:ln/>
        </p:spPr>
        <p:txBody>
          <a:bodyPr/>
          <a:p/>
        </p:txBody>
      </p:sp>
      <p:sp>
        <p:nvSpPr>
          <p:cNvPr id="24" name="Text 22"/>
          <p:cNvSpPr txBox="1"/>
          <p:nvPr/>
        </p:nvSpPr>
        <p:spPr>
          <a:xfrm>
            <a:off x="3584448" y="4636008"/>
            <a:ext cx="2194560" cy="6400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7,02%</a:t>
            </a:r>
            <a:endParaRPr lang="en-US" sz="4000" dirty="0"/>
          </a:p>
        </p:txBody>
      </p:sp>
      <p:sp>
        <p:nvSpPr>
          <p:cNvPr id="25" name="Text 23"/>
          <p:cNvSpPr txBox="1"/>
          <p:nvPr/>
        </p:nvSpPr>
        <p:spPr>
          <a:xfrm>
            <a:off x="3584448" y="5349240"/>
            <a:ext cx="2194560" cy="731520"/>
          </a:xfrm>
          <a:prstGeom prst="rect">
            <a:avLst/>
          </a:prstGeom>
          <a:noFill/>
          <a:ln/>
        </p:spPr>
        <p:txBody>
          <a:bodyPr wrap="square" lIns="0" tIns="0" rIns="0" bIns="0" rtlCol="0" anchor="t"/>
          <a:lstStyle/>
          <a:p>
            <a:pPr indent="0" marL="0">
              <a:buNone/>
            </a:pPr>
            <a:r>
              <a:rPr lang="en-US" sz="1400" dirty="0">
                <a:solidFill>
                  <a:schemeClr val="tx2"/>
                </a:solidFill>
              </a:rPr>
              <a:t>error mediano si se asume que nada cambia</a:t>
            </a:r>
            <a:endParaRPr lang="en-US" sz="1400" dirty="0"/>
          </a:p>
        </p:txBody>
      </p:sp>
      <p:sp>
        <p:nvSpPr>
          <p:cNvPr id="26" name="Text 24"/>
          <p:cNvSpPr txBox="1"/>
          <p:nvPr/>
        </p:nvSpPr>
        <p:spPr>
          <a:xfrm>
            <a:off x="6355080" y="2011680"/>
            <a:ext cx="521208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ERROR DE LA PROYECCIÓN 2020 → 2025 (%)</a:t>
            </a:r>
            <a:endParaRPr lang="en-US" sz="1200" dirty="0"/>
          </a:p>
        </p:txBody>
      </p:sp>
      <p:graphicFrame>
        <p:nvGraphicFramePr>
          <p:cNvPr id="27" name="Chart 0" descr=""/>
          <p:cNvGraphicFramePr/>
          <p:nvPr/>
        </p:nvGraphicFramePr>
        <p:xfrm>
          <a:off x="6263640" y="2286000"/>
          <a:ext cx="5303520" cy="3200400"/>
        </p:xfrm>
        <a:graphic xmlns:a="http://schemas.openxmlformats.org/drawingml/2006/main">
          <a:graphicData uri="http://schemas.openxmlformats.org/drawingml/2006/chart">
            <c:chart xmlns:c="http://schemas.openxmlformats.org/drawingml/2006/chart" r:id="rId1"/>
          </a:graphicData>
        </a:graphic>
      </p:graphicFrame>
      <p:sp>
        <p:nvSpPr>
          <p:cNvPr id="28" name="Text 25"/>
          <p:cNvSpPr txBox="1"/>
          <p:nvPr/>
        </p:nvSpPr>
        <p:spPr>
          <a:xfrm>
            <a:off x="6355080" y="5577840"/>
            <a:ext cx="5193792" cy="594360"/>
          </a:xfrm>
          <a:prstGeom prst="rect">
            <a:avLst/>
          </a:prstGeom>
          <a:noFill/>
          <a:ln/>
        </p:spPr>
        <p:txBody>
          <a:bodyPr wrap="square" lIns="0" tIns="0" rIns="0" bIns="0" rtlCol="0" anchor="t"/>
          <a:lstStyle/>
          <a:p>
            <a:r>
              <a:rPr sz="1000">
                <a:solidFill>
                  <a:srgbClr val="475569"/>
                </a:solidFill>
                <a:latin typeface="Segoe UI"/>
              </a:rPr>
              <a:t>Backtest riguroso: la mitad de los municipios tiene un error inferior al 1,55% a 5 años (vs 7,02% naive). En 5.000 hab., el desvío mediano es de apenas 78 personas.</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8</a:t>
            </a: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7  ·  JUSTIFICACIÓN DEL PROBLEMA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ICA mide capacidad, no atractivo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Esa paradoja justifica la herramienta: crece más quien menos capacidad tiene</a:t>
            </a:r>
            <a:endParaRPr lang="en-US" sz="1600" dirty="0"/>
          </a:p>
        </p:txBody>
      </p:sp>
      <p:sp>
        <p:nvSpPr>
          <p:cNvPr id="5" name="Text 3"/>
          <p:cNvSpPr txBox="1"/>
          <p:nvPr/>
        </p:nvSpPr>
        <p:spPr>
          <a:xfrm>
            <a:off x="640080" y="201168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EL LÍMITE, DICHO CON HONESTIDAD</a:t>
            </a:r>
            <a:endParaRPr lang="en-US" sz="1200" dirty="0"/>
          </a:p>
        </p:txBody>
      </p:sp>
      <p:sp>
        <p:nvSpPr>
          <p:cNvPr id="6" name="Tarjeta"/>
          <p:cNvSpPr/>
          <p:nvPr/>
        </p:nvSpPr>
        <p:spPr>
          <a:xfrm>
            <a:off x="640080" y="2331720"/>
            <a:ext cx="4572000" cy="2834640"/>
          </a:xfrm>
          <a:prstGeom prst="roundRect">
            <a:avLst>
              <a:gd name="adj" fmla="val 3226"/>
            </a:avLst>
          </a:prstGeom>
          <a:solidFill>
            <a:schemeClr val="bg2"/>
          </a:solidFill>
          <a:ln/>
        </p:spPr>
        <p:txBody>
          <a:bodyPr/>
          <a:p/>
        </p:txBody>
      </p:sp>
      <p:sp>
        <p:nvSpPr>
          <p:cNvPr id="7" name="Text 5"/>
          <p:cNvSpPr txBox="1"/>
          <p:nvPr/>
        </p:nvSpPr>
        <p:spPr>
          <a:xfrm>
            <a:off x="914400" y="2514600"/>
            <a:ext cx="4023360" cy="777240"/>
          </a:xfrm>
          <a:prstGeom prst="rect">
            <a:avLst/>
          </a:prstGeom>
          <a:noFill/>
          <a:ln/>
        </p:spPr>
        <p:txBody>
          <a:bodyPr wrap="square" lIns="0" tIns="0" rIns="0" bIns="0" rtlCol="0" anchor="t"/>
          <a:lstStyle/>
          <a:p>
            <a:pPr indent="0" marL="0">
              <a:buNone/>
            </a:pPr>
            <a:r>
              <a:rPr lang="en-US" sz="5200" b="1" dirty="0">
                <a:solidFill>
                  <a:schemeClr val="accent1"/>
                </a:solidFill>
                <a:latin typeface="+mj-lt" pitchFamily="34" charset="0"/>
                <a:ea typeface="+mj-lt" pitchFamily="34" charset="-122"/>
                <a:cs typeface="+mj-lt" pitchFamily="34" charset="-120"/>
              </a:rPr>
              <a:t>ρ = 0,10</a:t>
            </a:r>
            <a:endParaRPr lang="en-US" sz="5200" dirty="0"/>
          </a:p>
        </p:txBody>
      </p:sp>
      <p:sp>
        <p:nvSpPr>
          <p:cNvPr id="8" name="Text 6"/>
          <p:cNvSpPr txBox="1"/>
          <p:nvPr/>
        </p:nvSpPr>
        <p:spPr>
          <a:xfrm>
            <a:off x="914400" y="3520440"/>
            <a:ext cx="4023360" cy="502920"/>
          </a:xfrm>
          <a:prstGeom prst="rect">
            <a:avLst/>
          </a:prstGeom>
          <a:noFill/>
          <a:ln/>
        </p:spPr>
        <p:txBody>
          <a:bodyPr wrap="square" lIns="0" tIns="0" rIns="0" bIns="0" rtlCol="0" anchor="t"/>
          <a:lstStyle/>
          <a:p>
            <a:pPr indent="0" marL="0">
              <a:buNone/>
            </a:pPr>
            <a:r>
              <a:rPr lang="en-US" sz="1400" b="1" dirty="0">
                <a:solidFill>
                  <a:schemeClr val="tx1"/>
                </a:solidFill>
              </a:rPr>
              <a:t>Correlación entre el ICA y el crecimiento espontáneo: no significativa.</a:t>
            </a:r>
            <a:endParaRPr lang="en-US" sz="1400" dirty="0"/>
          </a:p>
        </p:txBody>
      </p:sp>
      <p:sp>
        <p:nvSpPr>
          <p:cNvPr id="9" name="Text 7"/>
          <p:cNvSpPr txBox="1"/>
          <p:nvPr/>
        </p:nvSpPr>
        <p:spPr>
          <a:xfrm>
            <a:off x="914400" y="4114800"/>
            <a:ext cx="4023360" cy="1005840"/>
          </a:xfrm>
          <a:prstGeom prst="rect">
            <a:avLst/>
          </a:prstGeom>
          <a:noFill/>
          <a:ln/>
        </p:spPr>
        <p:txBody>
          <a:bodyPr wrap="square" lIns="0" tIns="0" rIns="0" bIns="0" rtlCol="0" anchor="t"/>
          <a:lstStyle/>
          <a:p>
            <a:pPr indent="0" marL="0">
              <a:buNone/>
            </a:pPr>
            <a:r>
              <a:rPr lang="en-US" sz="1400" dirty="0">
                <a:solidFill>
                  <a:schemeClr val="tx2"/>
                </a:solidFill>
              </a:rPr>
              <a:t>El ICA mide dónde hay infraestructura para crecer sin colapsar servicios. La gente no se muda adonde sobran plazas escolares, sino adonde hay alquiler barato o inercia urbana.</a:t>
            </a:r>
            <a:endParaRPr lang="en-US" sz="1400" dirty="0"/>
          </a:p>
        </p:txBody>
      </p:sp>
      <p:sp>
        <p:nvSpPr>
          <p:cNvPr id="10" name="Text 8"/>
          <p:cNvSpPr txBox="1"/>
          <p:nvPr/>
        </p:nvSpPr>
        <p:spPr>
          <a:xfrm>
            <a:off x="548640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LOS QUE MÁS CRECEN, MENOS CAPACIDAD TIENEN</a:t>
            </a:r>
            <a:endParaRPr lang="en-US" sz="1200" dirty="0"/>
          </a:p>
        </p:txBody>
      </p:sp>
      <p:sp>
        <p:nvSpPr>
          <p:cNvPr id="11" name="Caso Villa del Prado"/>
          <p:cNvSpPr/>
          <p:nvPr/>
        </p:nvSpPr>
        <p:spPr>
          <a:xfrm>
            <a:off x="5486400" y="2331720"/>
            <a:ext cx="6062472" cy="1371600"/>
          </a:xfrm>
          <a:prstGeom prst="roundRect">
            <a:avLst>
              <a:gd name="adj" fmla="val 6667"/>
            </a:avLst>
          </a:prstGeom>
          <a:solidFill>
            <a:schemeClr val="bg2"/>
          </a:solidFill>
          <a:ln/>
        </p:spPr>
        <p:txBody>
          <a:bodyPr/>
          <a:p/>
        </p:txBody>
      </p:sp>
      <p:sp>
        <p:nvSpPr>
          <p:cNvPr id="12" name="Text 10"/>
          <p:cNvSpPr txBox="1"/>
          <p:nvPr/>
        </p:nvSpPr>
        <p:spPr>
          <a:xfrm>
            <a:off x="5715000" y="253288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+16,2%</a:t>
            </a:r>
            <a:endParaRPr lang="en-US" sz="3600" dirty="0"/>
          </a:p>
        </p:txBody>
      </p:sp>
      <p:sp>
        <p:nvSpPr>
          <p:cNvPr id="13" name="Text 11"/>
          <p:cNvSpPr txBox="1"/>
          <p:nvPr/>
        </p:nvSpPr>
        <p:spPr>
          <a:xfrm>
            <a:off x="5715000" y="3172968"/>
            <a:ext cx="1828800" cy="274320"/>
          </a:xfrm>
          <a:prstGeom prst="rect">
            <a:avLst/>
          </a:prstGeom>
          <a:noFill/>
          <a:ln/>
        </p:spPr>
        <p:txBody>
          <a:bodyPr wrap="square" lIns="0" tIns="0" rIns="0" bIns="0" rtlCol="0" anchor="t"/>
          <a:lstStyle/>
          <a:p>
            <a:pPr indent="0" marL="0">
              <a:buNone/>
            </a:pPr>
            <a:r>
              <a:rPr lang="en-US" sz="1200" dirty="0">
                <a:solidFill>
                  <a:schemeClr val="tx2"/>
                </a:solidFill>
              </a:rPr>
              <a:t>2020 a 2025</a:t>
            </a:r>
            <a:endParaRPr lang="en-US" sz="1200" dirty="0"/>
          </a:p>
        </p:txBody>
      </p:sp>
      <p:sp>
        <p:nvSpPr>
          <p:cNvPr id="14" name="Text 12"/>
          <p:cNvSpPr txBox="1"/>
          <p:nvPr/>
        </p:nvSpPr>
        <p:spPr>
          <a:xfrm>
            <a:off x="7726680" y="251460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Villa del Prado</a:t>
            </a:r>
            <a:endParaRPr lang="en-US" sz="1800" dirty="0"/>
          </a:p>
          <a:p>
            <a:pPr indent="0" marL="0">
              <a:buNone/>
            </a:pPr>
            <a:r>
              <a:rPr lang="en-US" sz="1400" dirty="0">
                <a:solidFill>
                  <a:schemeClr val="tx2"/>
                </a:solidFill>
              </a:rPr>
              <a:t>ICA 36,9: capacidad baja. Centro de salud y consultorios sobrecargados.</a:t>
            </a:r>
            <a:endParaRPr lang="en-US" sz="1800" dirty="0"/>
          </a:p>
        </p:txBody>
      </p:sp>
      <p:sp>
        <p:nvSpPr>
          <p:cNvPr id="15" name="Caso Navalcarnero"/>
          <p:cNvSpPr/>
          <p:nvPr/>
        </p:nvSpPr>
        <p:spPr>
          <a:xfrm>
            <a:off x="5486400" y="3840480"/>
            <a:ext cx="6062472" cy="1371600"/>
          </a:xfrm>
          <a:prstGeom prst="roundRect">
            <a:avLst>
              <a:gd name="adj" fmla="val 6667"/>
            </a:avLst>
          </a:prstGeom>
          <a:solidFill>
            <a:schemeClr val="bg2"/>
          </a:solidFill>
          <a:ln/>
        </p:spPr>
        <p:txBody>
          <a:bodyPr/>
          <a:p/>
        </p:txBody>
      </p:sp>
      <p:sp>
        <p:nvSpPr>
          <p:cNvPr id="16" name="Text 14"/>
          <p:cNvSpPr txBox="1"/>
          <p:nvPr/>
        </p:nvSpPr>
        <p:spPr>
          <a:xfrm>
            <a:off x="5715000" y="4041648"/>
            <a:ext cx="1828800" cy="594360"/>
          </a:xfrm>
          <a:prstGeom prst="rect">
            <a:avLst/>
          </a:prstGeom>
          <a:noFill/>
          <a:ln/>
        </p:spPr>
        <p:txBody>
          <a:bodyPr wrap="square" lIns="0" tIns="0" rIns="0" bIns="0" rtlCol="0" anchor="t"/>
          <a:lstStyle/>
          <a:p>
            <a:pPr indent="0" marL="0">
              <a:buNone/>
            </a:pPr>
            <a:r>
              <a:rPr lang="en-US" sz="3600" b="1" dirty="0">
                <a:solidFill>
                  <a:schemeClr val="accent1"/>
                </a:solidFill>
                <a:latin typeface="+mj-lt" pitchFamily="34" charset="0"/>
                <a:ea typeface="+mj-lt" pitchFamily="34" charset="-122"/>
                <a:cs typeface="+mj-lt" pitchFamily="34" charset="-120"/>
              </a:rPr>
              <a:t>+11,2%</a:t>
            </a:r>
            <a:endParaRPr lang="en-US" sz="3600" dirty="0"/>
          </a:p>
        </p:txBody>
      </p:sp>
      <p:sp>
        <p:nvSpPr>
          <p:cNvPr id="17" name="Text 15"/>
          <p:cNvSpPr txBox="1"/>
          <p:nvPr/>
        </p:nvSpPr>
        <p:spPr>
          <a:xfrm>
            <a:off x="5715000" y="4681728"/>
            <a:ext cx="1828800" cy="274320"/>
          </a:xfrm>
          <a:prstGeom prst="rect">
            <a:avLst/>
          </a:prstGeom>
          <a:noFill/>
          <a:ln/>
        </p:spPr>
        <p:txBody>
          <a:bodyPr wrap="square" lIns="0" tIns="0" rIns="0" bIns="0" rtlCol="0" anchor="t"/>
          <a:lstStyle/>
          <a:p>
            <a:pPr indent="0" marL="0">
              <a:buNone/>
            </a:pPr>
            <a:r>
              <a:rPr lang="en-US" sz="1200" dirty="0">
                <a:solidFill>
                  <a:schemeClr val="tx2"/>
                </a:solidFill>
              </a:rPr>
              <a:t>31.979 habitantes</a:t>
            </a:r>
            <a:endParaRPr lang="en-US" sz="1200" dirty="0"/>
          </a:p>
        </p:txBody>
      </p:sp>
      <p:sp>
        <p:nvSpPr>
          <p:cNvPr id="18" name="Text 16"/>
          <p:cNvSpPr txBox="1"/>
          <p:nvPr/>
        </p:nvSpPr>
        <p:spPr>
          <a:xfrm>
            <a:off x="7726680" y="4023360"/>
            <a:ext cx="3657600" cy="1051560"/>
          </a:xfrm>
          <a:prstGeom prst="rect">
            <a:avLst/>
          </a:prstGeom>
          <a:noFill/>
          <a:ln/>
        </p:spPr>
        <p:txBody>
          <a:bodyPr wrap="square" lIns="0" tIns="0" rIns="0" bIns="0" rtlCol="0" anchor="t"/>
          <a:lstStyle/>
          <a:p>
            <a:pPr indent="0" marL="0">
              <a:buNone/>
            </a:pPr>
            <a:r>
              <a:rPr lang="en-US" sz="1800" b="1" dirty="0">
                <a:solidFill>
                  <a:schemeClr val="tx1"/>
                </a:solidFill>
              </a:rPr>
              <a:t>Navalcarnero</a:t>
            </a:r>
            <a:endParaRPr lang="en-US" sz="1800" dirty="0"/>
          </a:p>
          <a:p>
            <a:pPr indent="0" marL="0">
              <a:buNone/>
            </a:pPr>
            <a:r>
              <a:rPr lang="en-US" sz="1400" dirty="0">
                <a:solidFill>
                  <a:schemeClr val="tx2"/>
                </a:solidFill>
              </a:rPr>
              <a:t>ICA 24,5: alerta roja, con 1.667 hab/médico y aulas al 95,2%.</a:t>
            </a:r>
            <a:endParaRPr lang="en-US" sz="1800" dirty="0"/>
          </a:p>
        </p:txBody>
      </p:sp>
      <p:sp>
        <p:nvSpPr>
          <p:cNvPr id="19" name="Conclusión"/>
          <p:cNvSpPr/>
          <p:nvPr/>
        </p:nvSpPr>
        <p:spPr>
          <a:xfrm>
            <a:off x="640080" y="5394960"/>
            <a:ext cx="10908792" cy="777240"/>
          </a:xfrm>
          <a:prstGeom prst="roundRect">
            <a:avLst>
              <a:gd name="adj" fmla="val 11765"/>
            </a:avLst>
          </a:prstGeom>
          <a:solidFill>
            <a:schemeClr val="tx1"/>
          </a:solidFill>
          <a:ln/>
        </p:spPr>
        <p:txBody>
          <a:bodyPr/>
          <a:p/>
        </p:txBody>
      </p:sp>
      <p:sp>
        <p:nvSpPr>
          <p:cNvPr id="20" name="Text 18"/>
          <p:cNvSpPr txBox="1"/>
          <p:nvPr/>
        </p:nvSpPr>
        <p:spPr>
          <a:xfrm>
            <a:off x="914400" y="5394960"/>
            <a:ext cx="10332720" cy="777240"/>
          </a:xfrm>
          <a:prstGeom prst="rect">
            <a:avLst/>
          </a:prstGeom>
          <a:noFill/>
          <a:ln/>
        </p:spPr>
        <p:txBody>
          <a:bodyPr wrap="square" lIns="0" tIns="0" rIns="0" bIns="0" rtlCol="0" anchor="ctr"/>
          <a:lstStyle/>
          <a:p>
            <a:pPr indent="0" marL="0">
              <a:buNone/>
            </a:pPr>
            <a:r>
              <a:rPr lang="en-US" sz="1600" b="1" dirty="0">
                <a:solidFill>
                  <a:schemeClr val="bg1"/>
                </a:solidFill>
              </a:rPr>
              <a:t>Sin intervención, la inercia seguirá llenando municipios ya saturados. MadridNext reorienta ese flujo hacia donde hay capacidad real.</a:t>
            </a:r>
            <a:endParaRPr lang="en-US" sz="16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9</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8  ·  DIAGNÓSTICO Y CONTROL</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El semáforo ICA y la alerta no compensatoria</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Umbrales de capacidad e interrupción automática del encaje</a:t>
            </a:r>
            <a:endParaRPr lang="en-US" sz="1600" dirty="0"/>
          </a:p>
        </p:txBody>
      </p:sp>
      <p:sp>
        <p:nvSpPr>
          <p:cNvPr id="5" name="Nivel ALTA"/>
          <p:cNvSpPr/>
          <p:nvPr/>
        </p:nvSpPr>
        <p:spPr>
          <a:xfrm>
            <a:off x="640080" y="1965960"/>
            <a:ext cx="3474720" cy="2697480"/>
          </a:xfrm>
          <a:prstGeom prst="roundRect">
            <a:avLst>
              <a:gd name="adj" fmla="val 3390"/>
            </a:avLst>
          </a:prstGeom>
          <a:solidFill>
            <a:schemeClr val="bg2"/>
          </a:solidFill>
          <a:ln/>
        </p:spPr>
        <p:txBody>
          <a:bodyPr/>
          <a:p/>
        </p:txBody>
      </p:sp>
      <p:sp>
        <p:nvSpPr>
          <p:cNvPr id="6" name="Luz semáforo"/>
          <p:cNvSpPr/>
          <p:nvPr/>
        </p:nvSpPr>
        <p:spPr>
          <a:xfrm>
            <a:off x="914400" y="2240280"/>
            <a:ext cx="237744" cy="237744"/>
          </a:xfrm>
          <a:prstGeom prst="ellipse">
            <a:avLst/>
          </a:prstGeom>
          <a:solidFill>
            <a:srgbClr val="2E7D5B"/>
          </a:solidFill>
          <a:ln/>
        </p:spPr>
        <p:txBody>
          <a:bodyPr/>
          <a:p/>
        </p:txBody>
      </p:sp>
      <p:sp>
        <p:nvSpPr>
          <p:cNvPr id="7" name="Text 5"/>
          <p:cNvSpPr txBox="1"/>
          <p:nvPr/>
        </p:nvSpPr>
        <p:spPr>
          <a:xfrm>
            <a:off x="1280160"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ALTA</a:t>
            </a:r>
            <a:endParaRPr lang="en-US" sz="1300" dirty="0"/>
          </a:p>
        </p:txBody>
      </p:sp>
      <p:sp>
        <p:nvSpPr>
          <p:cNvPr id="8" name="Text 6"/>
          <p:cNvSpPr txBox="1"/>
          <p:nvPr/>
        </p:nvSpPr>
        <p:spPr>
          <a:xfrm>
            <a:off x="914400" y="2606040"/>
            <a:ext cx="2926080" cy="731520"/>
          </a:xfrm>
          <a:prstGeom prst="rect">
            <a:avLst/>
          </a:prstGeom>
          <a:noFill/>
          <a:ln/>
        </p:spPr>
        <p:txBody>
          <a:bodyPr wrap="square" lIns="0" tIns="0" rIns="0" bIns="0" rtlCol="0" anchor="t"/>
          <a:lstStyle/>
          <a:p>
            <a:pPr indent="0" marL="0">
              <a:buNone/>
            </a:pPr>
            <a:r>
              <a:rPr lang="en-US" sz="4200" b="1" dirty="0">
                <a:solidFill>
                  <a:schemeClr val="accent2"/>
                </a:solidFill>
                <a:latin typeface="+mj-lt" pitchFamily="34" charset="0"/>
                <a:ea typeface="+mj-lt" pitchFamily="34" charset="-122"/>
                <a:cs typeface="+mj-lt" pitchFamily="34" charset="-120"/>
              </a:rPr>
              <a:t>≥ 60</a:t>
            </a:r>
            <a:endParaRPr lang="en-US" sz="4200" dirty="0"/>
          </a:p>
        </p:txBody>
      </p:sp>
      <p:sp>
        <p:nvSpPr>
          <p:cNvPr id="9" name="Text 7"/>
          <p:cNvSpPr txBox="1"/>
          <p:nvPr/>
        </p:nvSpPr>
        <p:spPr>
          <a:xfrm>
            <a:off x="914400"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Mucho margen de acogida</a:t>
            </a:r>
            <a:endParaRPr lang="en-US" sz="1600" dirty="0"/>
          </a:p>
        </p:txBody>
      </p:sp>
      <p:sp>
        <p:nvSpPr>
          <p:cNvPr id="10" name="Text 8"/>
          <p:cNvSpPr txBox="1"/>
          <p:nvPr/>
        </p:nvSpPr>
        <p:spPr>
          <a:xfrm>
            <a:off x="914400"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Absorbe población de inmediato sin comprometer colegios ni consultorios. Ej.: Robledo 66,7 y Buitrago 62,5.</a:t>
            </a:r>
            <a:endParaRPr lang="en-US" sz="1400" dirty="0"/>
          </a:p>
        </p:txBody>
      </p:sp>
      <p:sp>
        <p:nvSpPr>
          <p:cNvPr id="11" name="Nivel MEDIA"/>
          <p:cNvSpPr/>
          <p:nvPr/>
        </p:nvSpPr>
        <p:spPr>
          <a:xfrm>
            <a:off x="4357116" y="1965960"/>
            <a:ext cx="3474720" cy="2697480"/>
          </a:xfrm>
          <a:prstGeom prst="roundRect">
            <a:avLst>
              <a:gd name="adj" fmla="val 3390"/>
            </a:avLst>
          </a:prstGeom>
          <a:solidFill>
            <a:schemeClr val="bg2"/>
          </a:solidFill>
          <a:ln/>
        </p:spPr>
        <p:txBody>
          <a:bodyPr/>
          <a:p/>
        </p:txBody>
      </p:sp>
      <p:sp>
        <p:nvSpPr>
          <p:cNvPr id="12" name="Luz semáforo"/>
          <p:cNvSpPr/>
          <p:nvPr/>
        </p:nvSpPr>
        <p:spPr>
          <a:xfrm>
            <a:off x="4631436" y="2240280"/>
            <a:ext cx="237744" cy="237744"/>
          </a:xfrm>
          <a:prstGeom prst="ellipse">
            <a:avLst/>
          </a:prstGeom>
          <a:solidFill>
            <a:srgbClr val="C4820A"/>
          </a:solidFill>
          <a:ln/>
        </p:spPr>
        <p:txBody>
          <a:bodyPr/>
          <a:p/>
        </p:txBody>
      </p:sp>
      <p:sp>
        <p:nvSpPr>
          <p:cNvPr id="13" name="Text 11"/>
          <p:cNvSpPr txBox="1"/>
          <p:nvPr/>
        </p:nvSpPr>
        <p:spPr>
          <a:xfrm>
            <a:off x="4997196"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MEDIA</a:t>
            </a:r>
            <a:endParaRPr lang="en-US" sz="1300" dirty="0"/>
          </a:p>
        </p:txBody>
      </p:sp>
      <p:sp>
        <p:nvSpPr>
          <p:cNvPr id="14" name="Text 12"/>
          <p:cNvSpPr txBox="1"/>
          <p:nvPr/>
        </p:nvSpPr>
        <p:spPr>
          <a:xfrm>
            <a:off x="4631436" y="2606040"/>
            <a:ext cx="2926080" cy="731520"/>
          </a:xfrm>
          <a:prstGeom prst="rect">
            <a:avLst/>
          </a:prstGeom>
          <a:noFill/>
          <a:ln/>
        </p:spPr>
        <p:txBody>
          <a:bodyPr wrap="square" lIns="0" tIns="0" rIns="0" bIns="0" rtlCol="0" anchor="t"/>
          <a:lstStyle/>
          <a:p>
            <a:pPr indent="0" marL="0">
              <a:buNone/>
            </a:pPr>
            <a:r>
              <a:rPr lang="en-US" sz="4200" b="1" dirty="0">
                <a:solidFill>
                  <a:schemeClr val="accent3"/>
                </a:solidFill>
                <a:latin typeface="+mj-lt" pitchFamily="34" charset="0"/>
                <a:ea typeface="+mj-lt" pitchFamily="34" charset="-122"/>
                <a:cs typeface="+mj-lt" pitchFamily="34" charset="-120"/>
              </a:rPr>
              <a:t>40–59</a:t>
            </a:r>
            <a:endParaRPr lang="en-US" sz="4200" dirty="0"/>
          </a:p>
        </p:txBody>
      </p:sp>
      <p:sp>
        <p:nvSpPr>
          <p:cNvPr id="15" name="Text 13"/>
          <p:cNvSpPr txBox="1"/>
          <p:nvPr/>
        </p:nvSpPr>
        <p:spPr>
          <a:xfrm>
            <a:off x="4631436"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Margen justo, condicionado</a:t>
            </a:r>
            <a:endParaRPr lang="en-US" sz="1600" dirty="0"/>
          </a:p>
        </p:txBody>
      </p:sp>
      <p:sp>
        <p:nvSpPr>
          <p:cNvPr id="16" name="Text 14"/>
          <p:cNvSpPr txBox="1"/>
          <p:nvPr/>
        </p:nvSpPr>
        <p:spPr>
          <a:xfrm>
            <a:off x="4631436"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Admite nuevos vecinos si se acompaña de inversiones puntuales en refuerzo de servicios.</a:t>
            </a:r>
            <a:endParaRPr lang="en-US" sz="1400" dirty="0"/>
          </a:p>
        </p:txBody>
      </p:sp>
      <p:sp>
        <p:nvSpPr>
          <p:cNvPr id="17" name="Nivel BAJA"/>
          <p:cNvSpPr/>
          <p:nvPr/>
        </p:nvSpPr>
        <p:spPr>
          <a:xfrm>
            <a:off x="8074152" y="1965960"/>
            <a:ext cx="3474720" cy="2697480"/>
          </a:xfrm>
          <a:prstGeom prst="roundRect">
            <a:avLst>
              <a:gd name="adj" fmla="val 3390"/>
            </a:avLst>
          </a:prstGeom>
          <a:solidFill>
            <a:schemeClr val="bg2"/>
          </a:solidFill>
          <a:ln/>
        </p:spPr>
        <p:txBody>
          <a:bodyPr/>
          <a:p/>
        </p:txBody>
      </p:sp>
      <p:sp>
        <p:nvSpPr>
          <p:cNvPr id="18" name="Luz semáforo"/>
          <p:cNvSpPr/>
          <p:nvPr/>
        </p:nvSpPr>
        <p:spPr>
          <a:xfrm>
            <a:off x="8348472" y="2240280"/>
            <a:ext cx="237744" cy="237744"/>
          </a:xfrm>
          <a:prstGeom prst="ellipse">
            <a:avLst/>
          </a:prstGeom>
          <a:solidFill>
            <a:srgbClr val="C0263F"/>
          </a:solidFill>
          <a:ln/>
        </p:spPr>
        <p:txBody>
          <a:bodyPr/>
          <a:p/>
        </p:txBody>
      </p:sp>
      <p:sp>
        <p:nvSpPr>
          <p:cNvPr id="19" name="Text 17"/>
          <p:cNvSpPr txBox="1"/>
          <p:nvPr/>
        </p:nvSpPr>
        <p:spPr>
          <a:xfrm>
            <a:off x="8714232" y="2221992"/>
            <a:ext cx="2286000" cy="274320"/>
          </a:xfrm>
          <a:prstGeom prst="rect">
            <a:avLst/>
          </a:prstGeom>
          <a:noFill/>
          <a:ln/>
        </p:spPr>
        <p:txBody>
          <a:bodyPr wrap="square" lIns="0" tIns="0" rIns="0" bIns="0" rtlCol="0" anchor="ctr"/>
          <a:lstStyle/>
          <a:p>
            <a:pPr indent="0" marL="0">
              <a:buNone/>
            </a:pPr>
            <a:r>
              <a:rPr lang="en-US" sz="1300" b="1" spc="200" kern="0" dirty="0">
                <a:solidFill>
                  <a:schemeClr val="tx1"/>
                </a:solidFill>
              </a:rPr>
              <a:t>BAJA</a:t>
            </a:r>
            <a:endParaRPr lang="en-US" sz="1300" dirty="0"/>
          </a:p>
        </p:txBody>
      </p:sp>
      <p:sp>
        <p:nvSpPr>
          <p:cNvPr id="20" name="Text 18"/>
          <p:cNvSpPr txBox="1"/>
          <p:nvPr/>
        </p:nvSpPr>
        <p:spPr>
          <a:xfrm>
            <a:off x="8348472" y="2606040"/>
            <a:ext cx="2926080" cy="731520"/>
          </a:xfrm>
          <a:prstGeom prst="rect">
            <a:avLst/>
          </a:prstGeom>
          <a:noFill/>
          <a:ln/>
        </p:spPr>
        <p:txBody>
          <a:bodyPr wrap="square" lIns="0" tIns="0" rIns="0" bIns="0" rtlCol="0" anchor="t"/>
          <a:lstStyle/>
          <a:p>
            <a:pPr indent="0" marL="0">
              <a:buNone/>
            </a:pPr>
            <a:r>
              <a:rPr lang="en-US" sz="4200" b="1" dirty="0">
                <a:solidFill>
                  <a:schemeClr val="accent1"/>
                </a:solidFill>
                <a:latin typeface="+mj-lt" pitchFamily="34" charset="0"/>
                <a:ea typeface="+mj-lt" pitchFamily="34" charset="-122"/>
                <a:cs typeface="+mj-lt" pitchFamily="34" charset="-120"/>
              </a:rPr>
              <a:t>&lt; 40</a:t>
            </a:r>
            <a:endParaRPr lang="en-US" sz="4200" dirty="0"/>
          </a:p>
        </p:txBody>
      </p:sp>
      <p:sp>
        <p:nvSpPr>
          <p:cNvPr id="21" name="Text 19"/>
          <p:cNvSpPr txBox="1"/>
          <p:nvPr/>
        </p:nvSpPr>
        <p:spPr>
          <a:xfrm>
            <a:off x="8348472" y="3337560"/>
            <a:ext cx="2926080" cy="320040"/>
          </a:xfrm>
          <a:prstGeom prst="rect">
            <a:avLst/>
          </a:prstGeom>
          <a:noFill/>
          <a:ln/>
        </p:spPr>
        <p:txBody>
          <a:bodyPr wrap="square" lIns="0" tIns="0" rIns="0" bIns="0" rtlCol="0" anchor="t"/>
          <a:lstStyle/>
          <a:p>
            <a:pPr indent="0" marL="0">
              <a:buNone/>
            </a:pPr>
            <a:r>
              <a:rPr lang="en-US" sz="1600" b="1" dirty="0">
                <a:solidFill>
                  <a:schemeClr val="tx1"/>
                </a:solidFill>
              </a:rPr>
              <a:t>Sin margen: saturación</a:t>
            </a:r>
            <a:endParaRPr lang="en-US" sz="1600" dirty="0"/>
          </a:p>
        </p:txBody>
      </p:sp>
      <p:sp>
        <p:nvSpPr>
          <p:cNvPr id="22" name="Text 20"/>
          <p:cNvSpPr txBox="1"/>
          <p:nvPr/>
        </p:nvSpPr>
        <p:spPr>
          <a:xfrm>
            <a:off x="8348472" y="3703320"/>
            <a:ext cx="2926080" cy="868680"/>
          </a:xfrm>
          <a:prstGeom prst="rect">
            <a:avLst/>
          </a:prstGeom>
          <a:noFill/>
          <a:ln/>
        </p:spPr>
        <p:txBody>
          <a:bodyPr wrap="square" lIns="0" tIns="0" rIns="0" bIns="0" rtlCol="0" anchor="t"/>
          <a:lstStyle/>
          <a:p>
            <a:pPr indent="0" marL="0">
              <a:buNone/>
            </a:pPr>
            <a:r>
              <a:rPr lang="en-US" sz="1400" dirty="0">
                <a:solidFill>
                  <a:schemeClr val="tx2"/>
                </a:solidFill>
              </a:rPr>
              <a:t>Servicios esenciales en situación crítica: más vecinos provocan el colapso dotacional.</a:t>
            </a:r>
            <a:endParaRPr lang="en-US" sz="1400" dirty="0"/>
          </a:p>
        </p:txBody>
      </p:sp>
      <p:sp>
        <p:nvSpPr>
          <p:cNvPr id="23" name="Alerta S"/>
          <p:cNvSpPr/>
          <p:nvPr/>
        </p:nvSpPr>
        <p:spPr>
          <a:xfrm>
            <a:off x="640080" y="4846320"/>
            <a:ext cx="10908792" cy="1325880"/>
          </a:xfrm>
          <a:prstGeom prst="roundRect">
            <a:avLst>
              <a:gd name="adj" fmla="val 6897"/>
            </a:avLst>
          </a:prstGeom>
          <a:solidFill>
            <a:schemeClr val="tx1"/>
          </a:solidFill>
          <a:ln/>
        </p:spPr>
        <p:txBody>
          <a:bodyPr/>
          <a:p/>
        </p:txBody>
      </p:sp>
      <p:sp>
        <p:nvSpPr>
          <p:cNvPr id="24" name="Text 22"/>
          <p:cNvSpPr txBox="1"/>
          <p:nvPr/>
        </p:nvSpPr>
        <p:spPr>
          <a:xfrm>
            <a:off x="914400" y="4983480"/>
            <a:ext cx="64008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ALERTA S  ·  NO COMPENSATORIA</a:t>
            </a:r>
            <a:endParaRPr lang="en-US" sz="1200" dirty="0"/>
          </a:p>
        </p:txBody>
      </p:sp>
      <p:sp>
        <p:nvSpPr>
          <p:cNvPr id="25" name="Text 23"/>
          <p:cNvSpPr txBox="1"/>
          <p:nvPr/>
        </p:nvSpPr>
        <p:spPr>
          <a:xfrm>
            <a:off x="914400" y="5285232"/>
            <a:ext cx="6949440" cy="822960"/>
          </a:xfrm>
          <a:prstGeom prst="rect">
            <a:avLst/>
          </a:prstGeom>
          <a:noFill/>
          <a:ln/>
        </p:spPr>
        <p:txBody>
          <a:bodyPr wrap="square" lIns="0" tIns="0" rIns="0" bIns="0" rtlCol="0" anchor="t"/>
          <a:lstStyle/>
          <a:p>
            <a:pPr indent="0" marL="0">
              <a:buNone/>
            </a:pPr>
            <a:r>
              <a:rPr lang="en-US" sz="1400" dirty="0">
                <a:solidFill>
                  <a:schemeClr val="bg1"/>
                </a:solidFill>
              </a:rPr>
              <a:t>Se activa con más de 1.500 hab/médico o una ocupación escolar superior al 95%. El ICA total se trunca por debajo de 40 y el encaje máximo para cualquier ciudadano queda en 39, aunque la vivienda sea barata o sobren zonas verdes.</a:t>
            </a:r>
            <a:endParaRPr lang="en-US" sz="1400" dirty="0"/>
          </a:p>
        </p:txBody>
      </p:sp>
      <p:sp>
        <p:nvSpPr>
          <p:cNvPr id="26" name="Text 24"/>
          <p:cNvSpPr txBox="1"/>
          <p:nvPr/>
        </p:nvSpPr>
        <p:spPr>
          <a:xfrm>
            <a:off x="8229600" y="5029200"/>
            <a:ext cx="3108960" cy="1051560"/>
          </a:xfrm>
          <a:prstGeom prst="rect">
            <a:avLst/>
          </a:prstGeom>
          <a:noFill/>
          <a:ln/>
        </p:spPr>
        <p:txBody>
          <a:bodyPr wrap="square" lIns="0" tIns="0" rIns="0" bIns="0" rtlCol="0" anchor="t"/>
          <a:lstStyle/>
          <a:p>
            <a:pPr indent="0" marL="0">
              <a:buNone/>
            </a:pPr>
            <a:r>
              <a:rPr lang="en-US" sz="1800" b="1" dirty="0">
                <a:solidFill>
                  <a:schemeClr val="bg1"/>
                </a:solidFill>
                <a:latin typeface="+mj-lt" pitchFamily="34" charset="0"/>
                <a:ea typeface="+mj-lt" pitchFamily="34" charset="-122"/>
                <a:cs typeface="+mj-lt" pitchFamily="34" charset="-120"/>
              </a:rPr>
              <a:t>Cercedilla</a:t>
            </a:r>
            <a:endParaRPr lang="en-US" sz="1800" dirty="0"/>
          </a:p>
          <a:p>
            <a:pPr indent="0" marL="0">
              <a:buNone/>
            </a:pPr>
            <a:r>
              <a:rPr lang="en-US" sz="1400" dirty="0">
                <a:solidFill>
                  <a:schemeClr val="bg2"/>
                </a:solidFill>
              </a:rPr>
              <a:t>Puntuación teórica de 34,61, clasificada con alerta S: la red asistencial no admite más presión.</a:t>
            </a:r>
            <a:endParaRPr lang="en-US" sz="18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10</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9  ·  ROBUSTEZ METODOLÓGICA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r>
              <a:rPr sz="2100" b="1">
                <a:solidFill>
                  <a:srgbClr val="1E293B"/>
                </a:solidFill>
                <a:latin typeface="Segoe UI"/>
              </a:rPr>
              <a:t>Control de Overfitting: el modelo aprende, no memoriza</a:t>
            </a:r>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r>
              <a:rPr sz="1100">
                <a:solidFill>
                  <a:srgbClr val="64748B"/>
                </a:solidFill>
                <a:latin typeface="Segoe UI"/>
              </a:rPr>
              <a:t>Prevención activa de sobreajuste (overfitting), blindaje contra fugas L1-L7 y validación espacial</a:t>
            </a:r>
          </a:p>
        </p:txBody>
      </p:sp>
      <p:sp>
        <p:nvSpPr>
          <p:cNvPr id="5" name="Trampas"/>
          <p:cNvSpPr/>
          <p:nvPr/>
        </p:nvSpPr>
        <p:spPr>
          <a:xfrm>
            <a:off x="640080" y="1965960"/>
            <a:ext cx="5212080" cy="4206240"/>
          </a:xfrm>
          <a:prstGeom prst="roundRect">
            <a:avLst>
              <a:gd name="adj" fmla="val 2174"/>
            </a:avLst>
          </a:prstGeom>
          <a:solidFill>
            <a:schemeClr val="bg2"/>
          </a:solidFill>
          <a:ln/>
        </p:spPr>
        <p:txBody>
          <a:bodyPr/>
          <a:p/>
        </p:txBody>
      </p:sp>
      <p:sp>
        <p:nvSpPr>
          <p:cNvPr id="6" name="Text 4"/>
          <p:cNvSpPr txBox="1"/>
          <p:nvPr/>
        </p:nvSpPr>
        <p:spPr>
          <a:xfrm>
            <a:off x="91440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TRES FORMAS DE HACER TRAMPA</a:t>
            </a:r>
            <a:endParaRPr lang="en-US" sz="1200" dirty="0"/>
          </a:p>
        </p:txBody>
      </p:sp>
      <p:sp>
        <p:nvSpPr>
          <p:cNvPr id="7" name="Círculo icono"/>
          <p:cNvSpPr/>
          <p:nvPr/>
        </p:nvSpPr>
        <p:spPr>
          <a:xfrm>
            <a:off x="914400" y="2697480"/>
            <a:ext cx="457200" cy="457200"/>
          </a:xfrm>
          <a:prstGeom prst="ellipse">
            <a:avLst/>
          </a:prstGeom>
          <a:solidFill>
            <a:srgbClr val="C0263F"/>
          </a:solidFill>
          <a:ln/>
        </p:spPr>
        <p:txBody>
          <a:bodyPr/>
          <a:p/>
        </p:txBody>
      </p:sp>
      <p:pic>
        <p:nvPicPr>
          <p:cNvPr id="8" name="Image 0" descr="preencoded.png">    </p:cNvPr>
          <p:cNvPicPr>
            <a:picLocks noChangeAspect="1"/>
          </p:cNvPicPr>
          <p:nvPr/>
        </p:nvPicPr>
        <p:blipFill>
          <a:blip r:embed="rId1"/>
          <a:stretch>
            <a:fillRect/>
          </a:stretch>
        </p:blipFill>
        <p:spPr>
          <a:xfrm>
            <a:off x="1014984" y="2798064"/>
            <a:ext cx="256032" cy="256032"/>
          </a:xfrm>
          <a:prstGeom prst="rect">
            <a:avLst/>
          </a:prstGeom>
        </p:spPr>
      </p:pic>
      <p:sp>
        <p:nvSpPr>
          <p:cNvPr id="9" name="Text 6"/>
          <p:cNvSpPr txBox="1"/>
          <p:nvPr/>
        </p:nvSpPr>
        <p:spPr>
          <a:xfrm>
            <a:off x="1554480" y="2651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Mirar al futuro</a:t>
            </a:r>
            <a:endParaRPr lang="en-US" sz="1600" dirty="0"/>
          </a:p>
          <a:p>
            <a:pPr indent="0" marL="0">
              <a:buNone/>
            </a:pPr>
            <a:r>
              <a:rPr lang="en-US" sz="1400" dirty="0">
                <a:solidFill>
                  <a:schemeClr val="tx2"/>
                </a:solidFill>
              </a:rPr>
              <a:t>Usar la población proyectada a 2031 para predecir 2025 infla las métricas y deja el modelo inservible en producción.</a:t>
            </a:r>
            <a:endParaRPr lang="en-US" sz="1600" dirty="0"/>
          </a:p>
        </p:txBody>
      </p:sp>
      <p:sp>
        <p:nvSpPr>
          <p:cNvPr id="10" name="Círculo icono"/>
          <p:cNvSpPr/>
          <p:nvPr/>
        </p:nvSpPr>
        <p:spPr>
          <a:xfrm>
            <a:off x="914400" y="3840480"/>
            <a:ext cx="457200" cy="457200"/>
          </a:xfrm>
          <a:prstGeom prst="ellipse">
            <a:avLst/>
          </a:prstGeom>
          <a:solidFill>
            <a:srgbClr val="C0263F"/>
          </a:solidFill>
          <a:ln/>
        </p:spPr>
        <p:txBody>
          <a:bodyPr/>
          <a:p/>
        </p:txBody>
      </p:sp>
      <p:pic>
        <p:nvPicPr>
          <p:cNvPr id="11" name="Image 1" descr="preencoded.png">    </p:cNvPr>
          <p:cNvPicPr>
            <a:picLocks noChangeAspect="1"/>
          </p:cNvPicPr>
          <p:nvPr/>
        </p:nvPicPr>
        <p:blipFill>
          <a:blip r:embed="rId2"/>
          <a:stretch>
            <a:fillRect/>
          </a:stretch>
        </p:blipFill>
        <p:spPr>
          <a:xfrm>
            <a:off x="1014984" y="3941064"/>
            <a:ext cx="256032" cy="256032"/>
          </a:xfrm>
          <a:prstGeom prst="rect">
            <a:avLst/>
          </a:prstGeom>
        </p:spPr>
      </p:pic>
      <p:sp>
        <p:nvSpPr>
          <p:cNvPr id="12" name="Text 8"/>
          <p:cNvSpPr txBox="1"/>
          <p:nvPr/>
        </p:nvSpPr>
        <p:spPr>
          <a:xfrm>
            <a:off x="1554480" y="3794760"/>
            <a:ext cx="4114800" cy="1051560"/>
          </a:xfrm>
          <a:prstGeom prst="rect">
            <a:avLst/>
          </a:prstGeom>
          <a:noFill/>
          <a:ln/>
        </p:spPr>
        <p:txBody>
          <a:bodyPr wrap="square" lIns="0" tIns="0" rIns="0" bIns="0" rtlCol="0" anchor="t"/>
          <a:lstStyle/>
          <a:p>
            <a:pPr indent="0" marL="0">
              <a:buNone/>
            </a:pPr>
            <a:r>
              <a:rPr lang="en-US" sz="1600" b="1" dirty="0">
                <a:solidFill>
                  <a:schemeClr val="tx1"/>
                </a:solidFill>
              </a:rPr>
              <a:t>Mezclar vecinos</a:t>
            </a:r>
            <a:endParaRPr lang="en-US" sz="1600" dirty="0"/>
          </a:p>
          <a:p>
            <a:pPr indent="0" marL="0">
              <a:buNone/>
            </a:pPr>
            <a:r>
              <a:rPr lang="en-US" sz="1400" dirty="0">
                <a:solidFill>
                  <a:schemeClr val="tx2"/>
                </a:solidFill>
              </a:rPr>
              <a:t>Repartir al azar municipios contiguos entre entrenamiento y prueba filtra información.</a:t>
            </a:r>
            <a:endParaRPr lang="en-US" sz="1600" dirty="0"/>
          </a:p>
        </p:txBody>
      </p:sp>
      <p:sp>
        <p:nvSpPr>
          <p:cNvPr id="13" name="Círculo icono"/>
          <p:cNvSpPr/>
          <p:nvPr/>
        </p:nvSpPr>
        <p:spPr>
          <a:xfrm>
            <a:off x="914400" y="4892040"/>
            <a:ext cx="457200" cy="457200"/>
          </a:xfrm>
          <a:prstGeom prst="ellipse">
            <a:avLst/>
          </a:prstGeom>
          <a:solidFill>
            <a:srgbClr val="C0263F"/>
          </a:solidFill>
          <a:ln/>
        </p:spPr>
        <p:txBody>
          <a:bodyPr/>
          <a:p/>
        </p:txBody>
      </p:sp>
      <p:pic>
        <p:nvPicPr>
          <p:cNvPr id="14" name="Image 2" descr="preencoded.png">    </p:cNvPr>
          <p:cNvPicPr>
            <a:picLocks noChangeAspect="1"/>
          </p:cNvPicPr>
          <p:nvPr/>
        </p:nvPicPr>
        <p:blipFill>
          <a:blip r:embed="rId3"/>
          <a:stretch>
            <a:fillRect/>
          </a:stretch>
        </p:blipFill>
        <p:spPr>
          <a:xfrm>
            <a:off x="1014984" y="4992624"/>
            <a:ext cx="256032" cy="256032"/>
          </a:xfrm>
          <a:prstGeom prst="rect">
            <a:avLst/>
          </a:prstGeom>
        </p:spPr>
      </p:pic>
      <p:sp>
        <p:nvSpPr>
          <p:cNvPr id="15" name="Text 10"/>
          <p:cNvSpPr txBox="1"/>
          <p:nvPr/>
        </p:nvSpPr>
        <p:spPr>
          <a:xfrm>
            <a:off x="1554480" y="4846320"/>
            <a:ext cx="4114800" cy="1051560"/>
          </a:xfrm>
          <a:prstGeom prst="rect">
            <a:avLst/>
          </a:prstGeom>
          <a:noFill/>
          <a:ln/>
        </p:spPr>
        <p:txBody>
          <a:bodyPr wrap="square" lIns="0" tIns="0" rIns="0" bIns="0" rtlCol="0" anchor="t"/>
          <a:lstStyle/>
          <a:p>
            <a:pPr>
              <a:defRPr sz="1100" b="1">
                <a:solidFill>
                  <a:srgbClr val="B91C1C"/>
                </a:solidFill>
                <a:latin typeface="Segoe UI"/>
              </a:defRPr>
            </a:pPr>
            <a:r>
              <a:t>Overfitting / Memorizar</a:t>
            </a:r>
          </a:p>
          <a:p>
            <a:pPr>
              <a:defRPr sz="950">
                <a:solidFill>
                  <a:srgbClr val="475569"/>
                </a:solidFill>
                <a:latin typeface="Segoe UI"/>
              </a:defRPr>
            </a:pPr>
            <a:r>
              <a:t>Con N = 20 evitamos redes neuronales complejas que sobreajustarían. Modelos regularizados (Ridge, árboles podados) y exportación ONNX.</a:t>
            </a:r>
          </a:p>
        </p:txBody>
      </p:sp>
      <p:sp>
        <p:nvSpPr>
          <p:cNvPr id="16" name="Controles"/>
          <p:cNvSpPr/>
          <p:nvPr/>
        </p:nvSpPr>
        <p:spPr>
          <a:xfrm>
            <a:off x="6080760" y="1965960"/>
            <a:ext cx="5468112" cy="4206240"/>
          </a:xfrm>
          <a:prstGeom prst="roundRect">
            <a:avLst>
              <a:gd name="adj" fmla="val 2174"/>
            </a:avLst>
          </a:prstGeom>
          <a:solidFill>
            <a:schemeClr val="tx1"/>
          </a:solidFill>
          <a:ln/>
        </p:spPr>
        <p:txBody>
          <a:bodyPr/>
          <a:p/>
        </p:txBody>
      </p:sp>
      <p:sp>
        <p:nvSpPr>
          <p:cNvPr id="17" name="Text 12"/>
          <p:cNvSpPr txBox="1"/>
          <p:nvPr/>
        </p:nvSpPr>
        <p:spPr>
          <a:xfrm>
            <a:off x="6355080" y="2194560"/>
            <a:ext cx="4572000" cy="256032"/>
          </a:xfrm>
          <a:prstGeom prst="rect">
            <a:avLst/>
          </a:prstGeom>
          <a:noFill/>
          <a:ln/>
        </p:spPr>
        <p:txBody>
          <a:bodyPr wrap="square" lIns="0" tIns="0" rIns="0" bIns="0" rtlCol="0" anchor="t"/>
          <a:lstStyle/>
          <a:p>
            <a:pPr indent="0" marL="0">
              <a:buNone/>
            </a:pPr>
            <a:r>
              <a:rPr lang="en-US" sz="1200" b="1" spc="200" kern="0" dirty="0">
                <a:solidFill>
                  <a:schemeClr val="accent6"/>
                </a:solidFill>
              </a:rPr>
              <a:t>CÓMO LO COMPROBAMOS</a:t>
            </a:r>
            <a:endParaRPr lang="en-US" sz="1200" dirty="0"/>
          </a:p>
        </p:txBody>
      </p:sp>
      <p:sp>
        <p:nvSpPr>
          <p:cNvPr id="18" name="Círculo icono"/>
          <p:cNvSpPr/>
          <p:nvPr/>
        </p:nvSpPr>
        <p:spPr>
          <a:xfrm>
            <a:off x="6355080" y="2697480"/>
            <a:ext cx="384048" cy="384048"/>
          </a:xfrm>
          <a:prstGeom prst="ellipse">
            <a:avLst/>
          </a:prstGeom>
          <a:solidFill>
            <a:srgbClr val="2E7D5B"/>
          </a:solidFill>
          <a:ln/>
        </p:spPr>
        <p:txBody>
          <a:bodyPr/>
          <a:p/>
        </p:txBody>
      </p:sp>
      <p:pic>
        <p:nvPicPr>
          <p:cNvPr id="19" name="Image 3" descr="preencoded.png">    </p:cNvPr>
          <p:cNvPicPr>
            <a:picLocks noChangeAspect="1"/>
          </p:cNvPicPr>
          <p:nvPr/>
        </p:nvPicPr>
        <p:blipFill>
          <a:blip r:embed="rId4"/>
          <a:stretch>
            <a:fillRect/>
          </a:stretch>
        </p:blipFill>
        <p:spPr>
          <a:xfrm>
            <a:off x="6439571" y="2781971"/>
            <a:ext cx="215067" cy="215067"/>
          </a:xfrm>
          <a:prstGeom prst="rect">
            <a:avLst/>
          </a:prstGeom>
        </p:spPr>
      </p:pic>
      <p:sp>
        <p:nvSpPr>
          <p:cNvPr id="20" name="Text 14"/>
          <p:cNvSpPr txBox="1"/>
          <p:nvPr/>
        </p:nvSpPr>
        <p:spPr>
          <a:xfrm>
            <a:off x="6903720" y="2651760"/>
            <a:ext cx="4389120" cy="822960"/>
          </a:xfrm>
          <a:prstGeom prst="rect">
            <a:avLst/>
          </a:prstGeom>
          <a:noFill/>
          <a:ln/>
        </p:spPr>
        <p:txBody>
          <a:bodyPr wrap="square" lIns="0" tIns="0" rIns="0" bIns="0" rtlCol="0" anchor="t"/>
          <a:lstStyle/>
          <a:p>
            <a:pPr>
              <a:defRPr sz="1100" b="1">
                <a:solidFill>
                  <a:srgbClr val="FFFFFF"/>
                </a:solidFill>
                <a:latin typeface="Segoe UI"/>
              </a:defRPr>
            </a:pPr>
            <a:r>
              <a:t>Comparativa adversarial</a:t>
            </a:r>
          </a:p>
          <a:p>
            <a:pPr>
              <a:spcBef>
                <a:spcPts val="200"/>
              </a:spcBef>
              <a:defRPr sz="950">
                <a:solidFill>
                  <a:srgbClr val="CBD5E1"/>
                </a:solidFill>
                <a:latin typeface="Segoe UI"/>
              </a:defRPr>
            </a:pPr>
            <a:r>
              <a:t>Versiones con y sin fuga deliberada para confirmar que el R² honesto generaliza sin sobreajuste ni trampas.</a:t>
            </a:r>
          </a:p>
        </p:txBody>
      </p:sp>
      <p:sp>
        <p:nvSpPr>
          <p:cNvPr id="21" name="Círculo icono"/>
          <p:cNvSpPr/>
          <p:nvPr/>
        </p:nvSpPr>
        <p:spPr>
          <a:xfrm>
            <a:off x="6355080" y="3575304"/>
            <a:ext cx="384048" cy="384048"/>
          </a:xfrm>
          <a:prstGeom prst="ellipse">
            <a:avLst/>
          </a:prstGeom>
          <a:solidFill>
            <a:srgbClr val="2E7D5B"/>
          </a:solidFill>
          <a:ln/>
        </p:spPr>
        <p:txBody>
          <a:bodyPr/>
          <a:p/>
        </p:txBody>
      </p:sp>
      <p:pic>
        <p:nvPicPr>
          <p:cNvPr id="22" name="Image 4" descr="preencoded.png">    </p:cNvPr>
          <p:cNvPicPr>
            <a:picLocks noChangeAspect="1"/>
          </p:cNvPicPr>
          <p:nvPr/>
        </p:nvPicPr>
        <p:blipFill>
          <a:blip r:embed="rId5"/>
          <a:stretch>
            <a:fillRect/>
          </a:stretch>
        </p:blipFill>
        <p:spPr>
          <a:xfrm>
            <a:off x="6439571" y="3659795"/>
            <a:ext cx="215067" cy="215067"/>
          </a:xfrm>
          <a:prstGeom prst="rect">
            <a:avLst/>
          </a:prstGeom>
        </p:spPr>
      </p:pic>
      <p:sp>
        <p:nvSpPr>
          <p:cNvPr id="23" name="Text 16"/>
          <p:cNvSpPr txBox="1"/>
          <p:nvPr/>
        </p:nvSpPr>
        <p:spPr>
          <a:xfrm>
            <a:off x="6903720" y="3529584"/>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Validación espacial GroupKFold</a:t>
            </a:r>
            <a:endParaRPr lang="en-US" sz="1600" dirty="0"/>
          </a:p>
          <a:p>
            <a:pPr>
              <a:spcBef>
                <a:spcPts val="200"/>
              </a:spcBef>
              <a:defRPr sz="950">
                <a:solidFill>
                  <a:srgbClr val="CBD5E1"/>
                </a:solidFill>
                <a:latin typeface="Segoe UI"/>
              </a:defRPr>
            </a:pPr>
            <a:r>
              <a:t>Los municipios de una misma comarca van juntos a entrenamiento o a prueba sin filtrar información.</a:t>
            </a:r>
          </a:p>
        </p:txBody>
      </p:sp>
      <p:sp>
        <p:nvSpPr>
          <p:cNvPr id="24" name="Círculo icono"/>
          <p:cNvSpPr/>
          <p:nvPr/>
        </p:nvSpPr>
        <p:spPr>
          <a:xfrm>
            <a:off x="6355080" y="4453128"/>
            <a:ext cx="384048" cy="384048"/>
          </a:xfrm>
          <a:prstGeom prst="ellipse">
            <a:avLst/>
          </a:prstGeom>
          <a:solidFill>
            <a:srgbClr val="2E7D5B"/>
          </a:solidFill>
          <a:ln/>
        </p:spPr>
        <p:txBody>
          <a:bodyPr/>
          <a:p/>
        </p:txBody>
      </p:sp>
      <p:pic>
        <p:nvPicPr>
          <p:cNvPr id="25" name="Image 5" descr="preencoded.png">    </p:cNvPr>
          <p:cNvPicPr>
            <a:picLocks noChangeAspect="1"/>
          </p:cNvPicPr>
          <p:nvPr/>
        </p:nvPicPr>
        <p:blipFill>
          <a:blip r:embed="rId6"/>
          <a:stretch>
            <a:fillRect/>
          </a:stretch>
        </p:blipFill>
        <p:spPr>
          <a:xfrm>
            <a:off x="6439571" y="4537619"/>
            <a:ext cx="215067" cy="215067"/>
          </a:xfrm>
          <a:prstGeom prst="rect">
            <a:avLst/>
          </a:prstGeom>
        </p:spPr>
      </p:pic>
      <p:sp>
        <p:nvSpPr>
          <p:cNvPr id="26" name="Text 18"/>
          <p:cNvSpPr txBox="1"/>
          <p:nvPr/>
        </p:nvSpPr>
        <p:spPr>
          <a:xfrm>
            <a:off x="6903720" y="4407408"/>
            <a:ext cx="4389120" cy="822960"/>
          </a:xfrm>
          <a:prstGeom prst="rect">
            <a:avLst/>
          </a:prstGeom>
          <a:noFill/>
          <a:ln/>
        </p:spPr>
        <p:txBody>
          <a:bodyPr wrap="square" lIns="0" tIns="0" rIns="0" bIns="0" rtlCol="0" anchor="t"/>
          <a:lstStyle/>
          <a:p>
            <a:pPr indent="0" marL="0">
              <a:buNone/>
              <a:defRPr sz="1100" b="1">
                <a:solidFill>
                  <a:srgbClr val="FFFFFF"/>
                </a:solidFill>
                <a:latin typeface="Segoe UI"/>
              </a:defRPr>
            </a:pPr>
            <a:r>
              <a:t>Control point-in-time</a:t>
            </a:r>
            <a:endParaRPr lang="en-US" sz="1600" dirty="0"/>
          </a:p>
          <a:p>
            <a:pPr>
              <a:spcBef>
                <a:spcPts val="200"/>
              </a:spcBef>
              <a:defRPr sz="950">
                <a:solidFill>
                  <a:srgbClr val="CBD5E1"/>
                </a:solidFill>
                <a:latin typeface="Segoe UI"/>
              </a:defRPr>
            </a:pPr>
            <a:r>
              <a:t>Ningún dato de entrada es posterior a la fecha de decisión del MVP para evitar mirar al futuro.</a:t>
            </a:r>
          </a:p>
        </p:txBody>
      </p:sp>
      <p:sp>
        <p:nvSpPr>
          <p:cNvPr id="27" name="Círculo icono"/>
          <p:cNvSpPr/>
          <p:nvPr/>
        </p:nvSpPr>
        <p:spPr>
          <a:xfrm>
            <a:off x="6355080" y="5330952"/>
            <a:ext cx="384048" cy="384048"/>
          </a:xfrm>
          <a:prstGeom prst="ellipse">
            <a:avLst/>
          </a:prstGeom>
          <a:solidFill>
            <a:srgbClr val="2E7D5B"/>
          </a:solidFill>
          <a:ln/>
        </p:spPr>
        <p:txBody>
          <a:bodyPr/>
          <a:p/>
        </p:txBody>
      </p:sp>
      <p:pic>
        <p:nvPicPr>
          <p:cNvPr id="28" name="Image 6" descr="preencoded.png">    </p:cNvPr>
          <p:cNvPicPr>
            <a:picLocks noChangeAspect="1"/>
          </p:cNvPicPr>
          <p:nvPr/>
        </p:nvPicPr>
        <p:blipFill>
          <a:blip r:embed="rId7"/>
          <a:stretch>
            <a:fillRect/>
          </a:stretch>
        </p:blipFill>
        <p:spPr>
          <a:xfrm>
            <a:off x="6439571" y="5415443"/>
            <a:ext cx="215067" cy="215067"/>
          </a:xfrm>
          <a:prstGeom prst="rect">
            <a:avLst/>
          </a:prstGeom>
        </p:spPr>
      </p:pic>
      <p:sp>
        <p:nvSpPr>
          <p:cNvPr id="29" name="Text 20"/>
          <p:cNvSpPr txBox="1"/>
          <p:nvPr/>
        </p:nvSpPr>
        <p:spPr>
          <a:xfrm>
            <a:off x="6903720" y="5285232"/>
            <a:ext cx="4389120" cy="822960"/>
          </a:xfrm>
          <a:prstGeom prst="rect">
            <a:avLst/>
          </a:prstGeom>
          <a:noFill/>
          <a:ln/>
        </p:spPr>
        <p:txBody>
          <a:bodyPr wrap="square" lIns="0" tIns="0" rIns="0" bIns="0" rtlCol="0" anchor="t"/>
          <a:lstStyle/>
          <a:p>
            <a:pPr>
              <a:defRPr sz="1100" b="1">
                <a:solidFill>
                  <a:srgbClr val="FFFFFF"/>
                </a:solidFill>
                <a:latin typeface="Segoe UI"/>
              </a:defRPr>
            </a:pPr>
            <a:r>
              <a:t>73 tests continuos en verde</a:t>
            </a:r>
          </a:p>
          <a:p>
            <a:pPr>
              <a:spcBef>
                <a:spcPts val="200"/>
              </a:spcBef>
              <a:defRPr sz="950">
                <a:solidFill>
                  <a:srgbClr val="CBD5E1"/>
                </a:solidFill>
                <a:latin typeface="Segoe UI"/>
              </a:defRPr>
            </a:pPr>
            <a:r>
              <a:t>Auditan las 7 fugas de overfitting (L1 a L7) con pytest para garantizar rigor metodológico.</a:t>
            </a:r>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11</a:t>
            </a: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1"/>
                </a:solidFill>
              </a:rPr>
              <a:t>10  ·  HERRAMIENTAS PARA LA GESTIÓN</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Simulador what-if y optimizador presupuestario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Instrumentos para decidir y repartir presupuesto</a:t>
            </a:r>
            <a:endParaRPr lang="en-US" sz="1600" dirty="0"/>
          </a:p>
        </p:txBody>
      </p:sp>
      <p:sp>
        <p:nvSpPr>
          <p:cNvPr id="5" name="Simulador"/>
          <p:cNvSpPr/>
          <p:nvPr/>
        </p:nvSpPr>
        <p:spPr>
          <a:xfrm>
            <a:off x="640080" y="1965960"/>
            <a:ext cx="4480560" cy="4206240"/>
          </a:xfrm>
          <a:prstGeom prst="roundRect">
            <a:avLst>
              <a:gd name="adj" fmla="val 2174"/>
            </a:avLst>
          </a:prstGeom>
          <a:solidFill>
            <a:schemeClr val="bg2"/>
          </a:solidFill>
          <a:ln/>
        </p:spPr>
        <p:txBody>
          <a:bodyPr/>
          <a:p/>
        </p:txBody>
      </p:sp>
      <p:sp>
        <p:nvSpPr>
          <p:cNvPr id="6" name="Text 4"/>
          <p:cNvSpPr txBox="1"/>
          <p:nvPr/>
        </p:nvSpPr>
        <p:spPr>
          <a:xfrm>
            <a:off x="914400" y="2194560"/>
            <a:ext cx="402336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1  ·  SIMULADOR WHAT-IF</a:t>
            </a:r>
            <a:endParaRPr lang="en-US" sz="1200" dirty="0"/>
          </a:p>
        </p:txBody>
      </p:sp>
      <p:sp>
        <p:nvSpPr>
          <p:cNvPr id="7" name="Text 5"/>
          <p:cNvSpPr txBox="1"/>
          <p:nvPr/>
        </p:nvSpPr>
        <p:spPr>
          <a:xfrm>
            <a:off x="914400" y="2560320"/>
            <a:ext cx="3931920" cy="100584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«¿Si entran 2.000 personas en este pueblo, qué pasa?»</a:t>
            </a:r>
            <a:endParaRPr lang="en-US" sz="2000" dirty="0"/>
          </a:p>
        </p:txBody>
      </p:sp>
      <p:sp>
        <p:nvSpPr>
          <p:cNvPr id="8" name="Text 6"/>
          <p:cNvSpPr txBox="1"/>
          <p:nvPr/>
        </p:nvSpPr>
        <p:spPr>
          <a:xfrm>
            <a:off x="914400" y="3520440"/>
            <a:ext cx="3931920" cy="2514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Recalcula al instante todos los indicadores de presión dotacional.</a:t>
            </a:r>
            <a:endParaRPr lang="en-US" sz="1500" dirty="0"/>
          </a:p>
          <a:p>
            <a:pPr marL="342900" indent="-342900">
              <a:spcAft>
                <a:spcPts val="800"/>
              </a:spcAft>
              <a:buSzPct val="100000"/>
              <a:buChar char="•"/>
            </a:pPr>
            <a:r>
              <a:rPr lang="en-US" sz="1500" dirty="0">
                <a:solidFill>
                  <a:schemeClr val="tx2"/>
                </a:solidFill>
              </a:rPr>
              <a:t>Indica qué servicio entra antes en crisis, cuántas plazas o médicos faltan y cuánto cuesta reforzarlo.</a:t>
            </a:r>
            <a:endParaRPr lang="en-US" sz="1500" dirty="0"/>
          </a:p>
          <a:p>
            <a:pPr marL="342900" indent="-342900">
              <a:buSzPct val="100000"/>
              <a:buChar char="•"/>
            </a:pPr>
            <a:r>
              <a:rPr lang="en-US" sz="1500" dirty="0">
                <a:solidFill>
                  <a:schemeClr val="tx2"/>
                </a:solidFill>
              </a:rPr>
              <a:t>Permite evaluar planes urbanísticos antes de aprobar licencias residenciales.</a:t>
            </a:r>
            <a:endParaRPr lang="en-US" sz="1500" dirty="0"/>
          </a:p>
        </p:txBody>
      </p:sp>
      <p:sp>
        <p:nvSpPr>
          <p:cNvPr id="9" name="Text 7"/>
          <p:cNvSpPr txBox="1"/>
          <p:nvPr/>
        </p:nvSpPr>
        <p:spPr>
          <a:xfrm>
            <a:off x="5440680" y="2011680"/>
            <a:ext cx="6035040" cy="256032"/>
          </a:xfrm>
          <a:prstGeom prst="rect">
            <a:avLst/>
          </a:prstGeom>
          <a:noFill/>
          <a:ln/>
        </p:spPr>
        <p:txBody>
          <a:bodyPr wrap="square" lIns="0" tIns="0" rIns="0" bIns="0" rtlCol="0" anchor="t"/>
          <a:lstStyle/>
          <a:p>
            <a:pPr indent="0" marL="0">
              <a:buNone/>
            </a:pPr>
            <a:r>
              <a:rPr lang="en-US" sz="1200" b="1" spc="200" kern="0" dirty="0">
                <a:solidFill>
                  <a:schemeClr val="accent1"/>
                </a:solidFill>
              </a:rPr>
              <a:t>PANTALLA 2  ·  OPTIMIZADOR M5 (SIMPLEX)</a:t>
            </a:r>
            <a:endParaRPr lang="en-US" sz="1200" dirty="0"/>
          </a:p>
        </p:txBody>
      </p:sp>
      <p:sp>
        <p:nvSpPr>
          <p:cNvPr id="10" name="Text 8"/>
          <p:cNvSpPr txBox="1"/>
          <p:nvPr/>
        </p:nvSpPr>
        <p:spPr>
          <a:xfrm>
            <a:off x="5440680" y="2331720"/>
            <a:ext cx="6108192" cy="685800"/>
          </a:xfrm>
          <a:prstGeom prst="rect">
            <a:avLst/>
          </a:prstGeom>
          <a:noFill/>
          <a:ln/>
        </p:spPr>
        <p:txBody>
          <a:bodyPr wrap="square" lIns="0" tIns="0" rIns="0" bIns="0" rtlCol="0" anchor="t"/>
          <a:lstStyle/>
          <a:p>
            <a:pPr indent="0" marL="0">
              <a:buNone/>
            </a:pPr>
            <a:r>
              <a:rPr lang="en-US" sz="2000" b="1" i="1" dirty="0">
                <a:solidFill>
                  <a:schemeClr val="tx1"/>
                </a:solidFill>
                <a:latin typeface="+mj-lt" pitchFamily="34" charset="0"/>
                <a:ea typeface="+mj-lt" pitchFamily="34" charset="-122"/>
                <a:cs typeface="+mj-lt" pitchFamily="34" charset="-120"/>
              </a:rPr>
              <a:t>«Tengo 2.000.000 €, ¿dónde los reparto en esta comarca?»</a:t>
            </a:r>
            <a:endParaRPr lang="en-US" sz="2000" dirty="0"/>
          </a:p>
        </p:txBody>
      </p:sp>
      <p:graphicFrame>
        <p:nvGraphicFramePr>
          <p:cNvPr id="11" name="Chart 0" descr=""/>
          <p:cNvGraphicFramePr/>
          <p:nvPr/>
        </p:nvGraphicFramePr>
        <p:xfrm>
          <a:off x="5349240" y="3017520"/>
          <a:ext cx="6217920" cy="16916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5440680" y="4754880"/>
            <a:ext cx="6108192" cy="274320"/>
          </a:xfrm>
          <a:prstGeom prst="rect">
            <a:avLst/>
          </a:prstGeom>
          <a:noFill/>
          <a:ln/>
        </p:spPr>
        <p:txBody>
          <a:bodyPr wrap="square" lIns="0" tIns="0" rIns="0" bIns="0" rtlCol="0" anchor="t"/>
          <a:lstStyle/>
          <a:p>
            <a:pPr indent="0" marL="0">
              <a:buNone/>
            </a:pPr>
            <a:r>
              <a:rPr lang="en-US" sz="1200" dirty="0">
                <a:solidFill>
                  <a:schemeClr val="tx2"/>
                </a:solidFill>
              </a:rPr>
              <a:t>Navalcarnero queda en 0 €: su restricción es la vivienda, no las dotaciones.</a:t>
            </a:r>
            <a:endParaRPr lang="en-US" sz="1200" dirty="0"/>
          </a:p>
        </p:txBody>
      </p:sp>
      <p:sp>
        <p:nvSpPr>
          <p:cNvPr id="13" name="Balance"/>
          <p:cNvSpPr/>
          <p:nvPr/>
        </p:nvSpPr>
        <p:spPr>
          <a:xfrm>
            <a:off x="5440680" y="5120640"/>
            <a:ext cx="2194560" cy="1051560"/>
          </a:xfrm>
          <a:prstGeom prst="roundRect">
            <a:avLst>
              <a:gd name="adj" fmla="val 8696"/>
            </a:avLst>
          </a:prstGeom>
          <a:solidFill>
            <a:schemeClr val="tx1"/>
          </a:solidFill>
          <a:ln/>
        </p:spPr>
        <p:txBody>
          <a:bodyPr/>
          <a:p/>
        </p:txBody>
      </p:sp>
      <p:sp>
        <p:nvSpPr>
          <p:cNvPr id="14" name="Text 11"/>
          <p:cNvSpPr txBox="1"/>
          <p:nvPr/>
        </p:nvSpPr>
        <p:spPr>
          <a:xfrm>
            <a:off x="5623560" y="5212080"/>
            <a:ext cx="1920240" cy="457200"/>
          </a:xfrm>
          <a:prstGeom prst="rect">
            <a:avLst/>
          </a:prstGeom>
          <a:noFill/>
          <a:ln/>
        </p:spPr>
        <p:txBody>
          <a:bodyPr wrap="square" lIns="0" tIns="0" rIns="0" bIns="0" rtlCol="0" anchor="t"/>
          <a:lstStyle/>
          <a:p>
            <a:pPr indent="0" marL="0">
              <a:buNone/>
            </a:pPr>
            <a:r>
              <a:rPr lang="en-US" sz="2400" b="1" dirty="0">
                <a:solidFill>
                  <a:schemeClr val="accent6"/>
                </a:solidFill>
                <a:latin typeface="+mj-lt" pitchFamily="34" charset="0"/>
                <a:ea typeface="+mj-lt" pitchFamily="34" charset="-122"/>
                <a:cs typeface="+mj-lt" pitchFamily="34" charset="-120"/>
              </a:rPr>
              <a:t>1.650.000 €</a:t>
            </a:r>
            <a:endParaRPr lang="en-US" sz="2400" dirty="0"/>
          </a:p>
        </p:txBody>
      </p:sp>
      <p:sp>
        <p:nvSpPr>
          <p:cNvPr id="15" name="Text 12"/>
          <p:cNvSpPr txBox="1"/>
          <p:nvPr/>
        </p:nvSpPr>
        <p:spPr>
          <a:xfrm>
            <a:off x="5623560" y="5760720"/>
            <a:ext cx="1920240" cy="274320"/>
          </a:xfrm>
          <a:prstGeom prst="rect">
            <a:avLst/>
          </a:prstGeom>
          <a:noFill/>
          <a:ln/>
        </p:spPr>
        <p:txBody>
          <a:bodyPr wrap="square" lIns="0" tIns="0" rIns="0" bIns="0" rtlCol="0" anchor="t"/>
          <a:lstStyle/>
          <a:p>
            <a:pPr indent="0" marL="0">
              <a:buNone/>
            </a:pPr>
            <a:r>
              <a:rPr lang="en-US" sz="1400" dirty="0">
                <a:solidFill>
                  <a:schemeClr val="bg1"/>
                </a:solidFill>
              </a:rPr>
              <a:t>invertidos</a:t>
            </a:r>
            <a:endParaRPr lang="en-US" sz="1400" dirty="0"/>
          </a:p>
        </p:txBody>
      </p:sp>
      <p:sp>
        <p:nvSpPr>
          <p:cNvPr id="16" name="Balance"/>
          <p:cNvSpPr/>
          <p:nvPr/>
        </p:nvSpPr>
        <p:spPr>
          <a:xfrm>
            <a:off x="7808976" y="5120640"/>
            <a:ext cx="1783080" cy="1051560"/>
          </a:xfrm>
          <a:prstGeom prst="roundRect">
            <a:avLst>
              <a:gd name="adj" fmla="val 8696"/>
            </a:avLst>
          </a:prstGeom>
          <a:solidFill>
            <a:schemeClr val="bg2"/>
          </a:solidFill>
          <a:ln/>
        </p:spPr>
        <p:txBody>
          <a:bodyPr/>
          <a:p/>
        </p:txBody>
      </p:sp>
      <p:sp>
        <p:nvSpPr>
          <p:cNvPr id="17" name="Text 14"/>
          <p:cNvSpPr txBox="1"/>
          <p:nvPr/>
        </p:nvSpPr>
        <p:spPr>
          <a:xfrm>
            <a:off x="7991856"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+1.336</a:t>
            </a:r>
            <a:endParaRPr lang="en-US" sz="2400" dirty="0"/>
          </a:p>
        </p:txBody>
      </p:sp>
      <p:sp>
        <p:nvSpPr>
          <p:cNvPr id="18" name="Text 15"/>
          <p:cNvSpPr txBox="1"/>
          <p:nvPr/>
        </p:nvSpPr>
        <p:spPr>
          <a:xfrm>
            <a:off x="7991856"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personas acogibles</a:t>
            </a:r>
            <a:endParaRPr lang="en-US" sz="1400" dirty="0"/>
          </a:p>
        </p:txBody>
      </p:sp>
      <p:sp>
        <p:nvSpPr>
          <p:cNvPr id="19" name="Balance"/>
          <p:cNvSpPr/>
          <p:nvPr/>
        </p:nvSpPr>
        <p:spPr>
          <a:xfrm>
            <a:off x="9765792" y="5120640"/>
            <a:ext cx="1783080" cy="1051560"/>
          </a:xfrm>
          <a:prstGeom prst="roundRect">
            <a:avLst>
              <a:gd name="adj" fmla="val 8696"/>
            </a:avLst>
          </a:prstGeom>
          <a:solidFill>
            <a:schemeClr val="bg2"/>
          </a:solidFill>
          <a:ln/>
        </p:spPr>
        <p:txBody>
          <a:bodyPr/>
          <a:p/>
        </p:txBody>
      </p:sp>
      <p:sp>
        <p:nvSpPr>
          <p:cNvPr id="20" name="Text 17"/>
          <p:cNvSpPr txBox="1"/>
          <p:nvPr/>
        </p:nvSpPr>
        <p:spPr>
          <a:xfrm>
            <a:off x="9948672" y="5212080"/>
            <a:ext cx="1508760" cy="457200"/>
          </a:xfrm>
          <a:prstGeom prst="rect">
            <a:avLst/>
          </a:prstGeom>
          <a:noFill/>
          <a:ln/>
        </p:spPr>
        <p:txBody>
          <a:bodyPr wrap="square" lIns="0" tIns="0" rIns="0" bIns="0" rtlCol="0" anchor="t"/>
          <a:lstStyle/>
          <a:p>
            <a:pPr indent="0" marL="0">
              <a:buNone/>
            </a:pPr>
            <a:r>
              <a:rPr lang="en-US" sz="2400" b="1" dirty="0">
                <a:solidFill>
                  <a:schemeClr val="accent1"/>
                </a:solidFill>
                <a:latin typeface="+mj-lt" pitchFamily="34" charset="0"/>
                <a:ea typeface="+mj-lt" pitchFamily="34" charset="-122"/>
                <a:cs typeface="+mj-lt" pitchFamily="34" charset="-120"/>
              </a:rPr>
              <a:t>350.000 €</a:t>
            </a:r>
            <a:endParaRPr lang="en-US" sz="2400" dirty="0"/>
          </a:p>
        </p:txBody>
      </p:sp>
      <p:sp>
        <p:nvSpPr>
          <p:cNvPr id="21" name="Text 18"/>
          <p:cNvSpPr txBox="1"/>
          <p:nvPr/>
        </p:nvSpPr>
        <p:spPr>
          <a:xfrm>
            <a:off x="9948672" y="5760720"/>
            <a:ext cx="1508760" cy="274320"/>
          </a:xfrm>
          <a:prstGeom prst="rect">
            <a:avLst/>
          </a:prstGeom>
          <a:noFill/>
          <a:ln/>
        </p:spPr>
        <p:txBody>
          <a:bodyPr wrap="square" lIns="0" tIns="0" rIns="0" bIns="0" rtlCol="0" anchor="t"/>
          <a:lstStyle/>
          <a:p>
            <a:pPr indent="0" marL="0">
              <a:buNone/>
            </a:pPr>
            <a:r>
              <a:rPr lang="en-US" sz="1400" dirty="0">
                <a:solidFill>
                  <a:schemeClr val="tx2"/>
                </a:solidFill>
              </a:rPr>
              <a:t>ahorrados</a:t>
            </a:r>
            <a:endParaRPr lang="en-US" sz="14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12</a:t>
            </a: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pPr algn="l" indent="0" marL="0">
              <a:buNone/>
            </a:pPr>
            <a:r>
              <a:rPr lang="en-US" sz="1200" b="1" spc="300" kern="0" dirty="0">
                <a:solidFill>
                  <a:schemeClr val="accent6"/>
                </a:solidFill>
              </a:rPr>
              <a:t>11  ·  CONCLUSIONES Y TRANSFERENCIA</a:t>
            </a:r>
            <a:endParaRPr lang="en-US" sz="1200" dirty="0"/>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bg1"/>
                </a:solidFill>
              </a:rPr>
              <a:t>Del piloto de 20 municipios a toda la región</a:t>
            </a:r>
            <a:endParaRPr lang="en-US" sz="3200" dirty="0"/>
          </a:p>
        </p:txBody>
      </p:sp>
      <p:sp>
        <p:nvSpPr>
          <p:cNvPr id="4" name="Text 2"/>
          <p:cNvSpPr txBox="1"/>
          <p:nvPr/>
        </p:nvSpPr>
        <p:spPr>
          <a:xfrm>
            <a:off x="640080" y="182880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1</a:t>
            </a:r>
            <a:endParaRPr lang="en-US" sz="4800" dirty="0"/>
          </a:p>
        </p:txBody>
      </p:sp>
      <p:sp>
        <p:nvSpPr>
          <p:cNvPr id="5" name="Text 3"/>
          <p:cNvSpPr txBox="1"/>
          <p:nvPr/>
        </p:nvSpPr>
        <p:spPr>
          <a:xfrm>
            <a:off x="1417320" y="1874520"/>
            <a:ext cx="5303520" cy="1325880"/>
          </a:xfrm>
          <a:prstGeom prst="rect">
            <a:avLst/>
          </a:prstGeom>
          <a:noFill/>
          <a:ln/>
        </p:spPr>
        <p:txBody>
          <a:bodyPr wrap="square" lIns="0" tIns="0" rIns="0" bIns="0" rtlCol="0" anchor="t"/>
          <a:lstStyle/>
          <a:p>
            <a:pPr>
              <a:defRPr sz="1200" b="1">
                <a:solidFill>
                  <a:srgbClr val="FFFFFF"/>
                </a:solidFill>
                <a:latin typeface="Segoe UI"/>
              </a:defRPr>
            </a:pPr>
            <a:r>
              <a:t>Resolución empírica y Backtest</a:t>
            </a:r>
          </a:p>
          <a:p>
            <a:pPr>
              <a:spcBef>
                <a:spcPts val="200"/>
              </a:spcBef>
              <a:defRPr sz="1000">
                <a:solidFill>
                  <a:srgbClr val="CBD5E1"/>
                </a:solidFill>
                <a:latin typeface="Segoe UI"/>
              </a:defRPr>
            </a:pPr>
            <a:r>
              <a:t>Sustituimos la especulación por un marco cuantitativo verificado con backtesting histórico (1,55% de error mediano) evitando cualquier overfitting.</a:t>
            </a:r>
          </a:p>
        </p:txBody>
      </p:sp>
      <p:sp>
        <p:nvSpPr>
          <p:cNvPr id="6" name="Text 4"/>
          <p:cNvSpPr txBox="1"/>
          <p:nvPr/>
        </p:nvSpPr>
        <p:spPr>
          <a:xfrm>
            <a:off x="640080" y="329184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2</a:t>
            </a:r>
            <a:endParaRPr lang="en-US" sz="4800" dirty="0"/>
          </a:p>
        </p:txBody>
      </p:sp>
      <p:sp>
        <p:nvSpPr>
          <p:cNvPr id="7" name="Text 5"/>
          <p:cNvSpPr txBox="1"/>
          <p:nvPr/>
        </p:nvSpPr>
        <p:spPr>
          <a:xfrm>
            <a:off x="1417320" y="3337560"/>
            <a:ext cx="5303520" cy="1325880"/>
          </a:xfrm>
          <a:prstGeom prst="rect">
            <a:avLst/>
          </a:prstGeom>
          <a:noFill/>
          <a:ln/>
        </p:spPr>
        <p:txBody>
          <a:bodyPr wrap="square" lIns="0" tIns="0" rIns="0" bIns="0" rtlCol="0" anchor="t"/>
          <a:lstStyle/>
          <a:p>
            <a:pPr indent="0" marL="0">
              <a:buNone/>
              <a:defRPr sz="1200" b="1">
                <a:solidFill>
                  <a:srgbClr val="FFFFFF"/>
                </a:solidFill>
                <a:latin typeface="Segoe UI"/>
              </a:defRPr>
            </a:pPr>
            <a:r>
              <a:t>Doble utilidad</a:t>
            </a:r>
            <a:endParaRPr lang="en-US" sz="2000" dirty="0"/>
          </a:p>
          <a:p>
            <a:pPr>
              <a:spcBef>
                <a:spcPts val="200"/>
              </a:spcBef>
              <a:defRPr sz="1000">
                <a:solidFill>
                  <a:srgbClr val="CBD5E1"/>
                </a:solidFill>
                <a:latin typeface="Segoe UI"/>
              </a:defRPr>
            </a:pPr>
            <a:r>
              <a:t>Sirve a las familias que planifican su traslado y a los gestores públicos que reparten recursos con rigor.</a:t>
            </a:r>
          </a:p>
        </p:txBody>
      </p:sp>
      <p:sp>
        <p:nvSpPr>
          <p:cNvPr id="8" name="Text 6"/>
          <p:cNvSpPr txBox="1"/>
          <p:nvPr/>
        </p:nvSpPr>
        <p:spPr>
          <a:xfrm>
            <a:off x="640080" y="4754880"/>
            <a:ext cx="640080" cy="822960"/>
          </a:xfrm>
          <a:prstGeom prst="rect">
            <a:avLst/>
          </a:prstGeom>
          <a:noFill/>
          <a:ln/>
        </p:spPr>
        <p:txBody>
          <a:bodyPr wrap="square" lIns="0" tIns="0" rIns="0" bIns="0" rtlCol="0" anchor="t"/>
          <a:lstStyle/>
          <a:p>
            <a:pPr indent="0" marL="0">
              <a:buNone/>
            </a:pPr>
            <a:r>
              <a:rPr lang="en-US" sz="4800" b="1" dirty="0">
                <a:solidFill>
                  <a:schemeClr val="accent6"/>
                </a:solidFill>
                <a:latin typeface="+mj-lt" pitchFamily="34" charset="0"/>
                <a:ea typeface="+mj-lt" pitchFamily="34" charset="-122"/>
                <a:cs typeface="+mj-lt" pitchFamily="34" charset="-120"/>
              </a:rPr>
              <a:t>3</a:t>
            </a:r>
            <a:endParaRPr lang="en-US" sz="4800" dirty="0"/>
          </a:p>
        </p:txBody>
      </p:sp>
      <p:sp>
        <p:nvSpPr>
          <p:cNvPr id="9" name="Text 7"/>
          <p:cNvSpPr txBox="1"/>
          <p:nvPr/>
        </p:nvSpPr>
        <p:spPr>
          <a:xfrm>
            <a:off x="1417320" y="4800600"/>
            <a:ext cx="5303520" cy="1325880"/>
          </a:xfrm>
          <a:prstGeom prst="rect">
            <a:avLst/>
          </a:prstGeom>
          <a:noFill/>
          <a:ln/>
        </p:spPr>
        <p:txBody>
          <a:bodyPr wrap="square" lIns="0" tIns="0" rIns="0" bIns="0" rtlCol="0" anchor="t"/>
          <a:lstStyle/>
          <a:p>
            <a:pPr>
              <a:defRPr sz="1200" b="1">
                <a:solidFill>
                  <a:srgbClr val="FFFFFF"/>
                </a:solidFill>
                <a:latin typeface="Segoe UI"/>
              </a:defRPr>
            </a:pPr>
            <a:r>
              <a:t>Cobertura regional en Git (¡Ya implementada!)</a:t>
            </a:r>
          </a:p>
          <a:p>
            <a:pPr>
              <a:spcBef>
                <a:spcPts val="200"/>
              </a:spcBef>
              <a:defRPr sz="1000">
                <a:solidFill>
                  <a:srgbClr val="CBD5E1"/>
                </a:solidFill>
                <a:latin typeface="Segoe UI"/>
              </a:defRPr>
            </a:pPr>
            <a:r>
              <a:t>Capa real de 155 municipios &lt; 50k hab. (997.059 hab., 0 nulos) y 179 municipios de la CAM ya ingestada con datos 100% oficiales (pipeline_179.py) y lista para Oracle 23ai.</a:t>
            </a:r>
          </a:p>
        </p:txBody>
      </p:sp>
      <p:sp>
        <p:nvSpPr>
          <p:cNvPr id="10" name="Cita final"/>
          <p:cNvSpPr/>
          <p:nvPr/>
        </p:nvSpPr>
        <p:spPr>
          <a:xfrm>
            <a:off x="7223760" y="1828800"/>
            <a:ext cx="4325112" cy="4297680"/>
          </a:xfrm>
          <a:prstGeom prst="roundRect">
            <a:avLst>
              <a:gd name="adj" fmla="val 2128"/>
            </a:avLst>
          </a:prstGeom>
          <a:solidFill>
            <a:schemeClr val="tx2"/>
          </a:solidFill>
          <a:ln/>
        </p:spPr>
        <p:txBody>
          <a:bodyPr/>
          <a:p/>
        </p:txBody>
      </p:sp>
      <p:sp>
        <p:nvSpPr>
          <p:cNvPr id="11" name="Text 9"/>
          <p:cNvSpPr txBox="1"/>
          <p:nvPr/>
        </p:nvSpPr>
        <p:spPr>
          <a:xfrm>
            <a:off x="7589520" y="2194560"/>
            <a:ext cx="3611880" cy="3566160"/>
          </a:xfrm>
          <a:prstGeom prst="rect">
            <a:avLst/>
          </a:prstGeom>
          <a:noFill/>
          <a:ln/>
        </p:spPr>
        <p:txBody>
          <a:bodyPr wrap="square" lIns="0" tIns="0" rIns="0" bIns="0" rtlCol="0" anchor="ctr"/>
          <a:lstStyle/>
          <a:p>
            <a:pPr indent="0" marL="0">
              <a:buNone/>
            </a:pPr>
            <a:r>
              <a:rPr lang="en-US" sz="2200" i="1" dirty="0">
                <a:solidFill>
                  <a:schemeClr val="bg1"/>
                </a:solidFill>
                <a:latin typeface="+mj-lt" pitchFamily="34" charset="0"/>
                <a:ea typeface="+mj-lt" pitchFamily="34" charset="-122"/>
                <a:cs typeface="+mj-lt" pitchFamily="34" charset="-120"/>
              </a:rPr>
              <a:t>«No venimos a decir que nuestro índice predice el futuro: venimos a demostrar cuánto acierta, para qué sirve y cómo optimiza cada euro público invertido en la Comunidad de Madrid.»</a:t>
            </a:r>
            <a:endParaRPr lang="en-US" sz="22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r>
              <a:rPr sz="1000">
                <a:solidFill>
                  <a:srgbClr val="94A3B8"/>
                </a:solidFill>
                <a:latin typeface="Segoe UI"/>
              </a:rPr>
              <a:t>13</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57200"/>
            <a:ext cx="8229600" cy="274320"/>
          </a:xfrm>
          <a:prstGeom prst="rect">
            <a:avLst/>
          </a:prstGeom>
          <a:noFill/>
          <a:ln/>
        </p:spPr>
        <p:txBody>
          <a:bodyPr wrap="square" lIns="0" tIns="0" rIns="0" bIns="0" rtlCol="0" anchor="t"/>
          <a:lstStyle/>
          <a:p>
            <a:r>
              <a:t>12  ·  ANEXO METODOLÓGICO</a:t>
            </a:r>
          </a:p>
        </p:txBody>
      </p:sp>
      <p:sp>
        <p:nvSpPr>
          <p:cNvPr id="3" name="Text 0"/>
          <p:cNvSpPr/>
          <p:nvPr>
            <p:ph idx="101" type="title" hasCustomPrompt="1"/>
          </p:nvPr>
        </p:nvSpPr>
        <p:spPr>
          <a:xfrm>
            <a:off x="640080" y="777240"/>
            <a:ext cx="10908792" cy="594360"/>
          </a:xfrm>
          <a:prstGeom prst="rect">
            <a:avLst/>
          </a:prstGeom>
          <a:noFill/>
          <a:ln/>
        </p:spPr>
        <p:txBody>
          <a:bodyPr wrap="square" lIns="0" tIns="0" rIns="0" bIns="0" rtlCol="0" anchor="t"/>
          <a:lstStyle/>
          <a:p>
            <a:pPr algn="l" indent="0" marL="0">
              <a:buNone/>
            </a:pPr>
            <a:r>
              <a:rPr lang="en-US" sz="3200" b="1" dirty="0">
                <a:solidFill>
                  <a:schemeClr val="tx1"/>
                </a:solidFill>
              </a:rPr>
              <a:t>Anexo: preguntas que puede hacer el jurado</a:t>
            </a:r>
            <a:endParaRPr lang="en-US" sz="3200" dirty="0"/>
          </a:p>
        </p:txBody>
      </p:sp>
      <p:sp>
        <p:nvSpPr>
          <p:cNvPr id="4" name="Text 2"/>
          <p:cNvSpPr txBox="1"/>
          <p:nvPr/>
        </p:nvSpPr>
        <p:spPr>
          <a:xfrm>
            <a:off x="640080" y="1371600"/>
            <a:ext cx="10908792" cy="365760"/>
          </a:xfrm>
          <a:prstGeom prst="rect">
            <a:avLst/>
          </a:prstGeom>
          <a:noFill/>
          <a:ln/>
        </p:spPr>
        <p:txBody>
          <a:bodyPr wrap="square" lIns="0" tIns="0" rIns="0" bIns="0" rtlCol="0" anchor="t"/>
          <a:lstStyle/>
          <a:p>
            <a:pPr indent="0" marL="0">
              <a:buNone/>
            </a:pPr>
            <a:r>
              <a:rPr lang="en-US" sz="1600" dirty="0">
                <a:solidFill>
                  <a:schemeClr val="tx2"/>
                </a:solidFill>
              </a:rPr>
              <a:t>Respuestas técnicas a las preguntas más probables</a:t>
            </a:r>
            <a:endParaRPr lang="en-US" sz="1600" dirty="0"/>
          </a:p>
        </p:txBody>
      </p:sp>
      <p:sp>
        <p:nvSpPr>
          <p:cNvPr id="5" name="Pregunta"/>
          <p:cNvSpPr/>
          <p:nvPr/>
        </p:nvSpPr>
        <p:spPr>
          <a:xfrm>
            <a:off x="640080" y="1965960"/>
            <a:ext cx="5349240" cy="2011680"/>
          </a:xfrm>
          <a:prstGeom prst="roundRect">
            <a:avLst>
              <a:gd name="adj" fmla="val 4545"/>
            </a:avLst>
          </a:prstGeom>
          <a:solidFill>
            <a:schemeClr val="bg2"/>
          </a:solidFill>
          <a:ln/>
        </p:spPr>
        <p:txBody>
          <a:bodyPr/>
          <a:p/>
        </p:txBody>
      </p:sp>
      <p:sp>
        <p:nvSpPr>
          <p:cNvPr id="6" name="Text 4"/>
          <p:cNvSpPr txBox="1"/>
          <p:nvPr/>
        </p:nvSpPr>
        <p:spPr>
          <a:xfrm>
            <a:off x="914400"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¿Cómo sé que el índice sirve?</a:t>
            </a:r>
            <a:endParaRPr lang="en-US" sz="1800" dirty="0"/>
          </a:p>
        </p:txBody>
      </p:sp>
      <p:sp>
        <p:nvSpPr>
          <p:cNvPr id="7" name="Text 5"/>
          <p:cNvSpPr txBox="1"/>
          <p:nvPr/>
        </p:nvSpPr>
        <p:spPr>
          <a:xfrm>
            <a:off x="914400"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Mide capacidad de carga, no atractivo residencial. Contrastado con el crecimiento real, los pueblos que más crecen son los que ya están saturados, lo que justifica intervenir.</a:t>
            </a:r>
            <a:endParaRPr lang="en-US" sz="1500" dirty="0"/>
          </a:p>
        </p:txBody>
      </p:sp>
      <p:sp>
        <p:nvSpPr>
          <p:cNvPr id="8" name="Pregunta"/>
          <p:cNvSpPr/>
          <p:nvPr/>
        </p:nvSpPr>
        <p:spPr>
          <a:xfrm>
            <a:off x="6199632" y="1965960"/>
            <a:ext cx="5349240" cy="2011680"/>
          </a:xfrm>
          <a:prstGeom prst="roundRect">
            <a:avLst>
              <a:gd name="adj" fmla="val 4545"/>
            </a:avLst>
          </a:prstGeom>
          <a:solidFill>
            <a:schemeClr val="bg2"/>
          </a:solidFill>
          <a:ln/>
        </p:spPr>
        <p:txBody>
          <a:bodyPr/>
          <a:p/>
        </p:txBody>
      </p:sp>
      <p:sp>
        <p:nvSpPr>
          <p:cNvPr id="9" name="Text 7"/>
          <p:cNvSpPr txBox="1"/>
          <p:nvPr/>
        </p:nvSpPr>
        <p:spPr>
          <a:xfrm>
            <a:off x="6473952" y="219456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¿Son fiables las proyecciones demográficas?</a:t>
            </a:r>
            <a:endParaRPr lang="en-US" sz="1800" dirty="0"/>
          </a:p>
        </p:txBody>
      </p:sp>
      <p:sp>
        <p:nvSpPr>
          <p:cNvPr id="10" name="Text 8"/>
          <p:cNvSpPr txBox="1"/>
          <p:nvPr/>
        </p:nvSpPr>
        <p:spPr>
          <a:xfrm>
            <a:off x="6473952" y="2697480"/>
            <a:ext cx="4800600" cy="1188720"/>
          </a:xfrm>
          <a:prstGeom prst="rect">
            <a:avLst/>
          </a:prstGeom>
          <a:noFill/>
          <a:ln/>
        </p:spPr>
        <p:txBody>
          <a:bodyPr wrap="square" lIns="0" tIns="0" rIns="0" bIns="0" rtlCol="0" anchor="t"/>
          <a:lstStyle/>
          <a:p>
            <a:pPr indent="0" marL="0">
              <a:buNone/>
            </a:pPr>
            <a:r>
              <a:rPr lang="en-US" sz="1500" dirty="0">
                <a:solidFill>
                  <a:schemeClr val="tx2"/>
                </a:solidFill>
              </a:rPr>
              <a:t>Error mediano del 1,55% a 5 años en ventanas históricas (INE 2015-2025), frente al 7,02% de suponer que nada cambia.</a:t>
            </a:r>
            <a:endParaRPr lang="en-US" sz="1500" dirty="0"/>
          </a:p>
        </p:txBody>
      </p:sp>
      <p:sp>
        <p:nvSpPr>
          <p:cNvPr id="11" name="Pregunta"/>
          <p:cNvSpPr/>
          <p:nvPr/>
        </p:nvSpPr>
        <p:spPr>
          <a:xfrm>
            <a:off x="640080" y="4160520"/>
            <a:ext cx="5349240" cy="2011680"/>
          </a:xfrm>
          <a:prstGeom prst="roundRect">
            <a:avLst>
              <a:gd name="adj" fmla="val 4545"/>
            </a:avLst>
          </a:prstGeom>
          <a:solidFill>
            <a:schemeClr val="bg2"/>
          </a:solidFill>
          <a:ln/>
        </p:spPr>
        <p:txBody>
          <a:bodyPr/>
          <a:p/>
        </p:txBody>
      </p:sp>
      <p:sp>
        <p:nvSpPr>
          <p:cNvPr id="12" name="Text 10"/>
          <p:cNvSpPr txBox="1"/>
          <p:nvPr/>
        </p:nvSpPr>
        <p:spPr>
          <a:xfrm>
            <a:off x="914400" y="4389120"/>
            <a:ext cx="4800600" cy="365760"/>
          </a:xfrm>
          <a:prstGeom prst="rect">
            <a:avLst/>
          </a:prstGeom>
          <a:noFill/>
          <a:ln/>
        </p:spPr>
        <p:txBody>
          <a:bodyPr wrap="square" lIns="0" tIns="0" rIns="0" bIns="0" rtlCol="0" anchor="t"/>
          <a:lstStyle/>
          <a:p>
            <a:pPr>
              <a:defRPr sz="1100" b="1">
                <a:solidFill>
                  <a:srgbClr val="1E293B"/>
                </a:solidFill>
                <a:latin typeface="Segoe UI"/>
              </a:defRPr>
            </a:pPr>
            <a:r>
              <a:t>¿Por qué no deep learning / Cómo evitáis el overfitting?</a:t>
            </a:r>
          </a:p>
        </p:txBody>
      </p:sp>
      <p:sp>
        <p:nvSpPr>
          <p:cNvPr id="13" name="Text 11"/>
          <p:cNvSpPr txBox="1"/>
          <p:nvPr/>
        </p:nvSpPr>
        <p:spPr>
          <a:xfrm>
            <a:off x="914400" y="4892040"/>
            <a:ext cx="4800600" cy="1188720"/>
          </a:xfrm>
          <a:prstGeom prst="rect">
            <a:avLst/>
          </a:prstGeom>
          <a:noFill/>
          <a:ln/>
        </p:spPr>
        <p:txBody>
          <a:bodyPr wrap="square" lIns="0" tIns="0" rIns="0" bIns="0" rtlCol="0" anchor="t"/>
          <a:lstStyle/>
          <a:p>
            <a:pPr>
              <a:defRPr sz="950">
                <a:solidFill>
                  <a:srgbClr val="475569"/>
                </a:solidFill>
                <a:latin typeface="Segoe UI"/>
              </a:defRPr>
            </a:pPr>
            <a:r>
              <a:t>Con 20 municipios, el deep learning causaría un severo overfitting. Empleamos modelos regularizados, validación GroupKFold por comarca y árboles exportados a ONNX con tolerancia &lt; 1e-6.</a:t>
            </a:r>
          </a:p>
        </p:txBody>
      </p:sp>
      <p:sp>
        <p:nvSpPr>
          <p:cNvPr id="14" name="Pregunta"/>
          <p:cNvSpPr/>
          <p:nvPr/>
        </p:nvSpPr>
        <p:spPr>
          <a:xfrm>
            <a:off x="6199632" y="4160520"/>
            <a:ext cx="5349240" cy="2011680"/>
          </a:xfrm>
          <a:prstGeom prst="roundRect">
            <a:avLst>
              <a:gd name="adj" fmla="val 4545"/>
            </a:avLst>
          </a:prstGeom>
          <a:solidFill>
            <a:schemeClr val="bg2"/>
          </a:solidFill>
          <a:ln/>
        </p:spPr>
        <p:txBody>
          <a:bodyPr/>
          <a:p/>
        </p:txBody>
      </p:sp>
      <p:sp>
        <p:nvSpPr>
          <p:cNvPr id="15" name="Text 13"/>
          <p:cNvSpPr txBox="1"/>
          <p:nvPr/>
        </p:nvSpPr>
        <p:spPr>
          <a:xfrm>
            <a:off x="6473952" y="4389120"/>
            <a:ext cx="4800600" cy="365760"/>
          </a:xfrm>
          <a:prstGeom prst="rect">
            <a:avLst/>
          </a:prstGeom>
          <a:noFill/>
          <a:ln/>
        </p:spPr>
        <p:txBody>
          <a:bodyPr wrap="square" lIns="0" tIns="0" rIns="0" bIns="0" rtlCol="0" anchor="t"/>
          <a:lstStyle/>
          <a:p>
            <a:pPr indent="0" marL="0">
              <a:buNone/>
            </a:pPr>
            <a:r>
              <a:rPr lang="en-US" sz="1800" b="1" dirty="0">
                <a:solidFill>
                  <a:schemeClr val="accent1"/>
                </a:solidFill>
                <a:latin typeface="+mj-lt" pitchFamily="34" charset="0"/>
                <a:ea typeface="+mj-lt" pitchFamily="34" charset="-122"/>
                <a:cs typeface="+mj-lt" pitchFamily="34" charset="-120"/>
              </a:rPr>
              <a:t>¿Qué no habéis validado?</a:t>
            </a:r>
            <a:endParaRPr lang="en-US" sz="1800" dirty="0"/>
          </a:p>
        </p:txBody>
      </p:sp>
      <p:sp>
        <p:nvSpPr>
          <p:cNvPr id="16" name="Text 14"/>
          <p:cNvSpPr txBox="1"/>
          <p:nvPr/>
        </p:nvSpPr>
        <p:spPr>
          <a:xfrm>
            <a:off x="6473952" y="4892040"/>
            <a:ext cx="4800600" cy="1188720"/>
          </a:xfrm>
          <a:prstGeom prst="rect">
            <a:avLst/>
          </a:prstGeom>
          <a:noFill/>
          <a:ln/>
        </p:spPr>
        <p:txBody>
          <a:bodyPr wrap="square" lIns="0" tIns="0" rIns="0" bIns="0" rtlCol="0" anchor="t"/>
          <a:lstStyle/>
          <a:p>
            <a:pPr indent="0" marL="0">
              <a:buNone/>
            </a:pPr>
            <a:r>
              <a:rPr lang="en-US" sz="1500" dirty="0">
                <a:solidFill>
                  <a:schemeClr val="tx2"/>
                </a:solidFill>
              </a:rPr>
              <a:t>Que el índice anticipe por sí solo el crecimiento espontáneo (ρ = 0,10). No lo afirmamos: mide capacidad dotacional objetiva.</a:t>
            </a:r>
            <a:endParaRPr lang="en-US" sz="1500" dirty="0"/>
          </a:p>
        </p:txBody>
      </p:sp>
      <p:sp>
        <p:nvSpPr>
          <p:cNvPr id="25" name="Slide Number Placeholder 0"/>
          <p:cNvSpPr>
            <a:spLocks noGrp="1"/>
          </p:cNvSpPr>
          <p:nvPr>
            <p:ph type="sldNum" sz="quarter" idx="4294967295"/>
          </p:nvPr>
        </p:nvSpPr>
        <p:spPr>
          <a:xfrm>
            <a:off x="10634472" y="640080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r>
              <a:rPr sz="1000">
                <a:solidFill>
                  <a:srgbClr val="94A3B8"/>
                </a:solidFill>
                <a:latin typeface="Segoe UI"/>
              </a:rPr>
              <a:t>14</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731520"/>
            <a:ext cx="6400800" cy="274320"/>
          </a:xfrm>
          <a:prstGeom prst="rect">
            <a:avLst/>
          </a:prstGeom>
          <a:noFill/>
          <a:ln/>
        </p:spPr>
        <p:txBody>
          <a:bodyPr wrap="square" lIns="0" tIns="0" rIns="0" bIns="0" rtlCol="0" anchor="t"/>
          <a:lstStyle/>
          <a:p>
            <a:pPr algn="l" indent="0" marL="0">
              <a:buNone/>
            </a:pPr>
            <a:r>
              <a:rPr lang="en-US" sz="1200" b="1" spc="300" kern="0" dirty="0">
                <a:solidFill>
                  <a:schemeClr val="accent5"/>
                </a:solidFill>
              </a:rPr>
              <a:t>II DATATHON LODCOREMADRID 2026</a:t>
            </a:r>
            <a:endParaRPr lang="en-US" sz="1200" dirty="0"/>
          </a:p>
        </p:txBody>
      </p:sp>
      <p:sp>
        <p:nvSpPr>
          <p:cNvPr id="3" name="Text 0"/>
          <p:cNvSpPr/>
          <p:nvPr>
            <p:ph idx="101" type="title" hasCustomPrompt="1"/>
          </p:nvPr>
        </p:nvSpPr>
        <p:spPr>
          <a:xfrm>
            <a:off x="731520" y="1325880"/>
            <a:ext cx="6583680" cy="1005840"/>
          </a:xfrm>
          <a:prstGeom prst="rect">
            <a:avLst/>
          </a:prstGeom>
          <a:noFill/>
          <a:ln/>
        </p:spPr>
        <p:txBody>
          <a:bodyPr wrap="square" lIns="0" tIns="0" rIns="0" bIns="0" rtlCol="0" anchor="t"/>
          <a:lstStyle/>
          <a:p>
            <a:pPr algn="l" indent="0" marL="0">
              <a:buNone/>
            </a:pPr>
            <a:r>
              <a:rPr lang="en-US" sz="6000" b="1" dirty="0">
                <a:solidFill>
                  <a:schemeClr val="bg1"/>
                </a:solidFill>
              </a:rPr>
              <a:t>Muchas gracias</a:t>
            </a:r>
            <a:endParaRPr lang="en-US" sz="6000" dirty="0"/>
          </a:p>
        </p:txBody>
      </p:sp>
      <p:sp>
        <p:nvSpPr>
          <p:cNvPr id="4" name="Text 2"/>
          <p:cNvSpPr txBox="1"/>
          <p:nvPr/>
        </p:nvSpPr>
        <p:spPr>
          <a:xfrm>
            <a:off x="731520" y="2377440"/>
            <a:ext cx="6400800" cy="548640"/>
          </a:xfrm>
          <a:prstGeom prst="rect">
            <a:avLst/>
          </a:prstGeom>
          <a:noFill/>
          <a:ln/>
        </p:spPr>
        <p:txBody>
          <a:bodyPr wrap="square" lIns="0" tIns="0" rIns="0" bIns="0" rtlCol="0" anchor="t"/>
          <a:lstStyle/>
          <a:p>
            <a:pPr indent="0" marL="0">
              <a:buNone/>
            </a:pPr>
            <a:r>
              <a:rPr lang="en-US" sz="3000" i="1" dirty="0">
                <a:solidFill>
                  <a:schemeClr val="accent6"/>
                </a:solidFill>
                <a:latin typeface="+mj-lt" pitchFamily="34" charset="0"/>
                <a:ea typeface="+mj-lt" pitchFamily="34" charset="-122"/>
                <a:cs typeface="+mj-lt" pitchFamily="34" charset="-120"/>
              </a:rPr>
              <a:t>¿Preguntas?</a:t>
            </a:r>
            <a:endParaRPr lang="en-US" sz="3000" dirty="0"/>
          </a:p>
        </p:txBody>
      </p:sp>
      <p:sp>
        <p:nvSpPr>
          <p:cNvPr id="5" name="Text 3"/>
          <p:cNvSpPr txBox="1"/>
          <p:nvPr/>
        </p:nvSpPr>
        <p:spPr>
          <a:xfrm>
            <a:off x="731520" y="3931920"/>
            <a:ext cx="6583680" cy="320040"/>
          </a:xfrm>
          <a:prstGeom prst="rect">
            <a:avLst/>
          </a:prstGeom>
          <a:noFill/>
          <a:ln/>
        </p:spPr>
        <p:txBody>
          <a:bodyPr wrap="square" lIns="0" tIns="0" rIns="0" bIns="0" rtlCol="0" anchor="t"/>
          <a:lstStyle/>
          <a:p>
            <a:pPr indent="0" marL="0">
              <a:buNone/>
            </a:pPr>
            <a:r>
              <a:rPr lang="en-US" sz="1800" b="1" dirty="0">
                <a:solidFill>
                  <a:schemeClr val="bg1"/>
                </a:solidFill>
              </a:rPr>
              <a:t>MadridNext: capacidad de acogida territorial</a:t>
            </a:r>
            <a:endParaRPr lang="en-US" sz="1800" dirty="0"/>
          </a:p>
        </p:txBody>
      </p:sp>
      <p:sp>
        <p:nvSpPr>
          <p:cNvPr id="6" name="Text 4"/>
          <p:cNvSpPr txBox="1"/>
          <p:nvPr/>
        </p:nvSpPr>
        <p:spPr>
          <a:xfrm>
            <a:off x="731520" y="4389120"/>
            <a:ext cx="6766560" cy="274320"/>
          </a:xfrm>
          <a:prstGeom prst="rect">
            <a:avLst/>
          </a:prstGeom>
          <a:noFill/>
          <a:ln/>
        </p:spPr>
        <p:txBody>
          <a:bodyPr wrap="square" lIns="0" tIns="0" rIns="0" bIns="0" rtlCol="0" anchor="t"/>
          <a:lstStyle/>
          <a:p>
            <a:pPr indent="0" marL="0">
              <a:buNone/>
            </a:pPr>
            <a:r>
              <a:rPr lang="en-US" sz="1400" dirty="0">
                <a:solidFill>
                  <a:schemeClr val="bg2"/>
                </a:solidFill>
              </a:rPr>
              <a:t>Adrián Hernando Muñoz   ·   Juan Torrero de Pablo   ·   Alejandro Cuntin Bariteau</a:t>
            </a:r>
            <a:endParaRPr lang="en-US" sz="1400" dirty="0"/>
          </a:p>
        </p:txBody>
      </p:sp>
      <p:sp>
        <p:nvSpPr>
          <p:cNvPr id="7" name="Text 5"/>
          <p:cNvSpPr txBox="1"/>
          <p:nvPr/>
        </p:nvSpPr>
        <p:spPr>
          <a:xfrm>
            <a:off x="731520" y="5989320"/>
            <a:ext cx="6400800" cy="274320"/>
          </a:xfrm>
          <a:prstGeom prst="rect">
            <a:avLst/>
          </a:prstGeom>
          <a:noFill/>
          <a:ln/>
        </p:spPr>
        <p:txBody>
          <a:bodyPr wrap="square" lIns="0" tIns="0" rIns="0" bIns="0" rtlCol="0" anchor="t"/>
          <a:lstStyle/>
          <a:p>
            <a:pPr indent="0" marL="0">
              <a:buNone/>
            </a:pPr>
            <a:r>
              <a:rPr lang="en-US" sz="1200" dirty="0">
                <a:solidFill>
                  <a:schemeClr val="accent5"/>
                </a:solidFill>
              </a:rPr>
              <a:t>Universidad Carlos III de Madrid  ·  Comunidad de Madrid</a:t>
            </a:r>
            <a:endParaRPr lang="en-US" sz="1200" dirty="0"/>
          </a:p>
        </p:txBody>
      </p:sp>
      <p:sp>
        <p:nvSpPr>
          <p:cNvPr id="8" name="Municipio"/>
          <p:cNvSpPr/>
          <p:nvPr/>
        </p:nvSpPr>
        <p:spPr>
          <a:xfrm>
            <a:off x="7818120" y="1051560"/>
            <a:ext cx="155448" cy="155448"/>
          </a:xfrm>
          <a:prstGeom prst="ellipse">
            <a:avLst/>
          </a:prstGeom>
          <a:solidFill>
            <a:srgbClr val="98A2B3">
              <a:alpha val="45000"/>
            </a:srgbClr>
          </a:solidFill>
          <a:ln/>
        </p:spPr>
      </p:sp>
      <p:sp>
        <p:nvSpPr>
          <p:cNvPr id="9" name="Municipio"/>
          <p:cNvSpPr/>
          <p:nvPr/>
        </p:nvSpPr>
        <p:spPr>
          <a:xfrm>
            <a:off x="8129016" y="1051560"/>
            <a:ext cx="155448" cy="155448"/>
          </a:xfrm>
          <a:prstGeom prst="ellipse">
            <a:avLst/>
          </a:prstGeom>
          <a:solidFill>
            <a:srgbClr val="98A2B3">
              <a:alpha val="45000"/>
            </a:srgbClr>
          </a:solidFill>
          <a:ln/>
        </p:spPr>
      </p:sp>
      <p:sp>
        <p:nvSpPr>
          <p:cNvPr id="10" name="Municipio"/>
          <p:cNvSpPr/>
          <p:nvPr/>
        </p:nvSpPr>
        <p:spPr>
          <a:xfrm>
            <a:off x="8439912" y="1051560"/>
            <a:ext cx="155448" cy="155448"/>
          </a:xfrm>
          <a:prstGeom prst="ellipse">
            <a:avLst/>
          </a:prstGeom>
          <a:solidFill>
            <a:srgbClr val="98A2B3">
              <a:alpha val="45000"/>
            </a:srgbClr>
          </a:solidFill>
          <a:ln/>
        </p:spPr>
      </p:sp>
      <p:sp>
        <p:nvSpPr>
          <p:cNvPr id="11" name="Municipio"/>
          <p:cNvSpPr/>
          <p:nvPr/>
        </p:nvSpPr>
        <p:spPr>
          <a:xfrm>
            <a:off x="8750808" y="1051560"/>
            <a:ext cx="155448" cy="155448"/>
          </a:xfrm>
          <a:prstGeom prst="ellipse">
            <a:avLst/>
          </a:prstGeom>
          <a:solidFill>
            <a:srgbClr val="98A2B3">
              <a:alpha val="45000"/>
            </a:srgbClr>
          </a:solidFill>
          <a:ln/>
        </p:spPr>
      </p:sp>
      <p:sp>
        <p:nvSpPr>
          <p:cNvPr id="12" name="Municipio"/>
          <p:cNvSpPr/>
          <p:nvPr/>
        </p:nvSpPr>
        <p:spPr>
          <a:xfrm>
            <a:off x="9061704" y="1051560"/>
            <a:ext cx="155448" cy="155448"/>
          </a:xfrm>
          <a:prstGeom prst="ellipse">
            <a:avLst/>
          </a:prstGeom>
          <a:solidFill>
            <a:srgbClr val="98A2B3">
              <a:alpha val="45000"/>
            </a:srgbClr>
          </a:solidFill>
          <a:ln/>
        </p:spPr>
      </p:sp>
      <p:sp>
        <p:nvSpPr>
          <p:cNvPr id="13" name="Municipio piloto"/>
          <p:cNvSpPr/>
          <p:nvPr/>
        </p:nvSpPr>
        <p:spPr>
          <a:xfrm>
            <a:off x="9372600" y="1051560"/>
            <a:ext cx="155448" cy="155448"/>
          </a:xfrm>
          <a:prstGeom prst="ellipse">
            <a:avLst/>
          </a:prstGeom>
          <a:solidFill>
            <a:schemeClr val="accent6"/>
          </a:solidFill>
          <a:ln/>
        </p:spPr>
      </p:sp>
      <p:sp>
        <p:nvSpPr>
          <p:cNvPr id="14" name="Municipio"/>
          <p:cNvSpPr/>
          <p:nvPr/>
        </p:nvSpPr>
        <p:spPr>
          <a:xfrm>
            <a:off x="9683496" y="1051560"/>
            <a:ext cx="155448" cy="155448"/>
          </a:xfrm>
          <a:prstGeom prst="ellipse">
            <a:avLst/>
          </a:prstGeom>
          <a:solidFill>
            <a:srgbClr val="98A2B3">
              <a:alpha val="45000"/>
            </a:srgbClr>
          </a:solidFill>
          <a:ln/>
        </p:spPr>
      </p:sp>
      <p:sp>
        <p:nvSpPr>
          <p:cNvPr id="15" name="Municipio"/>
          <p:cNvSpPr/>
          <p:nvPr/>
        </p:nvSpPr>
        <p:spPr>
          <a:xfrm>
            <a:off x="9994392" y="1051560"/>
            <a:ext cx="155448" cy="155448"/>
          </a:xfrm>
          <a:prstGeom prst="ellipse">
            <a:avLst/>
          </a:prstGeom>
          <a:solidFill>
            <a:srgbClr val="98A2B3">
              <a:alpha val="45000"/>
            </a:srgbClr>
          </a:solidFill>
          <a:ln/>
        </p:spPr>
      </p:sp>
      <p:sp>
        <p:nvSpPr>
          <p:cNvPr id="16" name="Municipio"/>
          <p:cNvSpPr/>
          <p:nvPr/>
        </p:nvSpPr>
        <p:spPr>
          <a:xfrm>
            <a:off x="10305288" y="1051560"/>
            <a:ext cx="155448" cy="155448"/>
          </a:xfrm>
          <a:prstGeom prst="ellipse">
            <a:avLst/>
          </a:prstGeom>
          <a:solidFill>
            <a:srgbClr val="98A2B3">
              <a:alpha val="45000"/>
            </a:srgbClr>
          </a:solidFill>
          <a:ln/>
        </p:spPr>
      </p:sp>
      <p:sp>
        <p:nvSpPr>
          <p:cNvPr id="17" name="Municipio"/>
          <p:cNvSpPr/>
          <p:nvPr/>
        </p:nvSpPr>
        <p:spPr>
          <a:xfrm>
            <a:off x="10616184" y="1051560"/>
            <a:ext cx="155448" cy="155448"/>
          </a:xfrm>
          <a:prstGeom prst="ellipse">
            <a:avLst/>
          </a:prstGeom>
          <a:solidFill>
            <a:srgbClr val="98A2B3">
              <a:alpha val="45000"/>
            </a:srgbClr>
          </a:solidFill>
          <a:ln/>
        </p:spPr>
      </p:sp>
      <p:sp>
        <p:nvSpPr>
          <p:cNvPr id="18" name="Municipio"/>
          <p:cNvSpPr/>
          <p:nvPr/>
        </p:nvSpPr>
        <p:spPr>
          <a:xfrm>
            <a:off x="10927080" y="1051560"/>
            <a:ext cx="155448" cy="155448"/>
          </a:xfrm>
          <a:prstGeom prst="ellipse">
            <a:avLst/>
          </a:prstGeom>
          <a:solidFill>
            <a:srgbClr val="98A2B3">
              <a:alpha val="45000"/>
            </a:srgbClr>
          </a:solidFill>
          <a:ln/>
        </p:spPr>
      </p:sp>
      <p:sp>
        <p:nvSpPr>
          <p:cNvPr id="19" name="Municipio"/>
          <p:cNvSpPr/>
          <p:nvPr/>
        </p:nvSpPr>
        <p:spPr>
          <a:xfrm>
            <a:off x="11237976" y="1051560"/>
            <a:ext cx="155448" cy="155448"/>
          </a:xfrm>
          <a:prstGeom prst="ellipse">
            <a:avLst/>
          </a:prstGeom>
          <a:solidFill>
            <a:srgbClr val="98A2B3">
              <a:alpha val="45000"/>
            </a:srgbClr>
          </a:solidFill>
          <a:ln/>
        </p:spPr>
      </p:sp>
      <p:sp>
        <p:nvSpPr>
          <p:cNvPr id="20" name="Municipio"/>
          <p:cNvSpPr/>
          <p:nvPr/>
        </p:nvSpPr>
        <p:spPr>
          <a:xfrm>
            <a:off x="11548872" y="1051560"/>
            <a:ext cx="155448" cy="155448"/>
          </a:xfrm>
          <a:prstGeom prst="ellipse">
            <a:avLst/>
          </a:prstGeom>
          <a:solidFill>
            <a:srgbClr val="98A2B3">
              <a:alpha val="45000"/>
            </a:srgbClr>
          </a:solidFill>
          <a:ln/>
        </p:spPr>
      </p:sp>
      <p:sp>
        <p:nvSpPr>
          <p:cNvPr id="21" name="Municipio"/>
          <p:cNvSpPr/>
          <p:nvPr/>
        </p:nvSpPr>
        <p:spPr>
          <a:xfrm>
            <a:off x="7818120" y="1417320"/>
            <a:ext cx="155448" cy="155448"/>
          </a:xfrm>
          <a:prstGeom prst="ellipse">
            <a:avLst/>
          </a:prstGeom>
          <a:solidFill>
            <a:srgbClr val="98A2B3">
              <a:alpha val="45000"/>
            </a:srgbClr>
          </a:solidFill>
          <a:ln/>
        </p:spPr>
      </p:sp>
      <p:sp>
        <p:nvSpPr>
          <p:cNvPr id="22" name="Municipio"/>
          <p:cNvSpPr/>
          <p:nvPr/>
        </p:nvSpPr>
        <p:spPr>
          <a:xfrm>
            <a:off x="8129016" y="1417320"/>
            <a:ext cx="155448" cy="155448"/>
          </a:xfrm>
          <a:prstGeom prst="ellipse">
            <a:avLst/>
          </a:prstGeom>
          <a:solidFill>
            <a:srgbClr val="98A2B3">
              <a:alpha val="45000"/>
            </a:srgbClr>
          </a:solidFill>
          <a:ln/>
        </p:spPr>
      </p:sp>
      <p:sp>
        <p:nvSpPr>
          <p:cNvPr id="23" name="Municipio"/>
          <p:cNvSpPr/>
          <p:nvPr/>
        </p:nvSpPr>
        <p:spPr>
          <a:xfrm>
            <a:off x="8439912" y="1417320"/>
            <a:ext cx="155448" cy="155448"/>
          </a:xfrm>
          <a:prstGeom prst="ellipse">
            <a:avLst/>
          </a:prstGeom>
          <a:solidFill>
            <a:srgbClr val="98A2B3">
              <a:alpha val="45000"/>
            </a:srgbClr>
          </a:solidFill>
          <a:ln/>
        </p:spPr>
      </p:sp>
      <p:sp>
        <p:nvSpPr>
          <p:cNvPr id="24" name="Municipio"/>
          <p:cNvSpPr/>
          <p:nvPr/>
        </p:nvSpPr>
        <p:spPr>
          <a:xfrm>
            <a:off x="8750808" y="1417320"/>
            <a:ext cx="155448" cy="155448"/>
          </a:xfrm>
          <a:prstGeom prst="ellipse">
            <a:avLst/>
          </a:prstGeom>
          <a:solidFill>
            <a:srgbClr val="98A2B3">
              <a:alpha val="45000"/>
            </a:srgbClr>
          </a:solidFill>
          <a:ln/>
        </p:spPr>
      </p:sp>
      <p:sp>
        <p:nvSpPr>
          <p:cNvPr id="25" name="Municipio"/>
          <p:cNvSpPr/>
          <p:nvPr/>
        </p:nvSpPr>
        <p:spPr>
          <a:xfrm>
            <a:off x="9061704" y="1417320"/>
            <a:ext cx="155448" cy="155448"/>
          </a:xfrm>
          <a:prstGeom prst="ellipse">
            <a:avLst/>
          </a:prstGeom>
          <a:solidFill>
            <a:srgbClr val="98A2B3">
              <a:alpha val="45000"/>
            </a:srgbClr>
          </a:solidFill>
          <a:ln/>
        </p:spPr>
      </p:sp>
      <p:sp>
        <p:nvSpPr>
          <p:cNvPr id="26" name="Municipio"/>
          <p:cNvSpPr/>
          <p:nvPr/>
        </p:nvSpPr>
        <p:spPr>
          <a:xfrm>
            <a:off x="9372600" y="1417320"/>
            <a:ext cx="155448" cy="155448"/>
          </a:xfrm>
          <a:prstGeom prst="ellipse">
            <a:avLst/>
          </a:prstGeom>
          <a:solidFill>
            <a:srgbClr val="98A2B3">
              <a:alpha val="45000"/>
            </a:srgbClr>
          </a:solidFill>
          <a:ln/>
        </p:spPr>
      </p:sp>
      <p:sp>
        <p:nvSpPr>
          <p:cNvPr id="27" name="Municipio"/>
          <p:cNvSpPr/>
          <p:nvPr/>
        </p:nvSpPr>
        <p:spPr>
          <a:xfrm>
            <a:off x="9683496" y="1417320"/>
            <a:ext cx="155448" cy="155448"/>
          </a:xfrm>
          <a:prstGeom prst="ellipse">
            <a:avLst/>
          </a:prstGeom>
          <a:solidFill>
            <a:srgbClr val="98A2B3">
              <a:alpha val="45000"/>
            </a:srgbClr>
          </a:solidFill>
          <a:ln/>
        </p:spPr>
      </p:sp>
      <p:sp>
        <p:nvSpPr>
          <p:cNvPr id="28" name="Municipio"/>
          <p:cNvSpPr/>
          <p:nvPr/>
        </p:nvSpPr>
        <p:spPr>
          <a:xfrm>
            <a:off x="9994392" y="1417320"/>
            <a:ext cx="155448" cy="155448"/>
          </a:xfrm>
          <a:prstGeom prst="ellipse">
            <a:avLst/>
          </a:prstGeom>
          <a:solidFill>
            <a:srgbClr val="98A2B3">
              <a:alpha val="45000"/>
            </a:srgbClr>
          </a:solidFill>
          <a:ln/>
        </p:spPr>
      </p:sp>
      <p:sp>
        <p:nvSpPr>
          <p:cNvPr id="29" name="Municipio"/>
          <p:cNvSpPr/>
          <p:nvPr/>
        </p:nvSpPr>
        <p:spPr>
          <a:xfrm>
            <a:off x="10305288" y="1417320"/>
            <a:ext cx="155448" cy="155448"/>
          </a:xfrm>
          <a:prstGeom prst="ellipse">
            <a:avLst/>
          </a:prstGeom>
          <a:solidFill>
            <a:srgbClr val="98A2B3">
              <a:alpha val="45000"/>
            </a:srgbClr>
          </a:solidFill>
          <a:ln/>
        </p:spPr>
      </p:sp>
      <p:sp>
        <p:nvSpPr>
          <p:cNvPr id="30" name="Municipio"/>
          <p:cNvSpPr/>
          <p:nvPr/>
        </p:nvSpPr>
        <p:spPr>
          <a:xfrm>
            <a:off x="10616184" y="1417320"/>
            <a:ext cx="155448" cy="155448"/>
          </a:xfrm>
          <a:prstGeom prst="ellipse">
            <a:avLst/>
          </a:prstGeom>
          <a:solidFill>
            <a:srgbClr val="98A2B3">
              <a:alpha val="45000"/>
            </a:srgbClr>
          </a:solidFill>
          <a:ln/>
        </p:spPr>
      </p:sp>
      <p:sp>
        <p:nvSpPr>
          <p:cNvPr id="31" name="Municipio"/>
          <p:cNvSpPr/>
          <p:nvPr/>
        </p:nvSpPr>
        <p:spPr>
          <a:xfrm>
            <a:off x="10927080" y="1417320"/>
            <a:ext cx="155448" cy="155448"/>
          </a:xfrm>
          <a:prstGeom prst="ellipse">
            <a:avLst/>
          </a:prstGeom>
          <a:solidFill>
            <a:srgbClr val="98A2B3">
              <a:alpha val="45000"/>
            </a:srgbClr>
          </a:solidFill>
          <a:ln/>
        </p:spPr>
      </p:sp>
      <p:sp>
        <p:nvSpPr>
          <p:cNvPr id="32" name="Municipio"/>
          <p:cNvSpPr/>
          <p:nvPr/>
        </p:nvSpPr>
        <p:spPr>
          <a:xfrm>
            <a:off x="11237976" y="1417320"/>
            <a:ext cx="155448" cy="155448"/>
          </a:xfrm>
          <a:prstGeom prst="ellipse">
            <a:avLst/>
          </a:prstGeom>
          <a:solidFill>
            <a:srgbClr val="98A2B3">
              <a:alpha val="45000"/>
            </a:srgbClr>
          </a:solidFill>
          <a:ln/>
        </p:spPr>
      </p:sp>
      <p:sp>
        <p:nvSpPr>
          <p:cNvPr id="33" name="Municipio"/>
          <p:cNvSpPr/>
          <p:nvPr/>
        </p:nvSpPr>
        <p:spPr>
          <a:xfrm>
            <a:off x="11548872" y="1417320"/>
            <a:ext cx="155448" cy="155448"/>
          </a:xfrm>
          <a:prstGeom prst="ellipse">
            <a:avLst/>
          </a:prstGeom>
          <a:solidFill>
            <a:srgbClr val="98A2B3">
              <a:alpha val="45000"/>
            </a:srgbClr>
          </a:solidFill>
          <a:ln/>
        </p:spPr>
      </p:sp>
      <p:sp>
        <p:nvSpPr>
          <p:cNvPr id="34" name="Municipio piloto"/>
          <p:cNvSpPr/>
          <p:nvPr/>
        </p:nvSpPr>
        <p:spPr>
          <a:xfrm>
            <a:off x="7818120" y="1783080"/>
            <a:ext cx="155448" cy="155448"/>
          </a:xfrm>
          <a:prstGeom prst="ellipse">
            <a:avLst/>
          </a:prstGeom>
          <a:solidFill>
            <a:schemeClr val="accent6"/>
          </a:solidFill>
          <a:ln/>
        </p:spPr>
      </p:sp>
      <p:sp>
        <p:nvSpPr>
          <p:cNvPr id="35" name="Municipio"/>
          <p:cNvSpPr/>
          <p:nvPr/>
        </p:nvSpPr>
        <p:spPr>
          <a:xfrm>
            <a:off x="8129016" y="1783080"/>
            <a:ext cx="155448" cy="155448"/>
          </a:xfrm>
          <a:prstGeom prst="ellipse">
            <a:avLst/>
          </a:prstGeom>
          <a:solidFill>
            <a:srgbClr val="98A2B3">
              <a:alpha val="45000"/>
            </a:srgbClr>
          </a:solidFill>
          <a:ln/>
        </p:spPr>
      </p:sp>
      <p:sp>
        <p:nvSpPr>
          <p:cNvPr id="36" name="Municipio"/>
          <p:cNvSpPr/>
          <p:nvPr/>
        </p:nvSpPr>
        <p:spPr>
          <a:xfrm>
            <a:off x="8439912" y="1783080"/>
            <a:ext cx="155448" cy="155448"/>
          </a:xfrm>
          <a:prstGeom prst="ellipse">
            <a:avLst/>
          </a:prstGeom>
          <a:solidFill>
            <a:srgbClr val="98A2B3">
              <a:alpha val="45000"/>
            </a:srgbClr>
          </a:solidFill>
          <a:ln/>
        </p:spPr>
      </p:sp>
      <p:sp>
        <p:nvSpPr>
          <p:cNvPr id="37" name="Municipio"/>
          <p:cNvSpPr/>
          <p:nvPr/>
        </p:nvSpPr>
        <p:spPr>
          <a:xfrm>
            <a:off x="8750808" y="1783080"/>
            <a:ext cx="155448" cy="155448"/>
          </a:xfrm>
          <a:prstGeom prst="ellipse">
            <a:avLst/>
          </a:prstGeom>
          <a:solidFill>
            <a:srgbClr val="98A2B3">
              <a:alpha val="45000"/>
            </a:srgbClr>
          </a:solidFill>
          <a:ln/>
        </p:spPr>
      </p:sp>
      <p:sp>
        <p:nvSpPr>
          <p:cNvPr id="38" name="Municipio"/>
          <p:cNvSpPr/>
          <p:nvPr/>
        </p:nvSpPr>
        <p:spPr>
          <a:xfrm>
            <a:off x="9061704" y="1783080"/>
            <a:ext cx="155448" cy="155448"/>
          </a:xfrm>
          <a:prstGeom prst="ellipse">
            <a:avLst/>
          </a:prstGeom>
          <a:solidFill>
            <a:srgbClr val="98A2B3">
              <a:alpha val="45000"/>
            </a:srgbClr>
          </a:solidFill>
          <a:ln/>
        </p:spPr>
      </p:sp>
      <p:sp>
        <p:nvSpPr>
          <p:cNvPr id="39" name="Municipio"/>
          <p:cNvSpPr/>
          <p:nvPr/>
        </p:nvSpPr>
        <p:spPr>
          <a:xfrm>
            <a:off x="9372600" y="1783080"/>
            <a:ext cx="155448" cy="155448"/>
          </a:xfrm>
          <a:prstGeom prst="ellipse">
            <a:avLst/>
          </a:prstGeom>
          <a:solidFill>
            <a:srgbClr val="98A2B3">
              <a:alpha val="45000"/>
            </a:srgbClr>
          </a:solidFill>
          <a:ln/>
        </p:spPr>
      </p:sp>
      <p:sp>
        <p:nvSpPr>
          <p:cNvPr id="40" name="Municipio"/>
          <p:cNvSpPr/>
          <p:nvPr/>
        </p:nvSpPr>
        <p:spPr>
          <a:xfrm>
            <a:off x="9683496" y="1783080"/>
            <a:ext cx="155448" cy="155448"/>
          </a:xfrm>
          <a:prstGeom prst="ellipse">
            <a:avLst/>
          </a:prstGeom>
          <a:solidFill>
            <a:srgbClr val="98A2B3">
              <a:alpha val="45000"/>
            </a:srgbClr>
          </a:solidFill>
          <a:ln/>
        </p:spPr>
      </p:sp>
      <p:sp>
        <p:nvSpPr>
          <p:cNvPr id="41" name="Municipio"/>
          <p:cNvSpPr/>
          <p:nvPr/>
        </p:nvSpPr>
        <p:spPr>
          <a:xfrm>
            <a:off x="9994392" y="1783080"/>
            <a:ext cx="155448" cy="155448"/>
          </a:xfrm>
          <a:prstGeom prst="ellipse">
            <a:avLst/>
          </a:prstGeom>
          <a:solidFill>
            <a:srgbClr val="98A2B3">
              <a:alpha val="45000"/>
            </a:srgbClr>
          </a:solidFill>
          <a:ln/>
        </p:spPr>
      </p:sp>
      <p:sp>
        <p:nvSpPr>
          <p:cNvPr id="42" name="Municipio"/>
          <p:cNvSpPr/>
          <p:nvPr/>
        </p:nvSpPr>
        <p:spPr>
          <a:xfrm>
            <a:off x="10305288" y="1783080"/>
            <a:ext cx="155448" cy="155448"/>
          </a:xfrm>
          <a:prstGeom prst="ellipse">
            <a:avLst/>
          </a:prstGeom>
          <a:solidFill>
            <a:srgbClr val="98A2B3">
              <a:alpha val="45000"/>
            </a:srgbClr>
          </a:solidFill>
          <a:ln/>
        </p:spPr>
      </p:sp>
      <p:sp>
        <p:nvSpPr>
          <p:cNvPr id="43" name="Municipio"/>
          <p:cNvSpPr/>
          <p:nvPr/>
        </p:nvSpPr>
        <p:spPr>
          <a:xfrm>
            <a:off x="10616184" y="1783080"/>
            <a:ext cx="155448" cy="155448"/>
          </a:xfrm>
          <a:prstGeom prst="ellipse">
            <a:avLst/>
          </a:prstGeom>
          <a:solidFill>
            <a:srgbClr val="98A2B3">
              <a:alpha val="45000"/>
            </a:srgbClr>
          </a:solidFill>
          <a:ln/>
        </p:spPr>
      </p:sp>
      <p:sp>
        <p:nvSpPr>
          <p:cNvPr id="44" name="Municipio"/>
          <p:cNvSpPr/>
          <p:nvPr/>
        </p:nvSpPr>
        <p:spPr>
          <a:xfrm>
            <a:off x="10927080" y="1783080"/>
            <a:ext cx="155448" cy="155448"/>
          </a:xfrm>
          <a:prstGeom prst="ellipse">
            <a:avLst/>
          </a:prstGeom>
          <a:solidFill>
            <a:srgbClr val="98A2B3">
              <a:alpha val="45000"/>
            </a:srgbClr>
          </a:solidFill>
          <a:ln/>
        </p:spPr>
      </p:sp>
      <p:sp>
        <p:nvSpPr>
          <p:cNvPr id="45" name="Municipio"/>
          <p:cNvSpPr/>
          <p:nvPr/>
        </p:nvSpPr>
        <p:spPr>
          <a:xfrm>
            <a:off x="11237976" y="1783080"/>
            <a:ext cx="155448" cy="155448"/>
          </a:xfrm>
          <a:prstGeom prst="ellipse">
            <a:avLst/>
          </a:prstGeom>
          <a:solidFill>
            <a:srgbClr val="98A2B3">
              <a:alpha val="45000"/>
            </a:srgbClr>
          </a:solidFill>
          <a:ln/>
        </p:spPr>
      </p:sp>
      <p:sp>
        <p:nvSpPr>
          <p:cNvPr id="46" name="Municipio piloto"/>
          <p:cNvSpPr/>
          <p:nvPr/>
        </p:nvSpPr>
        <p:spPr>
          <a:xfrm>
            <a:off x="11548872" y="1783080"/>
            <a:ext cx="155448" cy="155448"/>
          </a:xfrm>
          <a:prstGeom prst="ellipse">
            <a:avLst/>
          </a:prstGeom>
          <a:solidFill>
            <a:schemeClr val="accent6"/>
          </a:solidFill>
          <a:ln/>
        </p:spPr>
      </p:sp>
      <p:sp>
        <p:nvSpPr>
          <p:cNvPr id="47" name="Municipio"/>
          <p:cNvSpPr/>
          <p:nvPr/>
        </p:nvSpPr>
        <p:spPr>
          <a:xfrm>
            <a:off x="7818120" y="2148840"/>
            <a:ext cx="155448" cy="155448"/>
          </a:xfrm>
          <a:prstGeom prst="ellipse">
            <a:avLst/>
          </a:prstGeom>
          <a:solidFill>
            <a:srgbClr val="98A2B3">
              <a:alpha val="45000"/>
            </a:srgbClr>
          </a:solidFill>
          <a:ln/>
        </p:spPr>
      </p:sp>
      <p:sp>
        <p:nvSpPr>
          <p:cNvPr id="48" name="Municipio"/>
          <p:cNvSpPr/>
          <p:nvPr/>
        </p:nvSpPr>
        <p:spPr>
          <a:xfrm>
            <a:off x="8129016" y="2148840"/>
            <a:ext cx="155448" cy="155448"/>
          </a:xfrm>
          <a:prstGeom prst="ellipse">
            <a:avLst/>
          </a:prstGeom>
          <a:solidFill>
            <a:srgbClr val="98A2B3">
              <a:alpha val="45000"/>
            </a:srgbClr>
          </a:solidFill>
          <a:ln/>
        </p:spPr>
      </p:sp>
      <p:sp>
        <p:nvSpPr>
          <p:cNvPr id="49" name="Municipio"/>
          <p:cNvSpPr/>
          <p:nvPr/>
        </p:nvSpPr>
        <p:spPr>
          <a:xfrm>
            <a:off x="8439912" y="2148840"/>
            <a:ext cx="155448" cy="155448"/>
          </a:xfrm>
          <a:prstGeom prst="ellipse">
            <a:avLst/>
          </a:prstGeom>
          <a:solidFill>
            <a:srgbClr val="98A2B3">
              <a:alpha val="45000"/>
            </a:srgbClr>
          </a:solidFill>
          <a:ln/>
        </p:spPr>
      </p:sp>
      <p:sp>
        <p:nvSpPr>
          <p:cNvPr id="50" name="Municipio piloto"/>
          <p:cNvSpPr/>
          <p:nvPr/>
        </p:nvSpPr>
        <p:spPr>
          <a:xfrm>
            <a:off x="8750808" y="2148840"/>
            <a:ext cx="155448" cy="155448"/>
          </a:xfrm>
          <a:prstGeom prst="ellipse">
            <a:avLst/>
          </a:prstGeom>
          <a:solidFill>
            <a:schemeClr val="accent6"/>
          </a:solidFill>
          <a:ln/>
        </p:spPr>
      </p:sp>
      <p:sp>
        <p:nvSpPr>
          <p:cNvPr id="51" name="Municipio"/>
          <p:cNvSpPr/>
          <p:nvPr/>
        </p:nvSpPr>
        <p:spPr>
          <a:xfrm>
            <a:off x="9061704" y="2148840"/>
            <a:ext cx="155448" cy="155448"/>
          </a:xfrm>
          <a:prstGeom prst="ellipse">
            <a:avLst/>
          </a:prstGeom>
          <a:solidFill>
            <a:srgbClr val="98A2B3">
              <a:alpha val="45000"/>
            </a:srgbClr>
          </a:solidFill>
          <a:ln/>
        </p:spPr>
      </p:sp>
      <p:sp>
        <p:nvSpPr>
          <p:cNvPr id="52" name="Municipio"/>
          <p:cNvSpPr/>
          <p:nvPr/>
        </p:nvSpPr>
        <p:spPr>
          <a:xfrm>
            <a:off x="9372600" y="2148840"/>
            <a:ext cx="155448" cy="155448"/>
          </a:xfrm>
          <a:prstGeom prst="ellipse">
            <a:avLst/>
          </a:prstGeom>
          <a:solidFill>
            <a:srgbClr val="98A2B3">
              <a:alpha val="45000"/>
            </a:srgbClr>
          </a:solidFill>
          <a:ln/>
        </p:spPr>
      </p:sp>
      <p:sp>
        <p:nvSpPr>
          <p:cNvPr id="53" name="Municipio"/>
          <p:cNvSpPr/>
          <p:nvPr/>
        </p:nvSpPr>
        <p:spPr>
          <a:xfrm>
            <a:off x="9683496" y="2148840"/>
            <a:ext cx="155448" cy="155448"/>
          </a:xfrm>
          <a:prstGeom prst="ellipse">
            <a:avLst/>
          </a:prstGeom>
          <a:solidFill>
            <a:srgbClr val="98A2B3">
              <a:alpha val="45000"/>
            </a:srgbClr>
          </a:solidFill>
          <a:ln/>
        </p:spPr>
      </p:sp>
      <p:sp>
        <p:nvSpPr>
          <p:cNvPr id="54" name="Municipio"/>
          <p:cNvSpPr/>
          <p:nvPr/>
        </p:nvSpPr>
        <p:spPr>
          <a:xfrm>
            <a:off x="9994392" y="2148840"/>
            <a:ext cx="155448" cy="155448"/>
          </a:xfrm>
          <a:prstGeom prst="ellipse">
            <a:avLst/>
          </a:prstGeom>
          <a:solidFill>
            <a:srgbClr val="98A2B3">
              <a:alpha val="45000"/>
            </a:srgbClr>
          </a:solidFill>
          <a:ln/>
        </p:spPr>
      </p:sp>
      <p:sp>
        <p:nvSpPr>
          <p:cNvPr id="55" name="Municipio"/>
          <p:cNvSpPr/>
          <p:nvPr/>
        </p:nvSpPr>
        <p:spPr>
          <a:xfrm>
            <a:off x="10305288" y="2148840"/>
            <a:ext cx="155448" cy="155448"/>
          </a:xfrm>
          <a:prstGeom prst="ellipse">
            <a:avLst/>
          </a:prstGeom>
          <a:solidFill>
            <a:srgbClr val="98A2B3">
              <a:alpha val="45000"/>
            </a:srgbClr>
          </a:solidFill>
          <a:ln/>
        </p:spPr>
      </p:sp>
      <p:sp>
        <p:nvSpPr>
          <p:cNvPr id="56" name="Municipio"/>
          <p:cNvSpPr/>
          <p:nvPr/>
        </p:nvSpPr>
        <p:spPr>
          <a:xfrm>
            <a:off x="10616184" y="2148840"/>
            <a:ext cx="155448" cy="155448"/>
          </a:xfrm>
          <a:prstGeom prst="ellipse">
            <a:avLst/>
          </a:prstGeom>
          <a:solidFill>
            <a:srgbClr val="98A2B3">
              <a:alpha val="45000"/>
            </a:srgbClr>
          </a:solidFill>
          <a:ln/>
        </p:spPr>
      </p:sp>
      <p:sp>
        <p:nvSpPr>
          <p:cNvPr id="57" name="Municipio"/>
          <p:cNvSpPr/>
          <p:nvPr/>
        </p:nvSpPr>
        <p:spPr>
          <a:xfrm>
            <a:off x="10927080" y="2148840"/>
            <a:ext cx="155448" cy="155448"/>
          </a:xfrm>
          <a:prstGeom prst="ellipse">
            <a:avLst/>
          </a:prstGeom>
          <a:solidFill>
            <a:srgbClr val="98A2B3">
              <a:alpha val="45000"/>
            </a:srgbClr>
          </a:solidFill>
          <a:ln/>
        </p:spPr>
      </p:sp>
      <p:sp>
        <p:nvSpPr>
          <p:cNvPr id="58" name="Municipio piloto"/>
          <p:cNvSpPr/>
          <p:nvPr/>
        </p:nvSpPr>
        <p:spPr>
          <a:xfrm>
            <a:off x="11237976" y="2148840"/>
            <a:ext cx="155448" cy="155448"/>
          </a:xfrm>
          <a:prstGeom prst="ellipse">
            <a:avLst/>
          </a:prstGeom>
          <a:solidFill>
            <a:schemeClr val="accent6"/>
          </a:solidFill>
          <a:ln/>
        </p:spPr>
      </p:sp>
      <p:sp>
        <p:nvSpPr>
          <p:cNvPr id="59" name="Municipio"/>
          <p:cNvSpPr/>
          <p:nvPr/>
        </p:nvSpPr>
        <p:spPr>
          <a:xfrm>
            <a:off x="11548872" y="2148840"/>
            <a:ext cx="155448" cy="155448"/>
          </a:xfrm>
          <a:prstGeom prst="ellipse">
            <a:avLst/>
          </a:prstGeom>
          <a:solidFill>
            <a:srgbClr val="98A2B3">
              <a:alpha val="45000"/>
            </a:srgbClr>
          </a:solidFill>
          <a:ln/>
        </p:spPr>
      </p:sp>
      <p:sp>
        <p:nvSpPr>
          <p:cNvPr id="60" name="Municipio"/>
          <p:cNvSpPr/>
          <p:nvPr/>
        </p:nvSpPr>
        <p:spPr>
          <a:xfrm>
            <a:off x="7818120" y="2514600"/>
            <a:ext cx="155448" cy="155448"/>
          </a:xfrm>
          <a:prstGeom prst="ellipse">
            <a:avLst/>
          </a:prstGeom>
          <a:solidFill>
            <a:srgbClr val="98A2B3">
              <a:alpha val="45000"/>
            </a:srgbClr>
          </a:solidFill>
          <a:ln/>
        </p:spPr>
      </p:sp>
      <p:sp>
        <p:nvSpPr>
          <p:cNvPr id="61" name="Municipio"/>
          <p:cNvSpPr/>
          <p:nvPr/>
        </p:nvSpPr>
        <p:spPr>
          <a:xfrm>
            <a:off x="8129016" y="2514600"/>
            <a:ext cx="155448" cy="155448"/>
          </a:xfrm>
          <a:prstGeom prst="ellipse">
            <a:avLst/>
          </a:prstGeom>
          <a:solidFill>
            <a:srgbClr val="98A2B3">
              <a:alpha val="45000"/>
            </a:srgbClr>
          </a:solidFill>
          <a:ln/>
        </p:spPr>
      </p:sp>
      <p:sp>
        <p:nvSpPr>
          <p:cNvPr id="62" name="Municipio"/>
          <p:cNvSpPr/>
          <p:nvPr/>
        </p:nvSpPr>
        <p:spPr>
          <a:xfrm>
            <a:off x="8439912" y="2514600"/>
            <a:ext cx="155448" cy="155448"/>
          </a:xfrm>
          <a:prstGeom prst="ellipse">
            <a:avLst/>
          </a:prstGeom>
          <a:solidFill>
            <a:srgbClr val="98A2B3">
              <a:alpha val="45000"/>
            </a:srgbClr>
          </a:solidFill>
          <a:ln/>
        </p:spPr>
      </p:sp>
      <p:sp>
        <p:nvSpPr>
          <p:cNvPr id="63" name="Municipio"/>
          <p:cNvSpPr/>
          <p:nvPr/>
        </p:nvSpPr>
        <p:spPr>
          <a:xfrm>
            <a:off x="8750808" y="2514600"/>
            <a:ext cx="155448" cy="155448"/>
          </a:xfrm>
          <a:prstGeom prst="ellipse">
            <a:avLst/>
          </a:prstGeom>
          <a:solidFill>
            <a:srgbClr val="98A2B3">
              <a:alpha val="45000"/>
            </a:srgbClr>
          </a:solidFill>
          <a:ln/>
        </p:spPr>
      </p:sp>
      <p:sp>
        <p:nvSpPr>
          <p:cNvPr id="64" name="Municipio piloto"/>
          <p:cNvSpPr/>
          <p:nvPr/>
        </p:nvSpPr>
        <p:spPr>
          <a:xfrm>
            <a:off x="9061704" y="2514600"/>
            <a:ext cx="155448" cy="155448"/>
          </a:xfrm>
          <a:prstGeom prst="ellipse">
            <a:avLst/>
          </a:prstGeom>
          <a:solidFill>
            <a:schemeClr val="accent6"/>
          </a:solidFill>
          <a:ln/>
        </p:spPr>
      </p:sp>
      <p:sp>
        <p:nvSpPr>
          <p:cNvPr id="65" name="Municipio"/>
          <p:cNvSpPr/>
          <p:nvPr/>
        </p:nvSpPr>
        <p:spPr>
          <a:xfrm>
            <a:off x="9372600" y="2514600"/>
            <a:ext cx="155448" cy="155448"/>
          </a:xfrm>
          <a:prstGeom prst="ellipse">
            <a:avLst/>
          </a:prstGeom>
          <a:solidFill>
            <a:srgbClr val="98A2B3">
              <a:alpha val="45000"/>
            </a:srgbClr>
          </a:solidFill>
          <a:ln/>
        </p:spPr>
      </p:sp>
      <p:sp>
        <p:nvSpPr>
          <p:cNvPr id="66" name="Municipio"/>
          <p:cNvSpPr/>
          <p:nvPr/>
        </p:nvSpPr>
        <p:spPr>
          <a:xfrm>
            <a:off x="9683496" y="2514600"/>
            <a:ext cx="155448" cy="155448"/>
          </a:xfrm>
          <a:prstGeom prst="ellipse">
            <a:avLst/>
          </a:prstGeom>
          <a:solidFill>
            <a:srgbClr val="98A2B3">
              <a:alpha val="45000"/>
            </a:srgbClr>
          </a:solidFill>
          <a:ln/>
        </p:spPr>
      </p:sp>
      <p:sp>
        <p:nvSpPr>
          <p:cNvPr id="67" name="Municipio piloto"/>
          <p:cNvSpPr/>
          <p:nvPr/>
        </p:nvSpPr>
        <p:spPr>
          <a:xfrm>
            <a:off x="9994392" y="2514600"/>
            <a:ext cx="155448" cy="155448"/>
          </a:xfrm>
          <a:prstGeom prst="ellipse">
            <a:avLst/>
          </a:prstGeom>
          <a:solidFill>
            <a:schemeClr val="accent6"/>
          </a:solidFill>
          <a:ln/>
        </p:spPr>
      </p:sp>
      <p:sp>
        <p:nvSpPr>
          <p:cNvPr id="68" name="Municipio"/>
          <p:cNvSpPr/>
          <p:nvPr/>
        </p:nvSpPr>
        <p:spPr>
          <a:xfrm>
            <a:off x="10305288" y="2514600"/>
            <a:ext cx="155448" cy="155448"/>
          </a:xfrm>
          <a:prstGeom prst="ellipse">
            <a:avLst/>
          </a:prstGeom>
          <a:solidFill>
            <a:srgbClr val="98A2B3">
              <a:alpha val="45000"/>
            </a:srgbClr>
          </a:solidFill>
          <a:ln/>
        </p:spPr>
      </p:sp>
      <p:sp>
        <p:nvSpPr>
          <p:cNvPr id="69" name="Municipio"/>
          <p:cNvSpPr/>
          <p:nvPr/>
        </p:nvSpPr>
        <p:spPr>
          <a:xfrm>
            <a:off x="10616184" y="2514600"/>
            <a:ext cx="155448" cy="155448"/>
          </a:xfrm>
          <a:prstGeom prst="ellipse">
            <a:avLst/>
          </a:prstGeom>
          <a:solidFill>
            <a:srgbClr val="98A2B3">
              <a:alpha val="45000"/>
            </a:srgbClr>
          </a:solidFill>
          <a:ln/>
        </p:spPr>
      </p:sp>
      <p:sp>
        <p:nvSpPr>
          <p:cNvPr id="70" name="Municipio"/>
          <p:cNvSpPr/>
          <p:nvPr/>
        </p:nvSpPr>
        <p:spPr>
          <a:xfrm>
            <a:off x="10927080" y="2514600"/>
            <a:ext cx="155448" cy="155448"/>
          </a:xfrm>
          <a:prstGeom prst="ellipse">
            <a:avLst/>
          </a:prstGeom>
          <a:solidFill>
            <a:srgbClr val="98A2B3">
              <a:alpha val="45000"/>
            </a:srgbClr>
          </a:solidFill>
          <a:ln/>
        </p:spPr>
      </p:sp>
      <p:sp>
        <p:nvSpPr>
          <p:cNvPr id="71" name="Municipio"/>
          <p:cNvSpPr/>
          <p:nvPr/>
        </p:nvSpPr>
        <p:spPr>
          <a:xfrm>
            <a:off x="11237976" y="2514600"/>
            <a:ext cx="155448" cy="155448"/>
          </a:xfrm>
          <a:prstGeom prst="ellipse">
            <a:avLst/>
          </a:prstGeom>
          <a:solidFill>
            <a:srgbClr val="98A2B3">
              <a:alpha val="45000"/>
            </a:srgbClr>
          </a:solidFill>
          <a:ln/>
        </p:spPr>
      </p:sp>
      <p:sp>
        <p:nvSpPr>
          <p:cNvPr id="72" name="Municipio"/>
          <p:cNvSpPr/>
          <p:nvPr/>
        </p:nvSpPr>
        <p:spPr>
          <a:xfrm>
            <a:off x="11548872" y="2514600"/>
            <a:ext cx="155448" cy="155448"/>
          </a:xfrm>
          <a:prstGeom prst="ellipse">
            <a:avLst/>
          </a:prstGeom>
          <a:solidFill>
            <a:srgbClr val="98A2B3">
              <a:alpha val="45000"/>
            </a:srgbClr>
          </a:solidFill>
          <a:ln/>
        </p:spPr>
      </p:sp>
      <p:sp>
        <p:nvSpPr>
          <p:cNvPr id="73" name="Municipio piloto"/>
          <p:cNvSpPr/>
          <p:nvPr/>
        </p:nvSpPr>
        <p:spPr>
          <a:xfrm>
            <a:off x="7818120" y="2880360"/>
            <a:ext cx="155448" cy="155448"/>
          </a:xfrm>
          <a:prstGeom prst="ellipse">
            <a:avLst/>
          </a:prstGeom>
          <a:solidFill>
            <a:schemeClr val="accent6"/>
          </a:solidFill>
          <a:ln/>
        </p:spPr>
      </p:sp>
      <p:sp>
        <p:nvSpPr>
          <p:cNvPr id="74" name="Municipio"/>
          <p:cNvSpPr/>
          <p:nvPr/>
        </p:nvSpPr>
        <p:spPr>
          <a:xfrm>
            <a:off x="8129016" y="2880360"/>
            <a:ext cx="155448" cy="155448"/>
          </a:xfrm>
          <a:prstGeom prst="ellipse">
            <a:avLst/>
          </a:prstGeom>
          <a:solidFill>
            <a:srgbClr val="98A2B3">
              <a:alpha val="45000"/>
            </a:srgbClr>
          </a:solidFill>
          <a:ln/>
        </p:spPr>
      </p:sp>
      <p:sp>
        <p:nvSpPr>
          <p:cNvPr id="75" name="Municipio"/>
          <p:cNvSpPr/>
          <p:nvPr/>
        </p:nvSpPr>
        <p:spPr>
          <a:xfrm>
            <a:off x="8439912" y="2880360"/>
            <a:ext cx="155448" cy="155448"/>
          </a:xfrm>
          <a:prstGeom prst="ellipse">
            <a:avLst/>
          </a:prstGeom>
          <a:solidFill>
            <a:srgbClr val="98A2B3">
              <a:alpha val="45000"/>
            </a:srgbClr>
          </a:solidFill>
          <a:ln/>
        </p:spPr>
      </p:sp>
      <p:sp>
        <p:nvSpPr>
          <p:cNvPr id="76" name="Municipio"/>
          <p:cNvSpPr/>
          <p:nvPr/>
        </p:nvSpPr>
        <p:spPr>
          <a:xfrm>
            <a:off x="8750808" y="2880360"/>
            <a:ext cx="155448" cy="155448"/>
          </a:xfrm>
          <a:prstGeom prst="ellipse">
            <a:avLst/>
          </a:prstGeom>
          <a:solidFill>
            <a:srgbClr val="98A2B3">
              <a:alpha val="45000"/>
            </a:srgbClr>
          </a:solidFill>
          <a:ln/>
        </p:spPr>
      </p:sp>
      <p:sp>
        <p:nvSpPr>
          <p:cNvPr id="77" name="Municipio"/>
          <p:cNvSpPr/>
          <p:nvPr/>
        </p:nvSpPr>
        <p:spPr>
          <a:xfrm>
            <a:off x="9061704" y="2880360"/>
            <a:ext cx="155448" cy="155448"/>
          </a:xfrm>
          <a:prstGeom prst="ellipse">
            <a:avLst/>
          </a:prstGeom>
          <a:solidFill>
            <a:srgbClr val="98A2B3">
              <a:alpha val="45000"/>
            </a:srgbClr>
          </a:solidFill>
          <a:ln/>
        </p:spPr>
      </p:sp>
      <p:sp>
        <p:nvSpPr>
          <p:cNvPr id="78" name="Municipio"/>
          <p:cNvSpPr/>
          <p:nvPr/>
        </p:nvSpPr>
        <p:spPr>
          <a:xfrm>
            <a:off x="9372600" y="2880360"/>
            <a:ext cx="155448" cy="155448"/>
          </a:xfrm>
          <a:prstGeom prst="ellipse">
            <a:avLst/>
          </a:prstGeom>
          <a:solidFill>
            <a:srgbClr val="98A2B3">
              <a:alpha val="45000"/>
            </a:srgbClr>
          </a:solidFill>
          <a:ln/>
        </p:spPr>
      </p:sp>
      <p:sp>
        <p:nvSpPr>
          <p:cNvPr id="79" name="Municipio"/>
          <p:cNvSpPr/>
          <p:nvPr/>
        </p:nvSpPr>
        <p:spPr>
          <a:xfrm>
            <a:off x="9683496" y="2880360"/>
            <a:ext cx="155448" cy="155448"/>
          </a:xfrm>
          <a:prstGeom prst="ellipse">
            <a:avLst/>
          </a:prstGeom>
          <a:solidFill>
            <a:srgbClr val="98A2B3">
              <a:alpha val="45000"/>
            </a:srgbClr>
          </a:solidFill>
          <a:ln/>
        </p:spPr>
      </p:sp>
      <p:sp>
        <p:nvSpPr>
          <p:cNvPr id="80" name="Municipio"/>
          <p:cNvSpPr/>
          <p:nvPr/>
        </p:nvSpPr>
        <p:spPr>
          <a:xfrm>
            <a:off x="9994392" y="2880360"/>
            <a:ext cx="155448" cy="155448"/>
          </a:xfrm>
          <a:prstGeom prst="ellipse">
            <a:avLst/>
          </a:prstGeom>
          <a:solidFill>
            <a:srgbClr val="98A2B3">
              <a:alpha val="45000"/>
            </a:srgbClr>
          </a:solidFill>
          <a:ln/>
        </p:spPr>
      </p:sp>
      <p:sp>
        <p:nvSpPr>
          <p:cNvPr id="81" name="Municipio"/>
          <p:cNvSpPr/>
          <p:nvPr/>
        </p:nvSpPr>
        <p:spPr>
          <a:xfrm>
            <a:off x="10305288" y="2880360"/>
            <a:ext cx="155448" cy="155448"/>
          </a:xfrm>
          <a:prstGeom prst="ellipse">
            <a:avLst/>
          </a:prstGeom>
          <a:solidFill>
            <a:srgbClr val="98A2B3">
              <a:alpha val="45000"/>
            </a:srgbClr>
          </a:solidFill>
          <a:ln/>
        </p:spPr>
      </p:sp>
      <p:sp>
        <p:nvSpPr>
          <p:cNvPr id="82" name="Municipio"/>
          <p:cNvSpPr/>
          <p:nvPr/>
        </p:nvSpPr>
        <p:spPr>
          <a:xfrm>
            <a:off x="10616184" y="2880360"/>
            <a:ext cx="155448" cy="155448"/>
          </a:xfrm>
          <a:prstGeom prst="ellipse">
            <a:avLst/>
          </a:prstGeom>
          <a:solidFill>
            <a:srgbClr val="98A2B3">
              <a:alpha val="45000"/>
            </a:srgbClr>
          </a:solidFill>
          <a:ln/>
        </p:spPr>
      </p:sp>
      <p:sp>
        <p:nvSpPr>
          <p:cNvPr id="83" name="Municipio piloto"/>
          <p:cNvSpPr/>
          <p:nvPr/>
        </p:nvSpPr>
        <p:spPr>
          <a:xfrm>
            <a:off x="10927080" y="2880360"/>
            <a:ext cx="155448" cy="155448"/>
          </a:xfrm>
          <a:prstGeom prst="ellipse">
            <a:avLst/>
          </a:prstGeom>
          <a:solidFill>
            <a:schemeClr val="accent6"/>
          </a:solidFill>
          <a:ln/>
        </p:spPr>
      </p:sp>
      <p:sp>
        <p:nvSpPr>
          <p:cNvPr id="84" name="Municipio"/>
          <p:cNvSpPr/>
          <p:nvPr/>
        </p:nvSpPr>
        <p:spPr>
          <a:xfrm>
            <a:off x="11237976" y="2880360"/>
            <a:ext cx="155448" cy="155448"/>
          </a:xfrm>
          <a:prstGeom prst="ellipse">
            <a:avLst/>
          </a:prstGeom>
          <a:solidFill>
            <a:srgbClr val="98A2B3">
              <a:alpha val="45000"/>
            </a:srgbClr>
          </a:solidFill>
          <a:ln/>
        </p:spPr>
      </p:sp>
      <p:sp>
        <p:nvSpPr>
          <p:cNvPr id="85" name="Municipio"/>
          <p:cNvSpPr/>
          <p:nvPr/>
        </p:nvSpPr>
        <p:spPr>
          <a:xfrm>
            <a:off x="11548872" y="2880360"/>
            <a:ext cx="155448" cy="155448"/>
          </a:xfrm>
          <a:prstGeom prst="ellipse">
            <a:avLst/>
          </a:prstGeom>
          <a:solidFill>
            <a:srgbClr val="98A2B3">
              <a:alpha val="45000"/>
            </a:srgbClr>
          </a:solidFill>
          <a:ln/>
        </p:spPr>
      </p:sp>
      <p:sp>
        <p:nvSpPr>
          <p:cNvPr id="86" name="Municipio piloto"/>
          <p:cNvSpPr/>
          <p:nvPr/>
        </p:nvSpPr>
        <p:spPr>
          <a:xfrm>
            <a:off x="7818120" y="3246120"/>
            <a:ext cx="155448" cy="155448"/>
          </a:xfrm>
          <a:prstGeom prst="ellipse">
            <a:avLst/>
          </a:prstGeom>
          <a:solidFill>
            <a:schemeClr val="accent6"/>
          </a:solidFill>
          <a:ln/>
        </p:spPr>
      </p:sp>
      <p:sp>
        <p:nvSpPr>
          <p:cNvPr id="87" name="Municipio"/>
          <p:cNvSpPr/>
          <p:nvPr/>
        </p:nvSpPr>
        <p:spPr>
          <a:xfrm>
            <a:off x="8129016" y="3246120"/>
            <a:ext cx="155448" cy="155448"/>
          </a:xfrm>
          <a:prstGeom prst="ellipse">
            <a:avLst/>
          </a:prstGeom>
          <a:solidFill>
            <a:srgbClr val="98A2B3">
              <a:alpha val="45000"/>
            </a:srgbClr>
          </a:solidFill>
          <a:ln/>
        </p:spPr>
      </p:sp>
      <p:sp>
        <p:nvSpPr>
          <p:cNvPr id="88" name="Municipio"/>
          <p:cNvSpPr/>
          <p:nvPr/>
        </p:nvSpPr>
        <p:spPr>
          <a:xfrm>
            <a:off x="8439912" y="3246120"/>
            <a:ext cx="155448" cy="155448"/>
          </a:xfrm>
          <a:prstGeom prst="ellipse">
            <a:avLst/>
          </a:prstGeom>
          <a:solidFill>
            <a:srgbClr val="98A2B3">
              <a:alpha val="45000"/>
            </a:srgbClr>
          </a:solidFill>
          <a:ln/>
        </p:spPr>
      </p:sp>
      <p:sp>
        <p:nvSpPr>
          <p:cNvPr id="89" name="Municipio"/>
          <p:cNvSpPr/>
          <p:nvPr/>
        </p:nvSpPr>
        <p:spPr>
          <a:xfrm>
            <a:off x="8750808" y="3246120"/>
            <a:ext cx="155448" cy="155448"/>
          </a:xfrm>
          <a:prstGeom prst="ellipse">
            <a:avLst/>
          </a:prstGeom>
          <a:solidFill>
            <a:srgbClr val="98A2B3">
              <a:alpha val="45000"/>
            </a:srgbClr>
          </a:solidFill>
          <a:ln/>
        </p:spPr>
      </p:sp>
      <p:sp>
        <p:nvSpPr>
          <p:cNvPr id="90" name="Municipio"/>
          <p:cNvSpPr/>
          <p:nvPr/>
        </p:nvSpPr>
        <p:spPr>
          <a:xfrm>
            <a:off x="9061704" y="3246120"/>
            <a:ext cx="155448" cy="155448"/>
          </a:xfrm>
          <a:prstGeom prst="ellipse">
            <a:avLst/>
          </a:prstGeom>
          <a:solidFill>
            <a:srgbClr val="98A2B3">
              <a:alpha val="45000"/>
            </a:srgbClr>
          </a:solidFill>
          <a:ln/>
        </p:spPr>
      </p:sp>
      <p:sp>
        <p:nvSpPr>
          <p:cNvPr id="91" name="Municipio"/>
          <p:cNvSpPr/>
          <p:nvPr/>
        </p:nvSpPr>
        <p:spPr>
          <a:xfrm>
            <a:off x="9372600" y="3246120"/>
            <a:ext cx="155448" cy="155448"/>
          </a:xfrm>
          <a:prstGeom prst="ellipse">
            <a:avLst/>
          </a:prstGeom>
          <a:solidFill>
            <a:srgbClr val="98A2B3">
              <a:alpha val="45000"/>
            </a:srgbClr>
          </a:solidFill>
          <a:ln/>
        </p:spPr>
      </p:sp>
      <p:sp>
        <p:nvSpPr>
          <p:cNvPr id="92" name="Municipio"/>
          <p:cNvSpPr/>
          <p:nvPr/>
        </p:nvSpPr>
        <p:spPr>
          <a:xfrm>
            <a:off x="9683496" y="3246120"/>
            <a:ext cx="155448" cy="155448"/>
          </a:xfrm>
          <a:prstGeom prst="ellipse">
            <a:avLst/>
          </a:prstGeom>
          <a:solidFill>
            <a:srgbClr val="98A2B3">
              <a:alpha val="45000"/>
            </a:srgbClr>
          </a:solidFill>
          <a:ln/>
        </p:spPr>
      </p:sp>
      <p:sp>
        <p:nvSpPr>
          <p:cNvPr id="93" name="Municipio"/>
          <p:cNvSpPr/>
          <p:nvPr/>
        </p:nvSpPr>
        <p:spPr>
          <a:xfrm>
            <a:off x="9994392" y="3246120"/>
            <a:ext cx="155448" cy="155448"/>
          </a:xfrm>
          <a:prstGeom prst="ellipse">
            <a:avLst/>
          </a:prstGeom>
          <a:solidFill>
            <a:srgbClr val="98A2B3">
              <a:alpha val="45000"/>
            </a:srgbClr>
          </a:solidFill>
          <a:ln/>
        </p:spPr>
      </p:sp>
      <p:sp>
        <p:nvSpPr>
          <p:cNvPr id="94" name="Municipio"/>
          <p:cNvSpPr/>
          <p:nvPr/>
        </p:nvSpPr>
        <p:spPr>
          <a:xfrm>
            <a:off x="10305288" y="3246120"/>
            <a:ext cx="155448" cy="155448"/>
          </a:xfrm>
          <a:prstGeom prst="ellipse">
            <a:avLst/>
          </a:prstGeom>
          <a:solidFill>
            <a:srgbClr val="98A2B3">
              <a:alpha val="45000"/>
            </a:srgbClr>
          </a:solidFill>
          <a:ln/>
        </p:spPr>
      </p:sp>
      <p:sp>
        <p:nvSpPr>
          <p:cNvPr id="95" name="Municipio"/>
          <p:cNvSpPr/>
          <p:nvPr/>
        </p:nvSpPr>
        <p:spPr>
          <a:xfrm>
            <a:off x="10616184" y="3246120"/>
            <a:ext cx="155448" cy="155448"/>
          </a:xfrm>
          <a:prstGeom prst="ellipse">
            <a:avLst/>
          </a:prstGeom>
          <a:solidFill>
            <a:srgbClr val="98A2B3">
              <a:alpha val="45000"/>
            </a:srgbClr>
          </a:solidFill>
          <a:ln/>
        </p:spPr>
      </p:sp>
      <p:sp>
        <p:nvSpPr>
          <p:cNvPr id="96" name="Municipio"/>
          <p:cNvSpPr/>
          <p:nvPr/>
        </p:nvSpPr>
        <p:spPr>
          <a:xfrm>
            <a:off x="10927080" y="3246120"/>
            <a:ext cx="155448" cy="155448"/>
          </a:xfrm>
          <a:prstGeom prst="ellipse">
            <a:avLst/>
          </a:prstGeom>
          <a:solidFill>
            <a:srgbClr val="98A2B3">
              <a:alpha val="45000"/>
            </a:srgbClr>
          </a:solidFill>
          <a:ln/>
        </p:spPr>
      </p:sp>
      <p:sp>
        <p:nvSpPr>
          <p:cNvPr id="97" name="Municipio"/>
          <p:cNvSpPr/>
          <p:nvPr/>
        </p:nvSpPr>
        <p:spPr>
          <a:xfrm>
            <a:off x="11237976" y="3246120"/>
            <a:ext cx="155448" cy="155448"/>
          </a:xfrm>
          <a:prstGeom prst="ellipse">
            <a:avLst/>
          </a:prstGeom>
          <a:solidFill>
            <a:srgbClr val="98A2B3">
              <a:alpha val="45000"/>
            </a:srgbClr>
          </a:solidFill>
          <a:ln/>
        </p:spPr>
      </p:sp>
      <p:sp>
        <p:nvSpPr>
          <p:cNvPr id="98" name="Municipio"/>
          <p:cNvSpPr/>
          <p:nvPr/>
        </p:nvSpPr>
        <p:spPr>
          <a:xfrm>
            <a:off x="11548872" y="3246120"/>
            <a:ext cx="155448" cy="155448"/>
          </a:xfrm>
          <a:prstGeom prst="ellipse">
            <a:avLst/>
          </a:prstGeom>
          <a:solidFill>
            <a:srgbClr val="98A2B3">
              <a:alpha val="45000"/>
            </a:srgbClr>
          </a:solidFill>
          <a:ln/>
        </p:spPr>
      </p:sp>
      <p:sp>
        <p:nvSpPr>
          <p:cNvPr id="99" name="Municipio"/>
          <p:cNvSpPr/>
          <p:nvPr/>
        </p:nvSpPr>
        <p:spPr>
          <a:xfrm>
            <a:off x="7818120" y="3611880"/>
            <a:ext cx="155448" cy="155448"/>
          </a:xfrm>
          <a:prstGeom prst="ellipse">
            <a:avLst/>
          </a:prstGeom>
          <a:solidFill>
            <a:srgbClr val="98A2B3">
              <a:alpha val="45000"/>
            </a:srgbClr>
          </a:solidFill>
          <a:ln/>
        </p:spPr>
      </p:sp>
      <p:sp>
        <p:nvSpPr>
          <p:cNvPr id="100" name="Municipio"/>
          <p:cNvSpPr/>
          <p:nvPr/>
        </p:nvSpPr>
        <p:spPr>
          <a:xfrm>
            <a:off x="8129016" y="3611880"/>
            <a:ext cx="155448" cy="155448"/>
          </a:xfrm>
          <a:prstGeom prst="ellipse">
            <a:avLst/>
          </a:prstGeom>
          <a:solidFill>
            <a:srgbClr val="98A2B3">
              <a:alpha val="45000"/>
            </a:srgbClr>
          </a:solidFill>
          <a:ln/>
        </p:spPr>
      </p:sp>
      <p:sp>
        <p:nvSpPr>
          <p:cNvPr id="101" name="Municipio"/>
          <p:cNvSpPr/>
          <p:nvPr/>
        </p:nvSpPr>
        <p:spPr>
          <a:xfrm>
            <a:off x="8439912" y="3611880"/>
            <a:ext cx="155448" cy="155448"/>
          </a:xfrm>
          <a:prstGeom prst="ellipse">
            <a:avLst/>
          </a:prstGeom>
          <a:solidFill>
            <a:srgbClr val="98A2B3">
              <a:alpha val="45000"/>
            </a:srgbClr>
          </a:solidFill>
          <a:ln/>
        </p:spPr>
      </p:sp>
      <p:sp>
        <p:nvSpPr>
          <p:cNvPr id="102" name="Municipio piloto"/>
          <p:cNvSpPr/>
          <p:nvPr/>
        </p:nvSpPr>
        <p:spPr>
          <a:xfrm>
            <a:off x="8750808" y="3611880"/>
            <a:ext cx="155448" cy="155448"/>
          </a:xfrm>
          <a:prstGeom prst="ellipse">
            <a:avLst/>
          </a:prstGeom>
          <a:solidFill>
            <a:schemeClr val="accent6"/>
          </a:solidFill>
          <a:ln/>
        </p:spPr>
      </p:sp>
      <p:sp>
        <p:nvSpPr>
          <p:cNvPr id="103" name="Municipio"/>
          <p:cNvSpPr/>
          <p:nvPr/>
        </p:nvSpPr>
        <p:spPr>
          <a:xfrm>
            <a:off x="9061704" y="3611880"/>
            <a:ext cx="155448" cy="155448"/>
          </a:xfrm>
          <a:prstGeom prst="ellipse">
            <a:avLst/>
          </a:prstGeom>
          <a:solidFill>
            <a:srgbClr val="98A2B3">
              <a:alpha val="45000"/>
            </a:srgbClr>
          </a:solidFill>
          <a:ln/>
        </p:spPr>
      </p:sp>
      <p:sp>
        <p:nvSpPr>
          <p:cNvPr id="104" name="Municipio"/>
          <p:cNvSpPr/>
          <p:nvPr/>
        </p:nvSpPr>
        <p:spPr>
          <a:xfrm>
            <a:off x="9372600" y="3611880"/>
            <a:ext cx="155448" cy="155448"/>
          </a:xfrm>
          <a:prstGeom prst="ellipse">
            <a:avLst/>
          </a:prstGeom>
          <a:solidFill>
            <a:srgbClr val="98A2B3">
              <a:alpha val="45000"/>
            </a:srgbClr>
          </a:solidFill>
          <a:ln/>
        </p:spPr>
      </p:sp>
      <p:sp>
        <p:nvSpPr>
          <p:cNvPr id="105" name="Municipio"/>
          <p:cNvSpPr/>
          <p:nvPr/>
        </p:nvSpPr>
        <p:spPr>
          <a:xfrm>
            <a:off x="9683496" y="3611880"/>
            <a:ext cx="155448" cy="155448"/>
          </a:xfrm>
          <a:prstGeom prst="ellipse">
            <a:avLst/>
          </a:prstGeom>
          <a:solidFill>
            <a:srgbClr val="98A2B3">
              <a:alpha val="45000"/>
            </a:srgbClr>
          </a:solidFill>
          <a:ln/>
        </p:spPr>
      </p:sp>
      <p:sp>
        <p:nvSpPr>
          <p:cNvPr id="106" name="Municipio"/>
          <p:cNvSpPr/>
          <p:nvPr/>
        </p:nvSpPr>
        <p:spPr>
          <a:xfrm>
            <a:off x="9994392" y="3611880"/>
            <a:ext cx="155448" cy="155448"/>
          </a:xfrm>
          <a:prstGeom prst="ellipse">
            <a:avLst/>
          </a:prstGeom>
          <a:solidFill>
            <a:srgbClr val="98A2B3">
              <a:alpha val="45000"/>
            </a:srgbClr>
          </a:solidFill>
          <a:ln/>
        </p:spPr>
      </p:sp>
      <p:sp>
        <p:nvSpPr>
          <p:cNvPr id="107" name="Municipio piloto"/>
          <p:cNvSpPr/>
          <p:nvPr/>
        </p:nvSpPr>
        <p:spPr>
          <a:xfrm>
            <a:off x="10305288" y="3611880"/>
            <a:ext cx="155448" cy="155448"/>
          </a:xfrm>
          <a:prstGeom prst="ellipse">
            <a:avLst/>
          </a:prstGeom>
          <a:solidFill>
            <a:schemeClr val="accent6"/>
          </a:solidFill>
          <a:ln/>
        </p:spPr>
      </p:sp>
      <p:sp>
        <p:nvSpPr>
          <p:cNvPr id="108" name="Municipio"/>
          <p:cNvSpPr/>
          <p:nvPr/>
        </p:nvSpPr>
        <p:spPr>
          <a:xfrm>
            <a:off x="10616184" y="3611880"/>
            <a:ext cx="155448" cy="155448"/>
          </a:xfrm>
          <a:prstGeom prst="ellipse">
            <a:avLst/>
          </a:prstGeom>
          <a:solidFill>
            <a:srgbClr val="98A2B3">
              <a:alpha val="45000"/>
            </a:srgbClr>
          </a:solidFill>
          <a:ln/>
        </p:spPr>
      </p:sp>
      <p:sp>
        <p:nvSpPr>
          <p:cNvPr id="109" name="Municipio"/>
          <p:cNvSpPr/>
          <p:nvPr/>
        </p:nvSpPr>
        <p:spPr>
          <a:xfrm>
            <a:off x="10927080" y="3611880"/>
            <a:ext cx="155448" cy="155448"/>
          </a:xfrm>
          <a:prstGeom prst="ellipse">
            <a:avLst/>
          </a:prstGeom>
          <a:solidFill>
            <a:srgbClr val="98A2B3">
              <a:alpha val="45000"/>
            </a:srgbClr>
          </a:solidFill>
          <a:ln/>
        </p:spPr>
      </p:sp>
      <p:sp>
        <p:nvSpPr>
          <p:cNvPr id="110" name="Municipio"/>
          <p:cNvSpPr/>
          <p:nvPr/>
        </p:nvSpPr>
        <p:spPr>
          <a:xfrm>
            <a:off x="11237976" y="3611880"/>
            <a:ext cx="155448" cy="155448"/>
          </a:xfrm>
          <a:prstGeom prst="ellipse">
            <a:avLst/>
          </a:prstGeom>
          <a:solidFill>
            <a:srgbClr val="98A2B3">
              <a:alpha val="45000"/>
            </a:srgbClr>
          </a:solidFill>
          <a:ln/>
        </p:spPr>
      </p:sp>
      <p:sp>
        <p:nvSpPr>
          <p:cNvPr id="111" name="Municipio"/>
          <p:cNvSpPr/>
          <p:nvPr/>
        </p:nvSpPr>
        <p:spPr>
          <a:xfrm>
            <a:off x="11548872" y="3611880"/>
            <a:ext cx="155448" cy="155448"/>
          </a:xfrm>
          <a:prstGeom prst="ellipse">
            <a:avLst/>
          </a:prstGeom>
          <a:solidFill>
            <a:srgbClr val="98A2B3">
              <a:alpha val="45000"/>
            </a:srgbClr>
          </a:solidFill>
          <a:ln/>
        </p:spPr>
      </p:sp>
      <p:sp>
        <p:nvSpPr>
          <p:cNvPr id="112" name="Municipio"/>
          <p:cNvSpPr/>
          <p:nvPr/>
        </p:nvSpPr>
        <p:spPr>
          <a:xfrm>
            <a:off x="7818120" y="3977640"/>
            <a:ext cx="155448" cy="155448"/>
          </a:xfrm>
          <a:prstGeom prst="ellipse">
            <a:avLst/>
          </a:prstGeom>
          <a:solidFill>
            <a:srgbClr val="98A2B3">
              <a:alpha val="45000"/>
            </a:srgbClr>
          </a:solidFill>
          <a:ln/>
        </p:spPr>
      </p:sp>
      <p:sp>
        <p:nvSpPr>
          <p:cNvPr id="113" name="Municipio"/>
          <p:cNvSpPr/>
          <p:nvPr/>
        </p:nvSpPr>
        <p:spPr>
          <a:xfrm>
            <a:off x="8129016" y="3977640"/>
            <a:ext cx="155448" cy="155448"/>
          </a:xfrm>
          <a:prstGeom prst="ellipse">
            <a:avLst/>
          </a:prstGeom>
          <a:solidFill>
            <a:srgbClr val="98A2B3">
              <a:alpha val="45000"/>
            </a:srgbClr>
          </a:solidFill>
          <a:ln/>
        </p:spPr>
      </p:sp>
      <p:sp>
        <p:nvSpPr>
          <p:cNvPr id="114" name="Municipio"/>
          <p:cNvSpPr/>
          <p:nvPr/>
        </p:nvSpPr>
        <p:spPr>
          <a:xfrm>
            <a:off x="8439912" y="3977640"/>
            <a:ext cx="155448" cy="155448"/>
          </a:xfrm>
          <a:prstGeom prst="ellipse">
            <a:avLst/>
          </a:prstGeom>
          <a:solidFill>
            <a:srgbClr val="98A2B3">
              <a:alpha val="45000"/>
            </a:srgbClr>
          </a:solidFill>
          <a:ln/>
        </p:spPr>
      </p:sp>
      <p:sp>
        <p:nvSpPr>
          <p:cNvPr id="115" name="Municipio"/>
          <p:cNvSpPr/>
          <p:nvPr/>
        </p:nvSpPr>
        <p:spPr>
          <a:xfrm>
            <a:off x="8750808" y="3977640"/>
            <a:ext cx="155448" cy="155448"/>
          </a:xfrm>
          <a:prstGeom prst="ellipse">
            <a:avLst/>
          </a:prstGeom>
          <a:solidFill>
            <a:srgbClr val="98A2B3">
              <a:alpha val="45000"/>
            </a:srgbClr>
          </a:solidFill>
          <a:ln/>
        </p:spPr>
      </p:sp>
      <p:sp>
        <p:nvSpPr>
          <p:cNvPr id="116" name="Municipio"/>
          <p:cNvSpPr/>
          <p:nvPr/>
        </p:nvSpPr>
        <p:spPr>
          <a:xfrm>
            <a:off x="9061704" y="3977640"/>
            <a:ext cx="155448" cy="155448"/>
          </a:xfrm>
          <a:prstGeom prst="ellipse">
            <a:avLst/>
          </a:prstGeom>
          <a:solidFill>
            <a:srgbClr val="98A2B3">
              <a:alpha val="45000"/>
            </a:srgbClr>
          </a:solidFill>
          <a:ln/>
        </p:spPr>
      </p:sp>
      <p:sp>
        <p:nvSpPr>
          <p:cNvPr id="117" name="Municipio"/>
          <p:cNvSpPr/>
          <p:nvPr/>
        </p:nvSpPr>
        <p:spPr>
          <a:xfrm>
            <a:off x="9372600" y="3977640"/>
            <a:ext cx="155448" cy="155448"/>
          </a:xfrm>
          <a:prstGeom prst="ellipse">
            <a:avLst/>
          </a:prstGeom>
          <a:solidFill>
            <a:srgbClr val="98A2B3">
              <a:alpha val="45000"/>
            </a:srgbClr>
          </a:solidFill>
          <a:ln/>
        </p:spPr>
      </p:sp>
      <p:sp>
        <p:nvSpPr>
          <p:cNvPr id="118" name="Municipio"/>
          <p:cNvSpPr/>
          <p:nvPr/>
        </p:nvSpPr>
        <p:spPr>
          <a:xfrm>
            <a:off x="9683496" y="3977640"/>
            <a:ext cx="155448" cy="155448"/>
          </a:xfrm>
          <a:prstGeom prst="ellipse">
            <a:avLst/>
          </a:prstGeom>
          <a:solidFill>
            <a:srgbClr val="98A2B3">
              <a:alpha val="45000"/>
            </a:srgbClr>
          </a:solidFill>
          <a:ln/>
        </p:spPr>
      </p:sp>
      <p:sp>
        <p:nvSpPr>
          <p:cNvPr id="119" name="Municipio"/>
          <p:cNvSpPr/>
          <p:nvPr/>
        </p:nvSpPr>
        <p:spPr>
          <a:xfrm>
            <a:off x="9994392" y="3977640"/>
            <a:ext cx="155448" cy="155448"/>
          </a:xfrm>
          <a:prstGeom prst="ellipse">
            <a:avLst/>
          </a:prstGeom>
          <a:solidFill>
            <a:srgbClr val="98A2B3">
              <a:alpha val="45000"/>
            </a:srgbClr>
          </a:solidFill>
          <a:ln/>
        </p:spPr>
      </p:sp>
      <p:sp>
        <p:nvSpPr>
          <p:cNvPr id="120" name="Municipio"/>
          <p:cNvSpPr/>
          <p:nvPr/>
        </p:nvSpPr>
        <p:spPr>
          <a:xfrm>
            <a:off x="10305288" y="3977640"/>
            <a:ext cx="155448" cy="155448"/>
          </a:xfrm>
          <a:prstGeom prst="ellipse">
            <a:avLst/>
          </a:prstGeom>
          <a:solidFill>
            <a:srgbClr val="98A2B3">
              <a:alpha val="45000"/>
            </a:srgbClr>
          </a:solidFill>
          <a:ln/>
        </p:spPr>
      </p:sp>
      <p:sp>
        <p:nvSpPr>
          <p:cNvPr id="121" name="Municipio piloto"/>
          <p:cNvSpPr/>
          <p:nvPr/>
        </p:nvSpPr>
        <p:spPr>
          <a:xfrm>
            <a:off x="10616184" y="3977640"/>
            <a:ext cx="155448" cy="155448"/>
          </a:xfrm>
          <a:prstGeom prst="ellipse">
            <a:avLst/>
          </a:prstGeom>
          <a:solidFill>
            <a:schemeClr val="accent6"/>
          </a:solidFill>
          <a:ln/>
        </p:spPr>
      </p:sp>
      <p:sp>
        <p:nvSpPr>
          <p:cNvPr id="122" name="Municipio"/>
          <p:cNvSpPr/>
          <p:nvPr/>
        </p:nvSpPr>
        <p:spPr>
          <a:xfrm>
            <a:off x="10927080" y="3977640"/>
            <a:ext cx="155448" cy="155448"/>
          </a:xfrm>
          <a:prstGeom prst="ellipse">
            <a:avLst/>
          </a:prstGeom>
          <a:solidFill>
            <a:srgbClr val="98A2B3">
              <a:alpha val="45000"/>
            </a:srgbClr>
          </a:solidFill>
          <a:ln/>
        </p:spPr>
      </p:sp>
      <p:sp>
        <p:nvSpPr>
          <p:cNvPr id="123" name="Municipio piloto"/>
          <p:cNvSpPr/>
          <p:nvPr/>
        </p:nvSpPr>
        <p:spPr>
          <a:xfrm>
            <a:off x="11237976" y="3977640"/>
            <a:ext cx="155448" cy="155448"/>
          </a:xfrm>
          <a:prstGeom prst="ellipse">
            <a:avLst/>
          </a:prstGeom>
          <a:solidFill>
            <a:schemeClr val="accent6"/>
          </a:solidFill>
          <a:ln/>
        </p:spPr>
      </p:sp>
      <p:sp>
        <p:nvSpPr>
          <p:cNvPr id="124" name="Municipio"/>
          <p:cNvSpPr/>
          <p:nvPr/>
        </p:nvSpPr>
        <p:spPr>
          <a:xfrm>
            <a:off x="11548872" y="3977640"/>
            <a:ext cx="155448" cy="155448"/>
          </a:xfrm>
          <a:prstGeom prst="ellipse">
            <a:avLst/>
          </a:prstGeom>
          <a:solidFill>
            <a:srgbClr val="98A2B3">
              <a:alpha val="45000"/>
            </a:srgbClr>
          </a:solidFill>
          <a:ln/>
        </p:spPr>
      </p:sp>
      <p:sp>
        <p:nvSpPr>
          <p:cNvPr id="125" name="Municipio"/>
          <p:cNvSpPr/>
          <p:nvPr/>
        </p:nvSpPr>
        <p:spPr>
          <a:xfrm>
            <a:off x="7818120" y="4343400"/>
            <a:ext cx="155448" cy="155448"/>
          </a:xfrm>
          <a:prstGeom prst="ellipse">
            <a:avLst/>
          </a:prstGeom>
          <a:solidFill>
            <a:srgbClr val="98A2B3">
              <a:alpha val="45000"/>
            </a:srgbClr>
          </a:solidFill>
          <a:ln/>
        </p:spPr>
      </p:sp>
      <p:sp>
        <p:nvSpPr>
          <p:cNvPr id="126" name="Municipio"/>
          <p:cNvSpPr/>
          <p:nvPr/>
        </p:nvSpPr>
        <p:spPr>
          <a:xfrm>
            <a:off x="8129016" y="4343400"/>
            <a:ext cx="155448" cy="155448"/>
          </a:xfrm>
          <a:prstGeom prst="ellipse">
            <a:avLst/>
          </a:prstGeom>
          <a:solidFill>
            <a:srgbClr val="98A2B3">
              <a:alpha val="45000"/>
            </a:srgbClr>
          </a:solidFill>
          <a:ln/>
        </p:spPr>
      </p:sp>
      <p:sp>
        <p:nvSpPr>
          <p:cNvPr id="127" name="Municipio"/>
          <p:cNvSpPr/>
          <p:nvPr/>
        </p:nvSpPr>
        <p:spPr>
          <a:xfrm>
            <a:off x="8439912" y="4343400"/>
            <a:ext cx="155448" cy="155448"/>
          </a:xfrm>
          <a:prstGeom prst="ellipse">
            <a:avLst/>
          </a:prstGeom>
          <a:solidFill>
            <a:srgbClr val="98A2B3">
              <a:alpha val="45000"/>
            </a:srgbClr>
          </a:solidFill>
          <a:ln/>
        </p:spPr>
      </p:sp>
      <p:sp>
        <p:nvSpPr>
          <p:cNvPr id="128" name="Municipio"/>
          <p:cNvSpPr/>
          <p:nvPr/>
        </p:nvSpPr>
        <p:spPr>
          <a:xfrm>
            <a:off x="8750808" y="4343400"/>
            <a:ext cx="155448" cy="155448"/>
          </a:xfrm>
          <a:prstGeom prst="ellipse">
            <a:avLst/>
          </a:prstGeom>
          <a:solidFill>
            <a:srgbClr val="98A2B3">
              <a:alpha val="45000"/>
            </a:srgbClr>
          </a:solidFill>
          <a:ln/>
        </p:spPr>
      </p:sp>
      <p:sp>
        <p:nvSpPr>
          <p:cNvPr id="129" name="Municipio"/>
          <p:cNvSpPr/>
          <p:nvPr/>
        </p:nvSpPr>
        <p:spPr>
          <a:xfrm>
            <a:off x="9061704" y="4343400"/>
            <a:ext cx="155448" cy="155448"/>
          </a:xfrm>
          <a:prstGeom prst="ellipse">
            <a:avLst/>
          </a:prstGeom>
          <a:solidFill>
            <a:srgbClr val="98A2B3">
              <a:alpha val="45000"/>
            </a:srgbClr>
          </a:solidFill>
          <a:ln/>
        </p:spPr>
      </p:sp>
      <p:sp>
        <p:nvSpPr>
          <p:cNvPr id="130" name="Municipio"/>
          <p:cNvSpPr/>
          <p:nvPr/>
        </p:nvSpPr>
        <p:spPr>
          <a:xfrm>
            <a:off x="9372600" y="4343400"/>
            <a:ext cx="155448" cy="155448"/>
          </a:xfrm>
          <a:prstGeom prst="ellipse">
            <a:avLst/>
          </a:prstGeom>
          <a:solidFill>
            <a:srgbClr val="98A2B3">
              <a:alpha val="45000"/>
            </a:srgbClr>
          </a:solidFill>
          <a:ln/>
        </p:spPr>
      </p:sp>
      <p:sp>
        <p:nvSpPr>
          <p:cNvPr id="131" name="Municipio"/>
          <p:cNvSpPr/>
          <p:nvPr/>
        </p:nvSpPr>
        <p:spPr>
          <a:xfrm>
            <a:off x="9683496" y="4343400"/>
            <a:ext cx="155448" cy="155448"/>
          </a:xfrm>
          <a:prstGeom prst="ellipse">
            <a:avLst/>
          </a:prstGeom>
          <a:solidFill>
            <a:srgbClr val="98A2B3">
              <a:alpha val="45000"/>
            </a:srgbClr>
          </a:solidFill>
          <a:ln/>
        </p:spPr>
      </p:sp>
      <p:sp>
        <p:nvSpPr>
          <p:cNvPr id="132" name="Municipio"/>
          <p:cNvSpPr/>
          <p:nvPr/>
        </p:nvSpPr>
        <p:spPr>
          <a:xfrm>
            <a:off x="9994392" y="4343400"/>
            <a:ext cx="155448" cy="155448"/>
          </a:xfrm>
          <a:prstGeom prst="ellipse">
            <a:avLst/>
          </a:prstGeom>
          <a:solidFill>
            <a:srgbClr val="98A2B3">
              <a:alpha val="45000"/>
            </a:srgbClr>
          </a:solidFill>
          <a:ln/>
        </p:spPr>
      </p:sp>
      <p:sp>
        <p:nvSpPr>
          <p:cNvPr id="133" name="Municipio piloto"/>
          <p:cNvSpPr/>
          <p:nvPr/>
        </p:nvSpPr>
        <p:spPr>
          <a:xfrm>
            <a:off x="10305288" y="4343400"/>
            <a:ext cx="155448" cy="155448"/>
          </a:xfrm>
          <a:prstGeom prst="ellipse">
            <a:avLst/>
          </a:prstGeom>
          <a:solidFill>
            <a:schemeClr val="accent6"/>
          </a:solidFill>
          <a:ln/>
        </p:spPr>
      </p:sp>
      <p:sp>
        <p:nvSpPr>
          <p:cNvPr id="134" name="Municipio"/>
          <p:cNvSpPr/>
          <p:nvPr/>
        </p:nvSpPr>
        <p:spPr>
          <a:xfrm>
            <a:off x="10616184" y="4343400"/>
            <a:ext cx="155448" cy="155448"/>
          </a:xfrm>
          <a:prstGeom prst="ellipse">
            <a:avLst/>
          </a:prstGeom>
          <a:solidFill>
            <a:srgbClr val="98A2B3">
              <a:alpha val="45000"/>
            </a:srgbClr>
          </a:solidFill>
          <a:ln/>
        </p:spPr>
      </p:sp>
      <p:sp>
        <p:nvSpPr>
          <p:cNvPr id="135" name="Municipio"/>
          <p:cNvSpPr/>
          <p:nvPr/>
        </p:nvSpPr>
        <p:spPr>
          <a:xfrm>
            <a:off x="10927080" y="4343400"/>
            <a:ext cx="155448" cy="155448"/>
          </a:xfrm>
          <a:prstGeom prst="ellipse">
            <a:avLst/>
          </a:prstGeom>
          <a:solidFill>
            <a:srgbClr val="98A2B3">
              <a:alpha val="45000"/>
            </a:srgbClr>
          </a:solidFill>
          <a:ln/>
        </p:spPr>
      </p:sp>
      <p:sp>
        <p:nvSpPr>
          <p:cNvPr id="136" name="Municipio piloto"/>
          <p:cNvSpPr/>
          <p:nvPr/>
        </p:nvSpPr>
        <p:spPr>
          <a:xfrm>
            <a:off x="11237976" y="4343400"/>
            <a:ext cx="155448" cy="155448"/>
          </a:xfrm>
          <a:prstGeom prst="ellipse">
            <a:avLst/>
          </a:prstGeom>
          <a:solidFill>
            <a:schemeClr val="accent6"/>
          </a:solidFill>
          <a:ln/>
        </p:spPr>
      </p:sp>
      <p:sp>
        <p:nvSpPr>
          <p:cNvPr id="137" name="Municipio"/>
          <p:cNvSpPr/>
          <p:nvPr/>
        </p:nvSpPr>
        <p:spPr>
          <a:xfrm>
            <a:off x="11548872" y="4343400"/>
            <a:ext cx="155448" cy="155448"/>
          </a:xfrm>
          <a:prstGeom prst="ellipse">
            <a:avLst/>
          </a:prstGeom>
          <a:solidFill>
            <a:srgbClr val="98A2B3">
              <a:alpha val="45000"/>
            </a:srgbClr>
          </a:solidFill>
          <a:ln/>
        </p:spPr>
      </p:sp>
      <p:sp>
        <p:nvSpPr>
          <p:cNvPr id="138" name="Municipio"/>
          <p:cNvSpPr/>
          <p:nvPr/>
        </p:nvSpPr>
        <p:spPr>
          <a:xfrm>
            <a:off x="7818120" y="4709160"/>
            <a:ext cx="155448" cy="155448"/>
          </a:xfrm>
          <a:prstGeom prst="ellipse">
            <a:avLst/>
          </a:prstGeom>
          <a:solidFill>
            <a:srgbClr val="98A2B3">
              <a:alpha val="45000"/>
            </a:srgbClr>
          </a:solidFill>
          <a:ln/>
        </p:spPr>
      </p:sp>
      <p:sp>
        <p:nvSpPr>
          <p:cNvPr id="139" name="Municipio"/>
          <p:cNvSpPr/>
          <p:nvPr/>
        </p:nvSpPr>
        <p:spPr>
          <a:xfrm>
            <a:off x="8129016" y="4709160"/>
            <a:ext cx="155448" cy="155448"/>
          </a:xfrm>
          <a:prstGeom prst="ellipse">
            <a:avLst/>
          </a:prstGeom>
          <a:solidFill>
            <a:srgbClr val="98A2B3">
              <a:alpha val="45000"/>
            </a:srgbClr>
          </a:solidFill>
          <a:ln/>
        </p:spPr>
      </p:sp>
      <p:sp>
        <p:nvSpPr>
          <p:cNvPr id="140" name="Municipio"/>
          <p:cNvSpPr/>
          <p:nvPr/>
        </p:nvSpPr>
        <p:spPr>
          <a:xfrm>
            <a:off x="8439912" y="4709160"/>
            <a:ext cx="155448" cy="155448"/>
          </a:xfrm>
          <a:prstGeom prst="ellipse">
            <a:avLst/>
          </a:prstGeom>
          <a:solidFill>
            <a:srgbClr val="98A2B3">
              <a:alpha val="45000"/>
            </a:srgbClr>
          </a:solidFill>
          <a:ln/>
        </p:spPr>
      </p:sp>
      <p:sp>
        <p:nvSpPr>
          <p:cNvPr id="141" name="Municipio"/>
          <p:cNvSpPr/>
          <p:nvPr/>
        </p:nvSpPr>
        <p:spPr>
          <a:xfrm>
            <a:off x="8750808" y="4709160"/>
            <a:ext cx="155448" cy="155448"/>
          </a:xfrm>
          <a:prstGeom prst="ellipse">
            <a:avLst/>
          </a:prstGeom>
          <a:solidFill>
            <a:srgbClr val="98A2B3">
              <a:alpha val="45000"/>
            </a:srgbClr>
          </a:solidFill>
          <a:ln/>
        </p:spPr>
      </p:sp>
      <p:sp>
        <p:nvSpPr>
          <p:cNvPr id="142" name="Municipio"/>
          <p:cNvSpPr/>
          <p:nvPr/>
        </p:nvSpPr>
        <p:spPr>
          <a:xfrm>
            <a:off x="9061704" y="4709160"/>
            <a:ext cx="155448" cy="155448"/>
          </a:xfrm>
          <a:prstGeom prst="ellipse">
            <a:avLst/>
          </a:prstGeom>
          <a:solidFill>
            <a:srgbClr val="98A2B3">
              <a:alpha val="45000"/>
            </a:srgbClr>
          </a:solidFill>
          <a:ln/>
        </p:spPr>
      </p:sp>
      <p:sp>
        <p:nvSpPr>
          <p:cNvPr id="143" name="Municipio"/>
          <p:cNvSpPr/>
          <p:nvPr/>
        </p:nvSpPr>
        <p:spPr>
          <a:xfrm>
            <a:off x="9372600" y="4709160"/>
            <a:ext cx="155448" cy="155448"/>
          </a:xfrm>
          <a:prstGeom prst="ellipse">
            <a:avLst/>
          </a:prstGeom>
          <a:solidFill>
            <a:srgbClr val="98A2B3">
              <a:alpha val="45000"/>
            </a:srgbClr>
          </a:solidFill>
          <a:ln/>
        </p:spPr>
      </p:sp>
      <p:sp>
        <p:nvSpPr>
          <p:cNvPr id="144" name="Municipio"/>
          <p:cNvSpPr/>
          <p:nvPr/>
        </p:nvSpPr>
        <p:spPr>
          <a:xfrm>
            <a:off x="9683496" y="4709160"/>
            <a:ext cx="155448" cy="155448"/>
          </a:xfrm>
          <a:prstGeom prst="ellipse">
            <a:avLst/>
          </a:prstGeom>
          <a:solidFill>
            <a:srgbClr val="98A2B3">
              <a:alpha val="45000"/>
            </a:srgbClr>
          </a:solidFill>
          <a:ln/>
        </p:spPr>
      </p:sp>
      <p:sp>
        <p:nvSpPr>
          <p:cNvPr id="145" name="Municipio"/>
          <p:cNvSpPr/>
          <p:nvPr/>
        </p:nvSpPr>
        <p:spPr>
          <a:xfrm>
            <a:off x="9994392" y="4709160"/>
            <a:ext cx="155448" cy="155448"/>
          </a:xfrm>
          <a:prstGeom prst="ellipse">
            <a:avLst/>
          </a:prstGeom>
          <a:solidFill>
            <a:srgbClr val="98A2B3">
              <a:alpha val="45000"/>
            </a:srgbClr>
          </a:solidFill>
          <a:ln/>
        </p:spPr>
      </p:sp>
      <p:sp>
        <p:nvSpPr>
          <p:cNvPr id="146" name="Municipio"/>
          <p:cNvSpPr/>
          <p:nvPr/>
        </p:nvSpPr>
        <p:spPr>
          <a:xfrm>
            <a:off x="10305288" y="4709160"/>
            <a:ext cx="155448" cy="155448"/>
          </a:xfrm>
          <a:prstGeom prst="ellipse">
            <a:avLst/>
          </a:prstGeom>
          <a:solidFill>
            <a:srgbClr val="98A2B3">
              <a:alpha val="45000"/>
            </a:srgbClr>
          </a:solidFill>
          <a:ln/>
        </p:spPr>
      </p:sp>
      <p:sp>
        <p:nvSpPr>
          <p:cNvPr id="147" name="Municipio"/>
          <p:cNvSpPr/>
          <p:nvPr/>
        </p:nvSpPr>
        <p:spPr>
          <a:xfrm>
            <a:off x="10616184" y="4709160"/>
            <a:ext cx="155448" cy="155448"/>
          </a:xfrm>
          <a:prstGeom prst="ellipse">
            <a:avLst/>
          </a:prstGeom>
          <a:solidFill>
            <a:srgbClr val="98A2B3">
              <a:alpha val="45000"/>
            </a:srgbClr>
          </a:solidFill>
          <a:ln/>
        </p:spPr>
      </p:sp>
      <p:sp>
        <p:nvSpPr>
          <p:cNvPr id="148" name="Municipio"/>
          <p:cNvSpPr/>
          <p:nvPr/>
        </p:nvSpPr>
        <p:spPr>
          <a:xfrm>
            <a:off x="10927080" y="4709160"/>
            <a:ext cx="155448" cy="155448"/>
          </a:xfrm>
          <a:prstGeom prst="ellipse">
            <a:avLst/>
          </a:prstGeom>
          <a:solidFill>
            <a:srgbClr val="98A2B3">
              <a:alpha val="45000"/>
            </a:srgbClr>
          </a:solidFill>
          <a:ln/>
        </p:spPr>
      </p:sp>
      <p:sp>
        <p:nvSpPr>
          <p:cNvPr id="149" name="Municipio"/>
          <p:cNvSpPr/>
          <p:nvPr/>
        </p:nvSpPr>
        <p:spPr>
          <a:xfrm>
            <a:off x="11237976" y="4709160"/>
            <a:ext cx="155448" cy="155448"/>
          </a:xfrm>
          <a:prstGeom prst="ellipse">
            <a:avLst/>
          </a:prstGeom>
          <a:solidFill>
            <a:srgbClr val="98A2B3">
              <a:alpha val="45000"/>
            </a:srgbClr>
          </a:solidFill>
          <a:ln/>
        </p:spPr>
      </p:sp>
      <p:sp>
        <p:nvSpPr>
          <p:cNvPr id="150" name="Municipio piloto"/>
          <p:cNvSpPr/>
          <p:nvPr/>
        </p:nvSpPr>
        <p:spPr>
          <a:xfrm>
            <a:off x="11548872" y="4709160"/>
            <a:ext cx="155448" cy="155448"/>
          </a:xfrm>
          <a:prstGeom prst="ellipse">
            <a:avLst/>
          </a:prstGeom>
          <a:solidFill>
            <a:schemeClr val="accent6"/>
          </a:solidFill>
          <a:ln/>
        </p:spPr>
      </p:sp>
      <p:sp>
        <p:nvSpPr>
          <p:cNvPr id="151" name="Municipio"/>
          <p:cNvSpPr/>
          <p:nvPr/>
        </p:nvSpPr>
        <p:spPr>
          <a:xfrm>
            <a:off x="7818120" y="5074920"/>
            <a:ext cx="155448" cy="155448"/>
          </a:xfrm>
          <a:prstGeom prst="ellipse">
            <a:avLst/>
          </a:prstGeom>
          <a:solidFill>
            <a:srgbClr val="98A2B3">
              <a:alpha val="45000"/>
            </a:srgbClr>
          </a:solidFill>
          <a:ln/>
        </p:spPr>
      </p:sp>
      <p:sp>
        <p:nvSpPr>
          <p:cNvPr id="152" name="Municipio"/>
          <p:cNvSpPr/>
          <p:nvPr/>
        </p:nvSpPr>
        <p:spPr>
          <a:xfrm>
            <a:off x="8129016" y="5074920"/>
            <a:ext cx="155448" cy="155448"/>
          </a:xfrm>
          <a:prstGeom prst="ellipse">
            <a:avLst/>
          </a:prstGeom>
          <a:solidFill>
            <a:srgbClr val="98A2B3">
              <a:alpha val="45000"/>
            </a:srgbClr>
          </a:solidFill>
          <a:ln/>
        </p:spPr>
      </p:sp>
      <p:sp>
        <p:nvSpPr>
          <p:cNvPr id="153" name="Municipio piloto"/>
          <p:cNvSpPr/>
          <p:nvPr/>
        </p:nvSpPr>
        <p:spPr>
          <a:xfrm>
            <a:off x="8439912" y="5074920"/>
            <a:ext cx="155448" cy="155448"/>
          </a:xfrm>
          <a:prstGeom prst="ellipse">
            <a:avLst/>
          </a:prstGeom>
          <a:solidFill>
            <a:schemeClr val="accent6"/>
          </a:solidFill>
          <a:ln/>
        </p:spPr>
      </p:sp>
      <p:sp>
        <p:nvSpPr>
          <p:cNvPr id="154" name="Municipio"/>
          <p:cNvSpPr/>
          <p:nvPr/>
        </p:nvSpPr>
        <p:spPr>
          <a:xfrm>
            <a:off x="8750808" y="5074920"/>
            <a:ext cx="155448" cy="155448"/>
          </a:xfrm>
          <a:prstGeom prst="ellipse">
            <a:avLst/>
          </a:prstGeom>
          <a:solidFill>
            <a:srgbClr val="98A2B3">
              <a:alpha val="45000"/>
            </a:srgbClr>
          </a:solidFill>
          <a:ln/>
        </p:spPr>
      </p:sp>
      <p:sp>
        <p:nvSpPr>
          <p:cNvPr id="155" name="Municipio piloto"/>
          <p:cNvSpPr/>
          <p:nvPr/>
        </p:nvSpPr>
        <p:spPr>
          <a:xfrm>
            <a:off x="9061704" y="5074920"/>
            <a:ext cx="155448" cy="155448"/>
          </a:xfrm>
          <a:prstGeom prst="ellipse">
            <a:avLst/>
          </a:prstGeom>
          <a:solidFill>
            <a:schemeClr val="accent6"/>
          </a:solidFill>
          <a:ln/>
        </p:spPr>
      </p:sp>
      <p:sp>
        <p:nvSpPr>
          <p:cNvPr id="156" name="Municipio"/>
          <p:cNvSpPr/>
          <p:nvPr/>
        </p:nvSpPr>
        <p:spPr>
          <a:xfrm>
            <a:off x="9372600" y="5074920"/>
            <a:ext cx="155448" cy="155448"/>
          </a:xfrm>
          <a:prstGeom prst="ellipse">
            <a:avLst/>
          </a:prstGeom>
          <a:solidFill>
            <a:srgbClr val="98A2B3">
              <a:alpha val="45000"/>
            </a:srgbClr>
          </a:solidFill>
          <a:ln/>
        </p:spPr>
      </p:sp>
      <p:sp>
        <p:nvSpPr>
          <p:cNvPr id="157" name="Municipio"/>
          <p:cNvSpPr/>
          <p:nvPr/>
        </p:nvSpPr>
        <p:spPr>
          <a:xfrm>
            <a:off x="9683496" y="5074920"/>
            <a:ext cx="155448" cy="155448"/>
          </a:xfrm>
          <a:prstGeom prst="ellipse">
            <a:avLst/>
          </a:prstGeom>
          <a:solidFill>
            <a:srgbClr val="98A2B3">
              <a:alpha val="45000"/>
            </a:srgbClr>
          </a:solidFill>
          <a:ln/>
        </p:spPr>
      </p:sp>
      <p:sp>
        <p:nvSpPr>
          <p:cNvPr id="158" name="Municipio"/>
          <p:cNvSpPr/>
          <p:nvPr/>
        </p:nvSpPr>
        <p:spPr>
          <a:xfrm>
            <a:off x="9994392" y="5074920"/>
            <a:ext cx="155448" cy="155448"/>
          </a:xfrm>
          <a:prstGeom prst="ellipse">
            <a:avLst/>
          </a:prstGeom>
          <a:solidFill>
            <a:srgbClr val="98A2B3">
              <a:alpha val="45000"/>
            </a:srgbClr>
          </a:solidFill>
          <a:ln/>
        </p:spPr>
      </p:sp>
      <p:sp>
        <p:nvSpPr>
          <p:cNvPr id="159" name="Municipio"/>
          <p:cNvSpPr/>
          <p:nvPr/>
        </p:nvSpPr>
        <p:spPr>
          <a:xfrm>
            <a:off x="10305288" y="5074920"/>
            <a:ext cx="155448" cy="155448"/>
          </a:xfrm>
          <a:prstGeom prst="ellipse">
            <a:avLst/>
          </a:prstGeom>
          <a:solidFill>
            <a:srgbClr val="98A2B3">
              <a:alpha val="45000"/>
            </a:srgbClr>
          </a:solidFill>
          <a:ln/>
        </p:spPr>
      </p:sp>
      <p:sp>
        <p:nvSpPr>
          <p:cNvPr id="160" name="Municipio piloto"/>
          <p:cNvSpPr/>
          <p:nvPr/>
        </p:nvSpPr>
        <p:spPr>
          <a:xfrm>
            <a:off x="10616184" y="5074920"/>
            <a:ext cx="155448" cy="155448"/>
          </a:xfrm>
          <a:prstGeom prst="ellipse">
            <a:avLst/>
          </a:prstGeom>
          <a:solidFill>
            <a:schemeClr val="accent6"/>
          </a:solidFill>
          <a:ln/>
        </p:spPr>
      </p:sp>
      <p:sp>
        <p:nvSpPr>
          <p:cNvPr id="161" name="Municipio"/>
          <p:cNvSpPr/>
          <p:nvPr/>
        </p:nvSpPr>
        <p:spPr>
          <a:xfrm>
            <a:off x="10927080" y="5074920"/>
            <a:ext cx="155448" cy="155448"/>
          </a:xfrm>
          <a:prstGeom prst="ellipse">
            <a:avLst/>
          </a:prstGeom>
          <a:solidFill>
            <a:srgbClr val="98A2B3">
              <a:alpha val="45000"/>
            </a:srgbClr>
          </a:solidFill>
          <a:ln/>
        </p:spPr>
      </p:sp>
      <p:sp>
        <p:nvSpPr>
          <p:cNvPr id="162" name="Municipio"/>
          <p:cNvSpPr/>
          <p:nvPr/>
        </p:nvSpPr>
        <p:spPr>
          <a:xfrm>
            <a:off x="11237976" y="5074920"/>
            <a:ext cx="155448" cy="155448"/>
          </a:xfrm>
          <a:prstGeom prst="ellipse">
            <a:avLst/>
          </a:prstGeom>
          <a:solidFill>
            <a:srgbClr val="98A2B3">
              <a:alpha val="45000"/>
            </a:srgbClr>
          </a:solidFill>
          <a:ln/>
        </p:spPr>
      </p:sp>
    </p:spTree>
  </p:cSld>
  <p:clrMapOvr>
    <a:masterClrMapping/>
  </p:clrMapOvr>
  <p:transition spd="med">
    <p:fade/>
  </p:transition>
</p:sld>
</file>

<file path=ppt/theme/theme1.xml><?xml version="1.0" encoding="utf-8"?>
<a:theme xmlns:a="http://schemas.openxmlformats.org/drawingml/2006/main" name="MadridNext">
  <a:themeElements>
    <a:clrScheme name="MadridNext">
      <a:dk1>
        <a:srgbClr val="161A26"/>
      </a:dk1>
      <a:lt1>
        <a:srgbClr val="FFFFFF"/>
      </a:lt1>
      <a:dk2>
        <a:srgbClr val="424A5E"/>
      </a:dk2>
      <a:lt2>
        <a:srgbClr val="F1F3F6"/>
      </a:lt2>
      <a:accent1>
        <a:srgbClr val="C0263F"/>
      </a:accent1>
      <a:accent2>
        <a:srgbClr val="2E7D5B"/>
      </a:accent2>
      <a:accent3>
        <a:srgbClr val="C4820A"/>
      </a:accent3>
      <a:accent4>
        <a:srgbClr val="5C6F8A"/>
      </a:accent4>
      <a:accent5>
        <a:srgbClr val="98A2B3"/>
      </a:accent5>
      <a:accent6>
        <a:srgbClr val="E5566D"/>
      </a:accent6>
      <a:hlink>
        <a:srgbClr val="C0263F"/>
      </a:hlink>
      <a:folHlink>
        <a:srgbClr val="424A5E"/>
      </a:folHlink>
    </a:clrScheme>
    <a:fontScheme name="MadridN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 Datathon LODCOREMADRID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MadridNext: capacidad de acogida territorial</dc:title>
  <dc:subject>PptxGenJS Presentation</dc:subject>
  <dc:creator>Adrián Hernando Muñoz, Juan Torrero de Pablo, Alejandro Cuntin Bariteau</dc:creator>
  <cp:lastModifiedBy>Adrián Hernando Muñoz, Juan Torrero de Pablo, Alejandro Cuntin Bariteau</cp:lastModifiedBy>
  <cp:revision>1</cp:revision>
  <dcterms:created xsi:type="dcterms:W3CDTF">2026-10-27T10:54:56Z</dcterms:created>
  <dcterms:modified xsi:type="dcterms:W3CDTF">2026-10-27T10:54:56Z</dcterms:modified>
</cp:coreProperties>
</file>