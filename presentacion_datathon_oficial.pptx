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70" r:id="rId21"/>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pPr indent="0" marL="0">
              <a:buNone/>
            </a:pPr>
            <a:r>
              <a:rPr lang="en-US" sz="1400" b="1" dirty="0">
                <a:solidFill>
                  <a:schemeClr val="accent1"/>
                </a:solidFill>
              </a:rPr>
              <a:t>Regla de honestidad: </a:t>
            </a:r>
            <a:pPr indent="0" marL="0">
              <a:buNone/>
            </a:pPr>
            <a:r>
              <a:rPr lang="en-US" sz="1400" dirty="0">
                <a:solidFill>
                  <a:schemeClr val="tx2"/>
                </a:solidFill>
              </a:rPr>
              <a:t>cada variable lleva su etiqueta REAL o ESTIMADO.</a:t>
            </a:r>
            <a:endParaRPr lang="en-US" sz="1400" dirty="0"/>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pPr indent="0" marL="0">
              <a:buNone/>
            </a:pPr>
            <a:r>
              <a:rPr lang="en-US" sz="1400" dirty="0">
                <a:solidFill>
                  <a:schemeClr val="tx2"/>
                </a:solidFill>
              </a:rPr>
              <a:t>Todos los municipios tienen entre 1 y 49.999 habitantes, y precios, ocupaciones y cupos son positivos.</a:t>
            </a:r>
            <a:endParaRPr lang="en-US" sz="1400" dirty="0"/>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Python y Oracle como caminos paralelos, con garantía de privacidad (RGPD)</a:t>
            </a:r>
            <a:endParaRPr lang="en-US" sz="1600" dirty="0"/>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sp>
      <p:sp>
        <p:nvSpPr>
          <p:cNvPr id="7" name="Círculo icono"/>
          <p:cNvSpPr/>
          <p:nvPr/>
        </p:nvSpPr>
        <p:spPr>
          <a:xfrm>
            <a:off x="804672" y="2624328"/>
            <a:ext cx="457200" cy="457200"/>
          </a:xfrm>
          <a:prstGeom prst="ellipse">
            <a:avLst/>
          </a:prstGeom>
          <a:solidFill>
            <a:srgbClr val="161A26"/>
          </a:solidFill>
          <a:ln/>
        </p:spPr>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sp>
      <p:sp>
        <p:nvSpPr>
          <p:cNvPr id="11" name="Círculo icono"/>
          <p:cNvSpPr/>
          <p:nvPr/>
        </p:nvSpPr>
        <p:spPr>
          <a:xfrm>
            <a:off x="4187952" y="2624328"/>
            <a:ext cx="457200" cy="457200"/>
          </a:xfrm>
          <a:prstGeom prst="ellipse">
            <a:avLst/>
          </a:prstGeom>
          <a:solidFill>
            <a:srgbClr val="161A26"/>
          </a:solidFill>
          <a:ln/>
        </p:spPr>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sp>
      <p:sp>
        <p:nvSpPr>
          <p:cNvPr id="15" name="Círculo icono"/>
          <p:cNvSpPr/>
          <p:nvPr/>
        </p:nvSpPr>
        <p:spPr>
          <a:xfrm>
            <a:off x="804672" y="3694176"/>
            <a:ext cx="457200" cy="457200"/>
          </a:xfrm>
          <a:prstGeom prst="ellipse">
            <a:avLst/>
          </a:prstGeom>
          <a:solidFill>
            <a:srgbClr val="161A26"/>
          </a:solidFill>
          <a:ln/>
        </p:spPr>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sp>
      <p:sp>
        <p:nvSpPr>
          <p:cNvPr id="19" name="Círculo icono"/>
          <p:cNvSpPr/>
          <p:nvPr/>
        </p:nvSpPr>
        <p:spPr>
          <a:xfrm>
            <a:off x="4187952" y="3694176"/>
            <a:ext cx="457200" cy="457200"/>
          </a:xfrm>
          <a:prstGeom prst="ellipse">
            <a:avLst/>
          </a:prstGeom>
          <a:solidFill>
            <a:srgbClr val="161A26"/>
          </a:solidFill>
          <a:ln/>
        </p:spPr>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sp>
      <p:sp>
        <p:nvSpPr>
          <p:cNvPr id="23" name="Círculo icono"/>
          <p:cNvSpPr/>
          <p:nvPr/>
        </p:nvSpPr>
        <p:spPr>
          <a:xfrm>
            <a:off x="804672" y="4764024"/>
            <a:ext cx="457200" cy="457200"/>
          </a:xfrm>
          <a:prstGeom prst="ellipse">
            <a:avLst/>
          </a:prstGeom>
          <a:solidFill>
            <a:srgbClr val="161A26"/>
          </a:solidFill>
          <a:ln/>
        </p:spPr>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sp>
      <p:sp>
        <p:nvSpPr>
          <p:cNvPr id="27" name="Círculo icono"/>
          <p:cNvSpPr/>
          <p:nvPr/>
        </p:nvSpPr>
        <p:spPr>
          <a:xfrm>
            <a:off x="4187952" y="4764024"/>
            <a:ext cx="457200" cy="457200"/>
          </a:xfrm>
          <a:prstGeom prst="ellipse">
            <a:avLst/>
          </a:prstGeom>
          <a:solidFill>
            <a:srgbClr val="161A26"/>
          </a:solidFill>
          <a:ln/>
        </p:spPr>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Oracle APEX</a:t>
            </a:r>
            <a:endParaRPr lang="en-US" sz="1600" dirty="0"/>
          </a:p>
          <a:p>
            <a:pPr indent="0" marL="0">
              <a:buNone/>
            </a:pPr>
            <a:r>
              <a:rPr lang="en-US" sz="1400" dirty="0">
                <a:solidFill>
                  <a:schemeClr val="tx2"/>
                </a:solidFill>
              </a:rPr>
              <a:t>Autónomo, sin llamar a Python</a:t>
            </a:r>
            <a:endParaRPr lang="en-US" sz="1600" dirty="0"/>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pPr>
            <a:r>
              <a:rPr lang="en-US" sz="1400" dirty="0">
                <a:solidFill>
                  <a:schemeClr val="tx2"/>
                </a:solidFill>
              </a:rPr>
              <a:t>Los tests comprueban que ambos producen los mismos pesos y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sp>
      <p:sp>
        <p:nvSpPr>
          <p:cNvPr id="39" name="Círculo icono"/>
          <p:cNvSpPr/>
          <p:nvPr/>
        </p:nvSpPr>
        <p:spPr>
          <a:xfrm>
            <a:off x="7818120" y="4343400"/>
            <a:ext cx="457200" cy="457200"/>
          </a:xfrm>
          <a:prstGeom prst="ellipse">
            <a:avLst/>
          </a:prstGeom>
          <a:solidFill>
            <a:srgbClr val="C0263F"/>
          </a:solidFill>
          <a:ln/>
        </p:spPr>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pPr indent="0" marL="0">
              <a:buNone/>
            </a:pPr>
            <a:r>
              <a:rPr lang="en-US" sz="1400" dirty="0">
                <a:solidFill>
                  <a:schemeClr val="bg2"/>
                </a:solidFill>
              </a:rPr>
              <a:t>Oracle no guarda ningún dato personal, solo reglas de ponderación (cada hijo suma 0,05 a educación). Los datos del ciudadano son parámetros de sesión y nunca se escriben en disco.</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¿Cómo sabemos que el modelo es bueno?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Proyectamos de 2020 a 2025 sin ver el dato real y lo comparamos con el padrón oficial</a:t>
            </a:r>
            <a:endParaRPr lang="en-US" sz="1600" dirty="0"/>
          </a:p>
        </p:txBody>
      </p:sp>
      <p:sp>
        <p:nvSpPr>
          <p:cNvPr id="5" name="Número paso"/>
          <p:cNvSpPr/>
          <p:nvPr/>
        </p:nvSpPr>
        <p:spPr>
          <a:xfrm>
            <a:off x="640080" y="2048256"/>
            <a:ext cx="310896" cy="310896"/>
          </a:xfrm>
          <a:prstGeom prst="ellipse">
            <a:avLst/>
          </a:prstGeom>
          <a:solidFill>
            <a:schemeClr val="tx1"/>
          </a:solidFill>
          <a:ln/>
        </p:spPr>
        <p:txBody>
          <a:bodyPr/>
          <a:p/>
        </p:txBody>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txBody>
          <a:bodyPr/>
          <a:p/>
        </p:txBody>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txBody>
          <a:bodyPr/>
          <a:p/>
        </p:txBody>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Proyección a 2025 sin ver el dato real</a:t>
            </a:r>
            <a:endParaRPr lang="en-US" sz="1500" dirty="0"/>
          </a:p>
        </p:txBody>
      </p:sp>
      <p:sp>
        <p:nvSpPr>
          <p:cNvPr id="14" name="Número paso"/>
          <p:cNvSpPr/>
          <p:nvPr/>
        </p:nvSpPr>
        <p:spPr>
          <a:xfrm>
            <a:off x="640080" y="3419856"/>
            <a:ext cx="310896" cy="310896"/>
          </a:xfrm>
          <a:prstGeom prst="ellipse">
            <a:avLst/>
          </a:prstGeom>
          <a:solidFill>
            <a:schemeClr val="tx1"/>
          </a:solidFill>
          <a:ln/>
        </p:spPr>
        <p:txBody>
          <a:bodyPr/>
          <a:p/>
        </p:txBody>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txBody>
          <a:bodyPr/>
          <a:p/>
        </p:txBody>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txBody>
          <a:bodyPr/>
          <a:p/>
        </p:txBody>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txBody>
          <a:bodyPr/>
          <a:p/>
        </p:txBody>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pPr indent="0" marL="0">
              <a:buNone/>
            </a:pPr>
            <a:r>
              <a:rPr lang="en-US" sz="1400" dirty="0">
                <a:solidFill>
                  <a:schemeClr val="tx2"/>
                </a:solidFill>
              </a:rPr>
              <a:t>La mitad de los municipios queda por debajo del 1,55%. En uno de 5.000 habitantes, el desvío típico ronda las 78 personas.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8</a:t>
            </a: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txBody>
          <a:bodyPr/>
          <a:p/>
        </p:txBody>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txBody>
          <a:bodyPr/>
          <a:p/>
        </p:txBody>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txBody>
          <a:bodyPr/>
          <a:p/>
        </p:txBody>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txBody>
          <a:bodyPr/>
          <a:p/>
        </p:txBody>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9</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txBody>
          <a:bodyPr/>
          <a:p/>
        </p:txBody>
      </p:sp>
      <p:sp>
        <p:nvSpPr>
          <p:cNvPr id="6" name="Luz semáforo"/>
          <p:cNvSpPr/>
          <p:nvPr/>
        </p:nvSpPr>
        <p:spPr>
          <a:xfrm>
            <a:off x="914400" y="2240280"/>
            <a:ext cx="237744" cy="237744"/>
          </a:xfrm>
          <a:prstGeom prst="ellipse">
            <a:avLst/>
          </a:prstGeom>
          <a:solidFill>
            <a:srgbClr val="2E7D5B"/>
          </a:solidFill>
          <a:ln/>
        </p:spPr>
        <p:txBody>
          <a:bodyPr/>
          <a:p/>
        </p:txBody>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txBody>
          <a:bodyPr/>
          <a:p/>
        </p:txBody>
      </p:sp>
      <p:sp>
        <p:nvSpPr>
          <p:cNvPr id="12" name="Luz semáforo"/>
          <p:cNvSpPr/>
          <p:nvPr/>
        </p:nvSpPr>
        <p:spPr>
          <a:xfrm>
            <a:off x="4631436" y="2240280"/>
            <a:ext cx="237744" cy="237744"/>
          </a:xfrm>
          <a:prstGeom prst="ellipse">
            <a:avLst/>
          </a:prstGeom>
          <a:solidFill>
            <a:srgbClr val="C4820A"/>
          </a:solidFill>
          <a:ln/>
        </p:spPr>
        <p:txBody>
          <a:bodyPr/>
          <a:p/>
        </p:txBody>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txBody>
          <a:bodyPr/>
          <a:p/>
        </p:txBody>
      </p:sp>
      <p:sp>
        <p:nvSpPr>
          <p:cNvPr id="18" name="Luz semáforo"/>
          <p:cNvSpPr/>
          <p:nvPr/>
        </p:nvSpPr>
        <p:spPr>
          <a:xfrm>
            <a:off x="8348472" y="2240280"/>
            <a:ext cx="237744" cy="237744"/>
          </a:xfrm>
          <a:prstGeom prst="ellipse">
            <a:avLst/>
          </a:prstGeom>
          <a:solidFill>
            <a:srgbClr val="C0263F"/>
          </a:solidFill>
          <a:ln/>
        </p:spPr>
        <p:txBody>
          <a:bodyPr/>
          <a:p/>
        </p:txBody>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txBody>
          <a:bodyPr/>
          <a:p/>
        </p:txBody>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10</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modelo aprende, no memoriza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Garantías contra la fuga de datos y validación espacial sin atajos</a:t>
            </a:r>
            <a:endParaRPr lang="en-US" sz="1600" dirty="0"/>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Memorizar</a:t>
            </a:r>
            <a:endParaRPr lang="en-US" sz="1600" dirty="0"/>
          </a:p>
          <a:p>
            <a:pPr indent="0" marL="0">
              <a:buNone/>
            </a:pPr>
            <a:r>
              <a:rPr lang="en-US" sz="1400" dirty="0">
                <a:solidFill>
                  <a:schemeClr val="tx2"/>
                </a:solidFill>
              </a:rPr>
              <a:t>Con N = 20, un modelo demasiado complejo memoriza filas en lugar de aprender patrones.</a:t>
            </a:r>
            <a:endParaRPr lang="en-US" sz="1600" dirty="0"/>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Comparativa adversarial</a:t>
            </a:r>
            <a:endParaRPr lang="en-US" sz="1600" dirty="0"/>
          </a:p>
          <a:p>
            <a:pPr indent="0" marL="0">
              <a:buNone/>
            </a:pPr>
            <a:r>
              <a:rPr lang="en-US" sz="1400" dirty="0">
                <a:solidFill>
                  <a:schemeClr val="bg2"/>
                </a:solidFill>
              </a:rPr>
              <a:t>Versiones con y sin fuga deliberada, para confirmar que las métricas son generalización real.</a:t>
            </a:r>
            <a:endParaRPr lang="en-US" sz="1600" dirty="0"/>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pPr>
            <a:r>
              <a:rPr lang="en-US" sz="1600" b="1" dirty="0">
                <a:solidFill>
                  <a:schemeClr val="bg1"/>
                </a:solidFill>
              </a:rPr>
              <a:t>Validación espacial GroupKFold</a:t>
            </a:r>
            <a:endParaRPr lang="en-US" sz="1600" dirty="0"/>
          </a:p>
          <a:p>
            <a:pPr indent="0" marL="0">
              <a:buNone/>
            </a:pPr>
            <a:r>
              <a:rPr lang="en-US" sz="1400" dirty="0">
                <a:solidFill>
                  <a:schemeClr val="bg2"/>
                </a:solidFill>
              </a:rPr>
              <a:t>Los municipios de una misma comarca van juntos a entrenamiento o a prueba.</a:t>
            </a:r>
            <a:endParaRPr lang="en-US" sz="1600" dirty="0"/>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Control point-in-time</a:t>
            </a:r>
            <a:endParaRPr lang="en-US" sz="1600" dirty="0"/>
          </a:p>
          <a:p>
            <a:pPr indent="0" marL="0">
              <a:buNone/>
            </a:pPr>
            <a:r>
              <a:rPr lang="en-US" sz="1400" dirty="0">
                <a:solidFill>
                  <a:schemeClr val="bg2"/>
                </a:solidFill>
              </a:rPr>
              <a:t>Ningún dato de entrada es posterior a la fecha de decisión del MVP.</a:t>
            </a:r>
            <a:endParaRPr lang="en-US" sz="1600" dirty="0"/>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r>
              <a:t>73 tests unitarios y de integración</a:t>
            </a:r>
          </a:p>
          <a:p>
            <a:r>
              <a:t>Auditan las 7 fugas posibles (L1 a L7) con pytest.</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11</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txBody>
          <a:bodyPr/>
          <a:p/>
        </p:txBody>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txBody>
          <a:bodyPr/>
          <a:p/>
        </p:txBody>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txBody>
          <a:bodyPr/>
          <a:p/>
        </p:txBody>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txBody>
          <a:bodyPr/>
          <a:p/>
        </p:txBody>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12</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Resolución empírica</a:t>
            </a:r>
            <a:endParaRPr lang="en-US" sz="2000" dirty="0"/>
          </a:p>
          <a:p>
            <a:pPr indent="0" marL="0">
              <a:buNone/>
            </a:pPr>
            <a:r>
              <a:rPr lang="en-US" sz="1500" dirty="0">
                <a:solidFill>
                  <a:schemeClr val="bg2"/>
                </a:solidFill>
              </a:rPr>
              <a:t>Sustituimos la especulación por un marco cuantitativo verificado con backtest real (1,55% de error mediano) que integra capacidad dotacional y precios.</a:t>
            </a:r>
            <a:endParaRPr lang="en-US" sz="2000" dirty="0"/>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Doble utilidad</a:t>
            </a:r>
            <a:endParaRPr lang="en-US" sz="2000" dirty="0"/>
          </a:p>
          <a:p>
            <a:pPr indent="0" marL="0">
              <a:buNone/>
            </a:pPr>
            <a:r>
              <a:rPr lang="en-US" sz="1500" dirty="0">
                <a:solidFill>
                  <a:schemeClr val="bg2"/>
                </a:solidFill>
              </a:rPr>
              <a:t>Sirve a las familias que planifican su traslado y a los gestores públicos que reparten recursos con rigor.</a:t>
            </a:r>
            <a:endParaRPr lang="en-US" sz="2000" dirty="0"/>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Escalable en Oracle 23ai</a:t>
            </a:r>
            <a:endParaRPr lang="en-US" sz="2000" dirty="0"/>
          </a:p>
          <a:p>
            <a:pPr indent="0" marL="0">
              <a:buNone/>
            </a:pPr>
            <a:r>
              <a:rPr lang="en-US" sz="1500" dirty="0">
                <a:solidFill>
                  <a:schemeClr val="bg2"/>
                </a:solidFill>
              </a:rPr>
              <a:t>Listo para los 155 municipios en cuanto la Comunidad de Madrid incorpore los registros internos de centros y plazas.</a:t>
            </a:r>
            <a:endParaRPr lang="en-US" sz="2000" dirty="0"/>
          </a:p>
        </p:txBody>
      </p:sp>
      <p:sp>
        <p:nvSpPr>
          <p:cNvPr id="10" name="Cita final"/>
          <p:cNvSpPr/>
          <p:nvPr/>
        </p:nvSpPr>
        <p:spPr>
          <a:xfrm>
            <a:off x="7223760" y="1828800"/>
            <a:ext cx="4325112" cy="4297680"/>
          </a:xfrm>
          <a:prstGeom prst="roundRect">
            <a:avLst>
              <a:gd name="adj" fmla="val 2128"/>
            </a:avLst>
          </a:prstGeom>
          <a:solidFill>
            <a:schemeClr val="tx2"/>
          </a:solidFill>
          <a:ln/>
        </p:spPr>
        <p:txBody>
          <a:bodyPr/>
          <a:p/>
        </p:txBody>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r>
              <a:rPr sz="1000">
                <a:solidFill>
                  <a:srgbClr val="94A3B8"/>
                </a:solidFill>
                <a:latin typeface="Segoe UI"/>
              </a:rPr>
              <a:t>13</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r>
              <a:t>12  ·  ANEXO METODOLÓGICO</a:t>
            </a:r>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txBody>
          <a:bodyPr/>
          <a:p/>
        </p:txBody>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txBody>
          <a:bodyPr/>
          <a:p/>
        </p:txBody>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txBody>
          <a:bodyPr/>
          <a:p/>
        </p:txBody>
      </p:sp>
      <p:sp>
        <p:nvSpPr>
          <p:cNvPr id="12" name="Text 10"/>
          <p:cNvSpPr txBox="1"/>
          <p:nvPr/>
        </p:nvSpPr>
        <p:spPr>
          <a:xfrm>
            <a:off x="914400"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¿Por qué no usáis deep learning?</a:t>
            </a:r>
            <a:endParaRPr lang="en-US" sz="1800" dirty="0"/>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Con 20 municipios y sin etiquetas arbitrarias, una red neuronal sobreajustaría. Usamos árboles regularizados exportados a ONNX con tolerancia &lt; 1e-6.</a:t>
            </a:r>
            <a:endParaRPr lang="en-US" sz="1500" dirty="0"/>
          </a:p>
        </p:txBody>
      </p:sp>
      <p:sp>
        <p:nvSpPr>
          <p:cNvPr id="14" name="Pregunta"/>
          <p:cNvSpPr/>
          <p:nvPr/>
        </p:nvSpPr>
        <p:spPr>
          <a:xfrm>
            <a:off x="6199632" y="4160520"/>
            <a:ext cx="5349240" cy="2011680"/>
          </a:xfrm>
          <a:prstGeom prst="roundRect">
            <a:avLst>
              <a:gd name="adj" fmla="val 4545"/>
            </a:avLst>
          </a:prstGeom>
          <a:solidFill>
            <a:schemeClr val="bg2"/>
          </a:solidFill>
          <a:ln/>
        </p:spPr>
        <p:txBody>
          <a:bodyPr/>
          <a:p/>
        </p:txBody>
      </p:sp>
      <p:sp>
        <p:nvSpPr>
          <p:cNvPr id="15" name="Text 13"/>
          <p:cNvSpPr txBox="1"/>
          <p:nvPr/>
        </p:nvSpPr>
        <p:spPr>
          <a:xfrm>
            <a:off x="6473952"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¿Qué no habéis validado?</a:t>
            </a:r>
            <a:endParaRPr lang="en-US" sz="1800" dirty="0"/>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Que el índice anticipe por sí solo el crecimiento espontáneo (ρ = 0,10). No lo afirmamos: mide capacidad dotacional objetiva.</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14</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pPr>
              <a:defRPr sz="1050" b="1">
                <a:solidFill>
                  <a:srgbClr val="C8102E"/>
                </a:solidFill>
                <a:latin typeface="Segoe UI"/>
              </a:defRPr>
            </a:pPr>
            <a:r>
              <a:t>DEMOSTRACIÓN EN DIRECTO</a:t>
            </a:r>
          </a:p>
        </p:txBody>
      </p:sp>
      <p:sp>
        <p:nvSpPr>
          <p:cNvPr id="3" name="Title 2"/>
          <p:cNvSpPr>
            <a:spLocks noGrp="1"/>
          </p:cNvSpPr>
          <p:nvPr>
            <p:ph type="title" idx="101"/>
          </p:nvPr>
        </p:nvSpPr>
        <p:spPr/>
        <p:txBody>
          <a:bodyPr/>
          <a:lstStyle/>
          <a:p>
            <a:pPr>
              <a:defRPr sz="2100" b="1">
                <a:solidFill>
                  <a:srgbClr val="1E293B"/>
                </a:solidFill>
                <a:latin typeface="Segoe UI"/>
              </a:defRPr>
            </a:pPr>
            <a:r>
              <a:t>Plataforma interactiva (MVP) y panel de datos</a:t>
            </a:r>
          </a:p>
        </p:txBody>
      </p:sp>
      <p:sp>
        <p:nvSpPr>
          <p:cNvPr id="4" name="TextBox 3"/>
          <p:cNvSpPr txBox="1"/>
          <p:nvPr/>
        </p:nvSpPr>
        <p:spPr>
          <a:xfrm>
            <a:off x="640080" y="1371600"/>
            <a:ext cx="10881360" cy="365760"/>
          </a:xfrm>
          <a:prstGeom prst="rect">
            <a:avLst/>
          </a:prstGeom>
          <a:noFill/>
        </p:spPr>
        <p:txBody>
          <a:bodyPr wrap="square">
            <a:spAutoFit/>
          </a:bodyPr>
          <a:lstStyle/>
          <a:p>
            <a:pPr>
              <a:defRPr sz="1150">
                <a:solidFill>
                  <a:srgbClr val="64748B"/>
                </a:solidFill>
                <a:latin typeface="Segoe UI"/>
              </a:defRPr>
            </a:pPr>
            <a:r>
              <a:t>Espacio reservado para la demostración del prototipo funcional y la estructura del panel de datos</a:t>
            </a:r>
          </a:p>
        </p:txBody>
      </p:sp>
      <p:sp>
        <p:nvSpPr>
          <p:cNvPr id="5" name="Rounded Rectangle 4"/>
          <p:cNvSpPr/>
          <p:nvPr/>
        </p:nvSpPr>
        <p:spPr>
          <a:xfrm>
            <a:off x="640080" y="1828800"/>
            <a:ext cx="621792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40AF"/>
                </a:solidFill>
                <a:latin typeface="Segoe UI"/>
              </a:defRPr>
            </a:pPr>
            <a:r>
              <a:t>DEMO EN VIVO  ·  MVP WEB</a:t>
            </a:r>
          </a:p>
          <a:p>
            <a:pPr>
              <a:spcBef>
                <a:spcPts val="300"/>
              </a:spcBef>
              <a:defRPr sz="1000">
                <a:solidFill>
                  <a:srgbClr val="64748B"/>
                </a:solidFill>
                <a:latin typeface="Consolas"/>
              </a:defRPr>
            </a:pPr>
            <a:r>
              <a:t>http://localhost:8088/index.html  ·  mapa/mapa.html</a:t>
            </a:r>
          </a:p>
        </p:txBody>
      </p:sp>
      <p:sp>
        <p:nvSpPr>
          <p:cNvPr id="6" name="Rectangle 5"/>
          <p:cNvSpPr/>
          <p:nvPr/>
        </p:nvSpPr>
        <p:spPr>
          <a:xfrm>
            <a:off x="822960" y="2560320"/>
            <a:ext cx="5852160" cy="21945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475569"/>
                </a:solidFill>
                <a:latin typeface="Segoe UI"/>
              </a:defRPr>
            </a:pPr>
            <a:r>
              <a:t>[ ESPACIO PARA CAPTURA DEL MVP / DEMO EN VIVO ]</a:t>
            </a:r>
          </a:p>
          <a:p>
            <a:pPr algn="ctr">
              <a:spcBef>
                <a:spcPts val="400"/>
              </a:spcBef>
              <a:defRPr sz="1000">
                <a:solidFill>
                  <a:srgbClr val="94A3B8"/>
                </a:solidFill>
                <a:latin typeface="Segoe UI"/>
              </a:defRPr>
            </a:pPr>
            <a:r>
              <a:t>(Inserta aquí la captura de pantalla del Portal o del Mapa Interactivo)</a:t>
            </a:r>
          </a:p>
        </p:txBody>
      </p:sp>
      <p:sp>
        <p:nvSpPr>
          <p:cNvPr id="7" name="TextBox 6"/>
          <p:cNvSpPr txBox="1"/>
          <p:nvPr/>
        </p:nvSpPr>
        <p:spPr>
          <a:xfrm>
            <a:off x="822960" y="4892040"/>
            <a:ext cx="5852160" cy="1188720"/>
          </a:xfrm>
          <a:prstGeom prst="rect">
            <a:avLst/>
          </a:prstGeom>
          <a:noFill/>
        </p:spPr>
        <p:txBody>
          <a:bodyPr wrap="square">
            <a:spAutoFit/>
          </a:bodyPr>
          <a:lstStyle/>
          <a:p>
            <a:pPr>
              <a:defRPr sz="1000">
                <a:solidFill>
                  <a:srgbClr val="334155"/>
                </a:solidFill>
                <a:latin typeface="Segoe UI"/>
              </a:defRPr>
            </a:pPr>
            <a:r>
              <a:t>• Hero interactivo con 4 KPIs (+108.400 hab., 12,4 M€ inversión).</a:t>
            </a:r>
            <a:br/>
            <a:r>
              <a:t>• Recomendador ciudadano por perfiles (simulación sin persistir datos).</a:t>
            </a:r>
            <a:br/>
            <a:r>
              <a:t>• Mapa comarcal con semáforo dotacional y filtro de cuellos de botella.</a:t>
            </a:r>
          </a:p>
        </p:txBody>
      </p:sp>
      <p:sp>
        <p:nvSpPr>
          <p:cNvPr id="8" name="Rounded Rectangle 7"/>
          <p:cNvSpPr/>
          <p:nvPr/>
        </p:nvSpPr>
        <p:spPr>
          <a:xfrm>
            <a:off x="7040880" y="1828800"/>
            <a:ext cx="448056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66534"/>
                </a:solidFill>
                <a:latin typeface="Segoe UI"/>
              </a:defRPr>
            </a:pPr>
            <a:r>
              <a:t>PANEL CERTIFICADO  ·  DATASET</a:t>
            </a:r>
          </a:p>
          <a:p>
            <a:pPr>
              <a:spcBef>
                <a:spcPts val="300"/>
              </a:spcBef>
              <a:defRPr sz="950">
                <a:solidFill>
                  <a:srgbClr val="64748B"/>
                </a:solidFill>
                <a:latin typeface="Consolas"/>
              </a:defRPr>
            </a:pPr>
            <a:r>
              <a:t>data/validated/municipios_panel_validado.csv</a:t>
            </a:r>
          </a:p>
        </p:txBody>
      </p:sp>
      <p:sp>
        <p:nvSpPr>
          <p:cNvPr id="9" name="Rectangle 8"/>
          <p:cNvSpPr/>
          <p:nvPr/>
        </p:nvSpPr>
        <p:spPr>
          <a:xfrm>
            <a:off x="7223760" y="2560320"/>
            <a:ext cx="4114800" cy="21945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475569"/>
                </a:solidFill>
                <a:latin typeface="Segoe UI"/>
              </a:defRPr>
            </a:pPr>
            <a:r>
              <a:t>[ ESPACIO PARA CAPTURA DEL DATASET ]</a:t>
            </a:r>
          </a:p>
          <a:p>
            <a:pPr algn="ctr">
              <a:spcBef>
                <a:spcPts val="400"/>
              </a:spcBef>
              <a:defRPr sz="1000">
                <a:solidFill>
                  <a:srgbClr val="94A3B8"/>
                </a:solidFill>
                <a:latin typeface="Segoe UI"/>
              </a:defRPr>
            </a:pPr>
            <a:r>
              <a:t>(Inserta aquí la captura de la tabla Excel / CSV auditado)</a:t>
            </a:r>
          </a:p>
        </p:txBody>
      </p:sp>
      <p:sp>
        <p:nvSpPr>
          <p:cNvPr id="10" name="TextBox 9"/>
          <p:cNvSpPr txBox="1"/>
          <p:nvPr/>
        </p:nvSpPr>
        <p:spPr>
          <a:xfrm>
            <a:off x="7223760" y="4892040"/>
            <a:ext cx="4114800" cy="1188720"/>
          </a:xfrm>
          <a:prstGeom prst="rect">
            <a:avLst/>
          </a:prstGeom>
          <a:noFill/>
        </p:spPr>
        <p:txBody>
          <a:bodyPr wrap="square">
            <a:spAutoFit/>
          </a:bodyPr>
          <a:lstStyle/>
          <a:p>
            <a:pPr>
              <a:defRPr sz="1000">
                <a:solidFill>
                  <a:srgbClr val="334155"/>
                </a:solidFill>
                <a:latin typeface="Segoe UI"/>
              </a:defRPr>
            </a:pPr>
            <a:r>
              <a:t>• 20 municipios piloto en las 8 comarcas (200.267 hab.).</a:t>
            </a:r>
            <a:br/>
            <a:r>
              <a:t>• 92 variables verificadas (8 datos reales observados).</a:t>
            </a:r>
            <a:br/>
            <a:r>
              <a:t>• 0 valores ausentes ni repetidos · 73 tests continuos en verde.</a:t>
            </a:r>
          </a:p>
        </p:txBody>
      </p:sp>
      <p:sp>
        <p:nvSpPr>
          <p:cNvPr id="11" name="TextBox 10"/>
          <p:cNvSpPr txBox="1"/>
          <p:nvPr/>
        </p:nvSpPr>
        <p:spPr>
          <a:xfrm>
            <a:off x="10634472" y="6400800"/>
            <a:ext cx="914400" cy="274320"/>
          </a:xfrm>
          <a:prstGeom prst="rect">
            <a:avLst/>
          </a:prstGeom>
          <a:noFill/>
        </p:spPr>
        <p:txBody>
          <a:bodyPr wrap="none">
            <a:spAutoFit/>
          </a:bodyPr>
          <a:lstStyle/>
          <a:p>
            <a:pPr algn="r">
              <a:defRPr sz="1000">
                <a:solidFill>
                  <a:srgbClr val="94A3B8"/>
                </a:solidFill>
                <a:latin typeface="Segoe UI"/>
              </a:defRPr>
            </a:pPr>
            <a:r>
              <a:t>7</a:t>
            </a:r>
          </a:p>
        </p:txBody>
      </p:sp>
    </p:spTree>
  </p:cSld>
  <p:clrMapOvr>
    <a:masterClrMapping/>
  </p:clrMapOvr>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