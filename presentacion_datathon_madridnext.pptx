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II DATATHON LODCOREMADRID 2026 | UNIVERSIDAD CARLOS III DE MADRID &amp; COMUNIDAD DE MADRID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MadridNext: Capacidad de acogida territorial</a:t>
            </a:r>
          </a:p>
          <a:p>
            <a:pPr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Herramienta de diagnóstico dotacional y optimización presupuestaria para municipios de menos de 50.000 habitantes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3840480" cy="4114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  <a:latin typeface="Segoe UI"/>
              </a:defRPr>
            </a:pPr>
            <a:r>
              <a:t>ÁMBITO: 155 MUNICIPIOS (20 EN EL PANEL PILOTO)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0362895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i="1">
                <a:solidFill>
                  <a:srgbClr val="E2E8F0"/>
                </a:solidFill>
                <a:latin typeface="Segoe UI"/>
              </a:defRPr>
            </a:pPr>
            <a:r>
              <a:t>«El crecimiento demográfico regional no debe planificarse por intuición ni por mero atractivo inmobiliario. MadridNext ofrece a la Administración y a la ciudadanía una base objetiva para identificar techos dotacionales, prever cuellos de botella y priorizar inversiones públicas.»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39312"/>
            <a:ext cx="73152" cy="13167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EQUIPO DE DESARROLLO:</a:t>
            </a:r>
          </a:p>
          <a:p>
            <a:pPr>
              <a:spcBef>
                <a:spcPts val="3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Adrián Hernando Muñoz   •   Juan Torrero de Pablo   •   Alejandro Cuntin Bariteau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Cátedra I+D+i LoDCOREMadrid  ·  Salón de Grados, Campus de Leganés (UC3M)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1  ·  CONTEXTO TERRITORIAL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Asimetría demográfica y no compensación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Diagnóstico de partida en los 155 municipios de menos de 50.000 habitantes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E40AF"/>
                </a:solidFill>
                <a:latin typeface="Segoe UI"/>
              </a:defRPr>
            </a:pPr>
            <a:r>
              <a:t>CONCENTRACIÓN METROPOLITANA</a:t>
            </a:r>
          </a:p>
          <a:p>
            <a:pPr>
              <a:spcBef>
                <a:spcPts val="600"/>
              </a:spcBef>
              <a:defRPr sz="3800" b="1">
                <a:solidFill>
                  <a:srgbClr val="1E293B"/>
                </a:solidFill>
                <a:latin typeface="Segoe UI"/>
              </a:defRPr>
            </a:pPr>
            <a:r>
              <a:t>80%</a:t>
            </a:r>
          </a:p>
          <a:p>
            <a:pPr>
              <a:defRPr sz="1050" b="1">
                <a:solidFill>
                  <a:srgbClr val="64748B"/>
                </a:solidFill>
                <a:latin typeface="Segoe UI"/>
              </a:defRPr>
            </a:pPr>
            <a:r>
              <a:t>de la población regional en el área central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El 80% de la población regional vive en el área metropolitana central: congestión viaria severa, vivienda cara y tensión asistencial.</a:t>
            </a:r>
            <a:br/>
            <a:br/>
            <a:r>
              <a:t>• En contraste, los 155 municipios restantes de menos de 50.000 habitantes tienen potencial de desarrollo, pero antes hay que medir cuánto aguantan sin quebrar servicios.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0248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B45309"/>
                </a:solidFill>
                <a:latin typeface="Segoe UI"/>
              </a:defRPr>
            </a:pPr>
            <a:r>
              <a:t>LA PARADOJA DEL ATRACTIVO</a:t>
            </a:r>
          </a:p>
          <a:p>
            <a:pPr>
              <a:spcBef>
                <a:spcPts val="1400"/>
              </a:spcBef>
              <a:defRPr sz="1600" b="1">
                <a:solidFill>
                  <a:srgbClr val="1E293B"/>
                </a:solidFill>
                <a:latin typeface="Segoe UI"/>
              </a:defRPr>
            </a:pPr>
            <a:r>
              <a:t>Menor precio ≠ mayor capacidad</a:t>
            </a:r>
          </a:p>
          <a:p>
            <a:pPr>
              <a:spcBef>
                <a:spcPts val="200"/>
              </a:spcBef>
              <a:defRPr sz="1050" b="1">
                <a:solidFill>
                  <a:srgbClr val="64748B"/>
                </a:solidFill>
                <a:latin typeface="Segoe UI"/>
              </a:defRPr>
            </a:pPr>
            <a:r>
              <a:t>La trampa de las decisiones solo inmobiliarias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Un municipio con vivienda asequible puede no tener plazas escolares ni médicos para acoger a nuevas familias.</a:t>
            </a:r>
            <a:br/>
            <a:br/>
            <a:r>
              <a:t>• Atraer población a núcleos donde no hay holgura dotacional exporta el colapso urbano al entorno rural.</a:t>
            </a:r>
            <a:br/>
            <a:br/>
            <a:r>
              <a:t>• Guiar la acogida solo por precio genera bolsas de desatención social inmediata.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536192"/>
            <a:ext cx="73152" cy="4608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08976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C8102E"/>
                </a:solidFill>
                <a:latin typeface="Segoe UI"/>
              </a:defRPr>
            </a:pPr>
            <a:r>
              <a:t>REGLA DE NO COMPENSACIÓN</a:t>
            </a:r>
          </a:p>
          <a:p>
            <a:pPr>
              <a:spcBef>
                <a:spcPts val="1000"/>
              </a:spcBef>
              <a:defRPr sz="2400" b="1">
                <a:solidFill>
                  <a:srgbClr val="1E293B"/>
                </a:solidFill>
                <a:latin typeface="Segoe UI"/>
              </a:defRPr>
            </a:pPr>
            <a:r>
              <a:t>Principio de Liebig</a:t>
            </a:r>
          </a:p>
          <a:p>
            <a:pPr>
              <a:spcBef>
                <a:spcPts val="200"/>
              </a:spcBef>
              <a:defRPr sz="1050" b="1">
                <a:solidFill>
                  <a:srgbClr val="64748B"/>
                </a:solidFill>
                <a:latin typeface="Segoe UI"/>
              </a:defRPr>
            </a:pPr>
            <a:r>
              <a:t>El factor más limitante manda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Según la ley del mínimo de Liebig, la falta de sanidad o educación no se compensa con suelo ni zonas verdes.</a:t>
            </a:r>
            <a:br/>
            <a:br/>
            <a:r>
              <a:t>• Regla dura de control: Más de 1.500 hab/médico o aulas al 95%: el índice de capacidad queda automáticamente truncado por debajo de 40 puntos (Alerta Roja).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08976" y="1536192"/>
            <a:ext cx="73152" cy="4608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2  ·  TRATAMIENTO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Datos trazables: qué es real y qué es estimado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Fase 1, ingesta y etiquetado de fuentes. Fase 2, control de calidad.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Segoe UI"/>
              </a:defRPr>
            </a:pPr>
            <a:r>
              <a:t>FASE 1  ·  INGESTA Y FUENTES OFICIALES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INE (Padrón continuo 2881 y Migraciones):</a:t>
            </a:r>
            <a:br/>
            <a:r>
              <a:t>  Población histórica y saldo neto (datos reales observados).</a:t>
            </a:r>
            <a:br/>
            <a:br/>
            <a:r>
              <a:t>• CAM (Datos Abiertos CKAN Comunidad de Madrid):</a:t>
            </a:r>
            <a:br/>
            <a:r>
              <a:t>  Centros de salud en alta (SERMAS) y centros educativos reglados.</a:t>
            </a:r>
            <a:br/>
            <a:br/>
            <a:r>
              <a:t>• Catastro (Dirección General del Catastro, 2026):</a:t>
            </a:r>
            <a:br/>
            <a:r>
              <a:t>  Valor catastral medio residencial (€/m²) y volumen edificado.</a:t>
            </a:r>
            <a:br/>
            <a:br/>
            <a:r>
              <a:t>• CRTM (Consorcio Regional de Transportes):</a:t>
            </a:r>
            <a:br/>
            <a:r>
              <a:t>  Zonas tarifarias de transporte e isócronas medias a Madrid.</a:t>
            </a:r>
          </a:p>
          <a:p>
            <a:pPr>
              <a:spcBef>
                <a:spcPts val="12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Regla de honestidad: Cada variable lleva su etiqueta explícita REAL o ESTIMADO para evitar el sobreajuste (overfitting).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  <a:latin typeface="Segoe UI"/>
              </a:defRPr>
            </a:pPr>
            <a:r>
              <a:t>FASE 2  ·  CONTROL DE CALIDAD Y AUDITORÍA</a:t>
            </a:r>
          </a:p>
          <a:p>
            <a:pPr>
              <a:spcBef>
                <a:spcPts val="800"/>
              </a:spcBef>
              <a:defRPr sz="1250" b="1">
                <a:solidFill>
                  <a:srgbClr val="1E293B"/>
                </a:solidFill>
                <a:latin typeface="Consolas"/>
              </a:defRPr>
            </a:pPr>
            <a:r>
              <a:t>92  columnas del panel verificadas</a:t>
            </a:r>
            <a:br/>
            <a:r>
              <a:t>0    valores ausentes en variables de modelado</a:t>
            </a:r>
            <a:br/>
            <a:r>
              <a:t>20  códigos INE únicos, sin repetidos</a:t>
            </a:r>
            <a:br/>
            <a:r>
              <a:t>73  pruebas automatizadas continuas (100% pasando)</a:t>
            </a:r>
          </a:p>
          <a:p>
            <a:pPr>
              <a:spcBef>
                <a:spcPts val="1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Filtro de escala: Todos los municipios tienen entre 1 y 49.999 habitantes.</a:t>
            </a:r>
            <a:br/>
            <a:r>
              <a:t>• Integridad matemática: Precios (€/m²), ocupaciones y cupos son estrictamente positivos.</a:t>
            </a:r>
            <a:br/>
            <a:r>
              <a:t>• Sin fuga: Las 7 pruebas de leakage (L1 a L7) auditadas formalmente.</a:t>
            </a:r>
          </a:p>
          <a:p>
            <a:pPr>
              <a:spcBef>
                <a:spcPts val="1400"/>
              </a:spcBef>
              <a:defRPr sz="950" b="1">
                <a:solidFill>
                  <a:srgbClr val="1E40AF"/>
                </a:solidFill>
                <a:latin typeface="Consolas"/>
              </a:defRPr>
            </a:pPr>
            <a:r>
              <a:t>Dataset certificado: data/validated/municipios_panel_validado.csv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36192"/>
            <a:ext cx="73152" cy="4608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3  ·  PERFIL CIUDADANO Y 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Perfil ciudadano y privacidad por diseño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Python y Oracle como caminos paralelos, con garantía de privacidad (RGPD)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Segoe UI"/>
              </a:defRPr>
            </a:pPr>
            <a:r>
              <a:t>LO QUE INTRODUCE EL CIUDADANO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Presupuesto de vivienda: Total en euros o máximo por m².</a:t>
            </a:r>
            <a:br/>
            <a:r>
              <a:t>• Ingresos netos del hogar: Esfuerzo financiero sostenible (&lt; 30%).</a:t>
            </a:r>
            <a:br/>
            <a:r>
              <a:t>• Tiempo máximo de conexión: Minutos al trabajo o a Madrid.</a:t>
            </a:r>
            <a:br/>
            <a:r>
              <a:t>• Modo de transporte: Público (CRTM) o vehículo privado.</a:t>
            </a:r>
            <a:br/>
            <a:r>
              <a:t>• Composición familiar: Número de hijos y edades (ajusta plazas escolares).</a:t>
            </a:r>
            <a:br/>
            <a:r>
              <a:t>• Régimen de tenencia: Preferencia por compra o alquiler.</a:t>
            </a:r>
          </a:p>
          <a:p>
            <a:pPr>
              <a:spcBef>
                <a:spcPts val="12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Motor multicriterio: Un módulo (config/perfiles.py) convierte las respuestas en pesos normalizados que suman 1,0 y reordena los municipios sin tocar el ICA objetivo.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8102E"/>
                </a:solidFill>
                <a:latin typeface="Segoe UI"/>
              </a:defRPr>
            </a:pPr>
            <a:r>
              <a:t>DOS CAMINOS PARALELOS Y PRIVACIDAD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Python: Lee el CSV validado de forma desacoplada.</a:t>
            </a:r>
            <a:br/>
            <a:r>
              <a:t>• Oracle APEX: Autónomo en PL/SQL, sin llamar a Python.</a:t>
            </a:r>
            <a:br/>
            <a:br/>
            <a:r>
              <a:t>• Paridad garantizada: Los tests continuos comprueban que ambos caminos producen exactamente los mismos pesos y el mismo ranking ante idénticos datos.</a:t>
            </a:r>
          </a:p>
          <a:p>
            <a:pPr>
              <a:spcBef>
                <a:spcPts val="1400"/>
              </a:spcBef>
              <a:defRPr sz="1100" b="1">
                <a:solidFill>
                  <a:srgbClr val="C8102E"/>
                </a:solidFill>
                <a:latin typeface="Segoe UI"/>
              </a:defRPr>
            </a:pPr>
            <a:r>
              <a:t>PRIVACIDAD ESTRICTA POR DISEÑO (RGPD):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La base de datos Oracle no guarda ningún dato personal del ciudadano. Solo almacena las 5-6 reglas maestras de ponderación (ej.: «cada hijo suma 0,05 a educación»).</a:t>
            </a:r>
            <a:br/>
            <a:br/>
            <a:r>
              <a:t>Los datos del ciudadano entran como parámetros volátiles de sesión y nunca se escriben en disco.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36192"/>
            <a:ext cx="73152" cy="4608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4  ·  ECOSISTEMA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Cinco modelos, una ficha municipal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«M1 dice si es asequible, M2 si tiene servicios, M3 si va a crecer, M4 cuánta gente cabe y M5 cuál te conviene»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Segoe UI"/>
              </a:defRPr>
            </a:pPr>
            <a:r>
              <a:t>M1  ·  Asequibilidad y precio (AVM)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Pregunta: ¿Puedo permitirme vivir aquí?  —  Respuesta analítica: Precio predicho (€/m²), esfuerzo familiar (% de la renta) y brecha de mercado.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72237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432304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  <a:latin typeface="Segoe UI"/>
              </a:defRPr>
            </a:pPr>
            <a:r>
              <a:t>M2  ·  Dotación e infraestructuras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Pregunta: ¿Qué tal servicios y conexión?  —  Respuesta analítica: Cuatro subíndices de 0 a 100: sanidad, educación, conectividad y calidad residencial.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05456"/>
            <a:ext cx="73152" cy="7223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401568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  <a:latin typeface="Segoe UI"/>
              </a:defRPr>
            </a:pPr>
            <a:r>
              <a:t>M3  ·  Demografía y series temporales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Pregunta: ¿Va a crecer o a vaciarse?  —  Respuesta analítica: Proyección a 5 y 10 años (2030 y 2035) y año estimado de saturación.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73152" cy="7223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370832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8102E"/>
                </a:solidFill>
                <a:latin typeface="Segoe UI"/>
              </a:defRPr>
            </a:pPr>
            <a:r>
              <a:t>M4  ·  Capacidad neta de carga (ICA)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Pregunta: ¿Cuánta gente cabe y qué se rompe?  —  Respuesta analítica: Habitantes adicionales sostenibles e identificación del factor limitante.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43984"/>
            <a:ext cx="73152" cy="72237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340096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M5  ·  Recomendador y optimizador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Pregunta: ¿Cuál encaja conmigo?  —  Respuesta analítica: Ranking adaptado al perfil ciudadano y optimización de la inversión pública.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13248"/>
            <a:ext cx="73152" cy="7223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5  ·  CLARIDAD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Evaluar, predecir y simular no es lo mismo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Diferenciación estricta entre evaluar el presente, predecir el futuro y simular escenarios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Segoe UI"/>
              </a:defRPr>
            </a:pPr>
            <a:r>
              <a:t>1. EVALUAR / ORDENAR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¿Qué municipio encaja con lo que pido?</a:t>
            </a:r>
          </a:p>
          <a:p>
            <a:pPr>
              <a:spcBef>
                <a:spcPts val="1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NECESITA:</a:t>
            </a:r>
            <a:br/>
            <a:r>
              <a:t>  Ningún dato del futuro: lo observado ya existe hoy.</a:t>
            </a:r>
            <a:br/>
            <a:br/>
            <a:r>
              <a:t>• FUNCIÓN:</a:t>
            </a:r>
            <a:br/>
            <a:r>
              <a:t>  Reordenar municipios según preferencias declaradas.</a:t>
            </a:r>
            <a:br/>
            <a:br/>
            <a:r>
              <a:t>• IMPLEMENTACIÓN:</a:t>
            </a:r>
            <a:br/>
            <a:r>
              <a:t>  Ranking adaptativo por perfiles (C2 / M5).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0248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  <a:latin typeface="Segoe UI"/>
              </a:defRPr>
            </a:pPr>
            <a:r>
              <a:t>2. PREDECIR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¿Qué pasará en este municipio en 2030?</a:t>
            </a:r>
          </a:p>
          <a:p>
            <a:pPr>
              <a:spcBef>
                <a:spcPts val="1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NECESITA:</a:t>
            </a:r>
            <a:br/>
            <a:r>
              <a:t>  Estimar una incógnita futura con series temporales.</a:t>
            </a:r>
            <a:br/>
            <a:br/>
            <a:r>
              <a:t>• FUNCIÓN:</a:t>
            </a:r>
            <a:br/>
            <a:r>
              <a:t>  Anticipar población futura y año de saturación dotacional.</a:t>
            </a:r>
            <a:br/>
            <a:br/>
            <a:r>
              <a:t>• IMPLEMENTACIÓN:</a:t>
            </a:r>
            <a:br/>
            <a:r>
              <a:t>  Modelo M3 (población 2030/2035 y año de colapso).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536192"/>
            <a:ext cx="73152" cy="4608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08976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  <a:latin typeface="Segoe UI"/>
              </a:defRPr>
            </a:pPr>
            <a:r>
              <a:t>3. SIMULAR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Segoe UI"/>
              </a:defRPr>
            </a:pPr>
            <a:r>
              <a:t>¿Qué pasa si invierto X o llegan N personas?</a:t>
            </a:r>
          </a:p>
          <a:p>
            <a:pPr>
              <a:spcBef>
                <a:spcPts val="1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NECESITA:</a:t>
            </a:r>
            <a:br/>
            <a:r>
              <a:t>  No predice: recalcula con reglas normativas ante supuestos (what-if).</a:t>
            </a:r>
            <a:br/>
            <a:br/>
            <a:r>
              <a:t>• FUNCIÓN:</a:t>
            </a:r>
            <a:br/>
            <a:r>
              <a:t>  Medir impacto presupuestario y cuellos de botella.</a:t>
            </a:r>
            <a:br/>
            <a:br/>
            <a:r>
              <a:t>• IMPLEMENTACIÓN:</a:t>
            </a:r>
            <a:br/>
            <a:r>
              <a:t>  Simulador what-if y optimizador Simplex.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08976" y="1536192"/>
            <a:ext cx="73152" cy="4608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6  ·  VALIDACIÓN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¿Cómo sabemos que el modelo es bueno?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Proyectamos de 2020 a 2025 sin ver el dato real y lo comparamos con el padrón oficial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Segoe UI"/>
              </a:defRPr>
            </a:pPr>
            <a:r>
              <a:t>MÉTODO DE VALIDACIÓN (BACKTESTING 5 PASOS)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1. Población real de 2015 y 2020 (INE)</a:t>
            </a:r>
            <a:br/>
            <a:r>
              <a:t>2. Tasa anual geométrica de crecimiento</a:t>
            </a:r>
            <a:br/>
            <a:r>
              <a:t>3. Proyección a 2025 sin ver el dato real</a:t>
            </a:r>
            <a:br/>
            <a:r>
              <a:t>4. Contraste con el padrón oficial de 2025</a:t>
            </a:r>
            <a:br/>
            <a:r>
              <a:t>5. Medición del error en porcentaje y habitantes</a:t>
            </a:r>
          </a:p>
          <a:p>
            <a:pPr>
              <a:spcBef>
                <a:spcPts val="1400"/>
              </a:spcBef>
              <a:defRPr sz="1600" b="1">
                <a:solidFill>
                  <a:srgbClr val="166534"/>
                </a:solidFill>
                <a:latin typeface="Segoe UI"/>
              </a:defRPr>
            </a:pPr>
            <a:r>
              <a:t>1,55%  error mediano a 5 años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7,02%  error mediano si se asume que nada cambia (inercial)</a:t>
            </a:r>
          </a:p>
          <a:p>
            <a:pPr>
              <a:spcBef>
                <a:spcPts val="1000"/>
              </a:spcBef>
              <a:defRPr sz="1050" b="1">
                <a:solidFill>
                  <a:srgbClr val="1E293B"/>
                </a:solidFill>
                <a:latin typeface="Segoe UI"/>
              </a:defRPr>
            </a:pPr>
            <a:r>
              <a:t>La mitad de los municipios queda por debajo del 1,55%. En uno de 5.000 habitantes, el desvío típico ronda las 78 personas.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  <a:latin typeface="Segoe UI"/>
              </a:defRPr>
            </a:pPr>
            <a:r>
              <a:t>ERROR DE LA PROYECCIÓN 2020 → 2025 (%)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Consolas"/>
              </a:defRPr>
            </a:pPr>
            <a:r>
              <a:t>Municipio               Predicho   Real     Desvío</a:t>
            </a:r>
            <a:br/>
            <a:r>
              <a:t>--------------------------------------------------</a:t>
            </a:r>
            <a:br/>
            <a:r>
              <a:t>Robledo de Chavela        4.815   4.818     −3  (0,06%)</a:t>
            </a:r>
            <a:br/>
            <a:r>
              <a:t>Manzanares el Real        9.610   9.648    −38  (0,39%)</a:t>
            </a:r>
            <a:br/>
            <a:r>
              <a:t>Buitrago del Lozoya       2.058   2.034    +24  (1,17%)</a:t>
            </a:r>
            <a:br/>
            <a:r>
              <a:t>Meco                     16.219  15.922   +297  (1,86%)</a:t>
            </a:r>
            <a:br/>
            <a:r>
              <a:t>Chinchón                  5.390   5.800   −410  (7,07%)</a:t>
            </a:r>
            <a:br/>
            <a:r>
              <a:t>Villa del Prado           6.918   7.743   −825 (10,66%)</a:t>
            </a:r>
            <a:br/>
            <a:r>
              <a:t>Montejo de la Sierra        354     404    −50 (12,31%)</a:t>
            </a:r>
          </a:p>
          <a:p>
            <a:pPr>
              <a:spcBef>
                <a:spcPts val="1400"/>
              </a:spcBef>
              <a:defRPr sz="1050" b="1">
                <a:solidFill>
                  <a:srgbClr val="334155"/>
                </a:solidFill>
                <a:latin typeface="Segoe UI"/>
              </a:defRPr>
            </a:pPr>
            <a:r>
              <a:t>Conclusión: Precisión milimétrica en municipios estables y alerta cuantitativa anticipada en municipios sobretensionados.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36192"/>
            <a:ext cx="73152" cy="4608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7  ·  JUSTIFICACIÓN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El ICA mide capacidad, no atractivo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Esa paradoja justifica la herramienta: crece más quien menos capacidad tiene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  <a:latin typeface="Segoe UI"/>
              </a:defRPr>
            </a:pPr>
            <a:r>
              <a:t>EL LÍMITE, DICHO CON HONESTIDAD</a:t>
            </a:r>
          </a:p>
          <a:p>
            <a:pPr>
              <a:spcBef>
                <a:spcPts val="600"/>
              </a:spcBef>
              <a:defRPr sz="3600" b="1">
                <a:solidFill>
                  <a:srgbClr val="1E293B"/>
                </a:solidFill>
                <a:latin typeface="Segoe UI"/>
              </a:defRPr>
            </a:pPr>
            <a:r>
              <a:t>ρ = 0,10</a:t>
            </a:r>
          </a:p>
          <a:p>
            <a:pPr>
              <a:defRPr sz="1050" b="1">
                <a:solidFill>
                  <a:srgbClr val="64748B"/>
                </a:solidFill>
                <a:latin typeface="Segoe UI"/>
              </a:defRPr>
            </a:pPr>
            <a:r>
              <a:t>Correlación entre el ICA y el crecimiento espontáneo: no significativa.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El ICA mide dónde hay infraestructura disponible para crecer sin colapsar servicios esenciales.</a:t>
            </a:r>
            <a:br/>
            <a:br/>
            <a:r>
              <a:t>• La gente no se muda espontáneamente adonde sobran plazas escolares o médicos, sino adonde hay alquiler barato o inercia urbana metropolitana.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8102E"/>
                </a:solidFill>
                <a:latin typeface="Segoe UI"/>
              </a:defRPr>
            </a:pPr>
            <a:r>
              <a:t>LOS QUE MÁS CRECEN, MENOS CAPACIDAD TIENEN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  <a:latin typeface="Segoe UI"/>
              </a:defRPr>
            </a:pPr>
            <a:r>
              <a:t>+16,2% (2020 a 2025)  ·  Villa del Prado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Capacidad BAJA (ICA 36,9). Centro de salud y consultorios sobrecargados.</a:t>
            </a:r>
          </a:p>
          <a:p>
            <a:pPr>
              <a:spcBef>
                <a:spcPts val="1200"/>
              </a:spcBef>
              <a:defRPr sz="1300" b="1">
                <a:solidFill>
                  <a:srgbClr val="1E293B"/>
                </a:solidFill>
                <a:latin typeface="Segoe UI"/>
              </a:defRPr>
            </a:pPr>
            <a:r>
              <a:t>+11,2% (31.979 habitantes)  ·  Navalcarnero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ALERTA ROJA (ICA 24,5), con 1.667 hab/médico y ocupación escolar al 95,2%.</a:t>
            </a:r>
          </a:p>
          <a:p>
            <a:pPr>
              <a:spcBef>
                <a:spcPts val="1400"/>
              </a:spcBef>
              <a:defRPr sz="1050" b="1">
                <a:solidFill>
                  <a:srgbClr val="C8102E"/>
                </a:solidFill>
                <a:latin typeface="Segoe UI"/>
              </a:defRPr>
            </a:pPr>
            <a:r>
              <a:t>Sin intervención pública planificada, la inercia seguirá llenando municipios que ya están saturados. MadridNext reorienta ese flujo hacia donde hay capacidad real.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36192"/>
            <a:ext cx="73152" cy="4608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8  ·  DIAGNÓSTICO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El semáforo ICA y la alerta no compensatoria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Umbrales de capacidad e interrupción automática del encaje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ALTA (≥ 60)</a:t>
            </a:r>
          </a:p>
          <a:p>
            <a:pPr>
              <a:spcBef>
                <a:spcPts val="2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Mucho margen de acogida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Absorbe población de inmediato sin comprometer colegios ni consultorios. Ejemplos: Robledo de Chavela (66,7) y Buitrago del Lozoya (62,5).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213969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0248" y="146304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5309"/>
                </a:solidFill>
                <a:latin typeface="Segoe UI"/>
              </a:defRPr>
            </a:pPr>
            <a:r>
              <a:t>MEDIA (40–59)</a:t>
            </a:r>
          </a:p>
          <a:p>
            <a:pPr>
              <a:spcBef>
                <a:spcPts val="2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Margen justo, condicionado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Admite nuevos vecinos siempre que se acompañe de inversiones puntuales en refuerzo dotacional. Absorbe crecimiento con planificación.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536192"/>
            <a:ext cx="73152" cy="21396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08976" y="146304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8102E"/>
                </a:solidFill>
                <a:latin typeface="Segoe UI"/>
              </a:defRPr>
            </a:pPr>
            <a:r>
              <a:t>BAJA (&lt; 40)</a:t>
            </a:r>
          </a:p>
          <a:p>
            <a:pPr>
              <a:spcBef>
                <a:spcPts val="2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Sin margen: saturación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Servicios esenciales en situación crítica: la llegada de más vecinos provoca el colapso dotacional y la degradación asistencial inmediata.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08976" y="1536192"/>
            <a:ext cx="73152" cy="213969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7286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8102E"/>
                </a:solidFill>
                <a:latin typeface="Segoe UI"/>
              </a:defRPr>
            </a:pPr>
            <a:r>
              <a:t>ALERTA S  ·  REGLA NO COMPENSATORIA (COLAPSO CRÍTICO)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Disparador automático: Se activa 'S' con más de 1.500 hab/médico o una ocupación escolar superior al 95%.</a:t>
            </a:r>
            <a:br/>
            <a:r>
              <a:t>• Truncamiento forzado: El ICA total se trunca por debajo de 40 puntos y el encaje máximo para cualquier ciudadano queda topado en 39, aunque la vivienda sea barata o sobren zonas verdes.</a:t>
            </a:r>
            <a:br/>
            <a:r>
              <a:t>• Caso verificado: Cercedilla presenta una puntuación teórica de 34,61 y queda clasificada con Alerta S, advirtiendo a las familias de que su red asistencial no admite más presión.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50791"/>
            <a:ext cx="73152" cy="20939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9  ·  ROBUSTEZ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El modelo aprende, no memoriza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Garantías contra la fuga de datos y validación espacial sin atajos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8102E"/>
                </a:solidFill>
                <a:latin typeface="Segoe UI"/>
              </a:defRPr>
            </a:pPr>
            <a:r>
              <a:t>TRES FORMAS DE HACER TRAMPA (PREVENIDAS)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1. Mirar al futuro (Fuga Temporal):</a:t>
            </a:r>
            <a:br/>
            <a:r>
              <a:t>Usar la población proyectada a 2031 para predecir 2025 infla las métricas pero deja el modelo inservible en producción.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2. Mezclar vecinos (Fuga Espacial):</a:t>
            </a:r>
            <a:br/>
            <a:r>
              <a:t>Repartir al azar municipios contiguos entre entrenamiento y prueba filtra información por correlación espacial.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3. Memorizar (Sobreajuste):</a:t>
            </a:r>
            <a:br/>
            <a:r>
              <a:t>Con N = 20, un modelo demasiado complejo memoriza filas en lugar de aprender patrones generales.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  <a:latin typeface="Segoe UI"/>
              </a:defRPr>
            </a:pPr>
            <a:r>
              <a:t>CÓMO LO COMPROBAMOS (AUDITORÍA)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✔ Comparativa adversarial:</a:t>
            </a:r>
            <a:br/>
            <a:r>
              <a:t>Versiones con y sin fuga deliberada para confirmar que las métricas finales corresponden a generalización real.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✔ Validación espacial GroupKFold:</a:t>
            </a:r>
            <a:br/>
            <a:r>
              <a:t>Los municipios de una misma comarca van juntos a entrenamiento o a prueba, impidiendo contaminación vecinal.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✔ Control point-in-time:</a:t>
            </a:r>
            <a:br/>
            <a:r>
              <a:t>Ningún dato de entrada es posterior a la fecha de decisión del MVP.</a:t>
            </a:r>
          </a:p>
          <a:p>
            <a:pPr>
              <a:spcBef>
                <a:spcPts val="800"/>
              </a:spcBef>
              <a:defRPr sz="1050" b="1">
                <a:solidFill>
                  <a:srgbClr val="166534"/>
                </a:solidFill>
                <a:latin typeface="Segoe UI"/>
              </a:defRPr>
            </a:pPr>
            <a:r>
              <a:t>✔ 73 tests continuos en verde:</a:t>
            </a:r>
            <a:br/>
            <a:r>
              <a:t>Auditan formalmente las 7 fugas posibles (L1 a L7) y sincronización SQL con pytest.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36192"/>
            <a:ext cx="73152" cy="4608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10  ·  HERRAMIENTAS PARA LA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Simulador what-if y optimizador presupuestario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Instrumentos analíticos para decidir y repartir presupuesto público regional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Segoe UI"/>
              </a:defRPr>
            </a:pPr>
            <a:r>
              <a:t>PANTALLA 1  ·  SIMULADOR WHAT-IF</a:t>
            </a:r>
          </a:p>
          <a:p>
            <a:pPr>
              <a:spcBef>
                <a:spcPts val="600"/>
              </a:spcBef>
              <a:defRPr sz="1250" b="1">
                <a:solidFill>
                  <a:srgbClr val="1E293B"/>
                </a:solidFill>
                <a:latin typeface="Segoe UI"/>
              </a:defRPr>
            </a:pPr>
            <a:r>
              <a:t>«¿Si entran 2.000 personas en este pueblo, qué pasa?»</a:t>
            </a:r>
          </a:p>
          <a:p>
            <a:pPr>
              <a:spcBef>
                <a:spcPts val="10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Recálculo reactivo instantáneo: Actualiza de inmediato todos los indicadores de presión dotacional ante el incremento de población.</a:t>
            </a:r>
            <a:br/>
            <a:br/>
            <a:r>
              <a:t>• Diagnóstico del colapso: Indica qué servicio entra antes en crisis (médicos o aulas), cuántas plazas faltan y cuánto cuesta reforzarlo.</a:t>
            </a:r>
            <a:br/>
            <a:br/>
            <a:r>
              <a:t>• Evaluación preventiva: Permite a los ayuntamientos evaluar planes urbanísticos antes de conceder licencias residenciales masivas.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4608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  <a:latin typeface="Segoe UI"/>
              </a:defRPr>
            </a:pPr>
            <a:r>
              <a:t>PANTALLA 2  ·  OPTIMIZADOR M5 (SIMPLEX)</a:t>
            </a:r>
          </a:p>
          <a:p>
            <a:pPr>
              <a:spcBef>
                <a:spcPts val="600"/>
              </a:spcBef>
              <a:defRPr sz="1250" b="1">
                <a:solidFill>
                  <a:srgbClr val="1E293B"/>
                </a:solidFill>
                <a:latin typeface="Segoe UI"/>
              </a:defRPr>
            </a:pPr>
            <a:r>
              <a:t>«Tengo 2.000.000 €, ¿dónde los reparto en esta comarca?»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Caso Real Sierra Oeste (Programación Lineal):</a:t>
            </a:r>
            <a:br/>
            <a:r>
              <a:t>• Villa del Prado: 450.000 € (1 médico) → +830 personas.</a:t>
            </a:r>
            <a:br/>
            <a:r>
              <a:t>• S. Martín Valdeiglesias: 600.000 € (50 plazas) → +279 hab.</a:t>
            </a:r>
            <a:br/>
            <a:r>
              <a:t>• Robledo de Chavela: 600.000 € (50 plazas) → +227 hab.</a:t>
            </a:r>
            <a:br/>
            <a:r>
              <a:t>• Navalcarnero: 0 € asignados de forma justificada (su restricción es la vivienda, no las dotaciones).</a:t>
            </a:r>
          </a:p>
          <a:p>
            <a:pPr>
              <a:spcBef>
                <a:spcPts val="1000"/>
              </a:spcBef>
              <a:defRPr sz="1100" b="1">
                <a:solidFill>
                  <a:srgbClr val="166534"/>
                </a:solidFill>
                <a:latin typeface="Segoe UI"/>
              </a:defRPr>
            </a:pPr>
            <a:r>
              <a:t>1.650.000 € invertidos  |  +1.336 personas  |  350.000 € ahorrados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36192"/>
            <a:ext cx="73152" cy="4608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11  ·  CONCLUSIONES Y TRANSFERENCIA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Del piloto de 20 municipios a toda la región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Tres aportaciones estratégicas para la Comunidad de Madrid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Segoe UI"/>
              </a:defRPr>
            </a:pPr>
            <a:r>
              <a:t>1. RESOLUCIÓN EMPÍRICA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Sustituimos la especulación por un marco cuantitativo verificado con backtest real (1,55% de error mediano) que integra capacidad dotacional y precios inmobiliarios.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296265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0248" y="1463040"/>
            <a:ext cx="3337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6534"/>
                </a:solidFill>
                <a:latin typeface="Segoe UI"/>
              </a:defRPr>
            </a:pPr>
            <a:r>
              <a:t>2. DOBLE UTILIDAD PRÁCTICA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Sirve tanto a las familias que planifican su traslado como a los gestores públicos de la Comunidad que deben decidir y repartir recursos presupuestarios con rigor.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536192"/>
            <a:ext cx="73152" cy="296265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08976" y="1463040"/>
            <a:ext cx="3337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8102E"/>
                </a:solidFill>
                <a:latin typeface="Segoe UI"/>
              </a:defRPr>
            </a:pPr>
            <a:r>
              <a:t>3. ESCALABLE EN ORACLE 23ai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Arquitectura lista para escalar a los 155 municipios en cuanto la Comunidad de Madrid incorpore los registros internos detallados de centros y plazas.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08976" y="1536192"/>
            <a:ext cx="73152" cy="29626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728655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F1F5F9"/>
                </a:solidFill>
                <a:latin typeface="Segoe UI"/>
              </a:defRPr>
            </a:pPr>
            <a:r>
              <a:t>«No venimos a decir que nuestro índice predice el futuro: venimos a demostrar cuánto acierta, para qué sirve y cómo optimiza cada euro público invertido en la Comunidad de Madrid.»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73752"/>
            <a:ext cx="73152" cy="127101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8102E"/>
                </a:solidFill>
                <a:latin typeface="Segoe UI"/>
              </a:defRPr>
            </a:pPr>
            <a:r>
              <a:t>12  ·  ANEXO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Segoe UI"/>
              </a:defRPr>
            </a:pPr>
            <a:r>
              <a:t>Anexo: preguntas que puede hacer el jurado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Respuestas técnicas a las preguntas más probables durante la defensa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Pregunta: ¿Cómo sé que el índice sirve?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Respuesta: Mide capacidad de carga, no atractivo residencial. Contrastado con el crecimiento real, los pueblos que más crecen son los que ya están saturados, lo que justifica intervenir.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" cy="90525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Pregunta: ¿Son fiables las proyecciones demográficas?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Respuesta: Presentan un error mediano contrastado del 1,55% a 5 años en ventanas históricas (INE 2015-2025), frente al 7,02% de suponer que nada cambia.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24912"/>
            <a:ext cx="73152" cy="90525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Pregunta: ¿Por qué no usáis deep learning?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Respuesta: Con 20 municipios y sin etiquetas arbitrarias, una red neuronal sobreajustaría. Usamos árboles regularizados exportados a ONNX con tolerancia &lt; 1e-6.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13631"/>
            <a:ext cx="73152" cy="90525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Pregunta: ¿Qué no habéis validado?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Respuesta: Que el índice anticipe por sí solo el crecimiento espontáneo (ρ = 0,10). No lo afirmamos: mide capacidad dotacional objetiva.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02352"/>
            <a:ext cx="73152" cy="90525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II DATATHON LODCOREMADRID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Segoe UI"/>
              </a:defRPr>
            </a:pPr>
            <a:r>
              <a:t>Muchas gracias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C8102E"/>
                </a:solidFill>
                <a:latin typeface="Segoe UI"/>
              </a:defRPr>
            </a:pPr>
            <a:r>
              <a:t>¿Preguntas?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931920"/>
            <a:ext cx="8534095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94A3B8"/>
                </a:solidFill>
                <a:latin typeface="Segoe UI"/>
              </a:defRPr>
            </a:pPr>
            <a:r>
              <a:t>MADRIDNEXT: CAPACIDAD DE ACOGIDA TERRITORIAL</a:t>
            </a:r>
          </a:p>
          <a:p>
            <a:pPr algn="ctr"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Adrián Hernando Muñoz   •   Juan Torrero de Pablo   •   Alejandro Cuntin Bariteau</a:t>
            </a:r>
          </a:p>
          <a:p>
            <a:pPr algn="ctr">
              <a:spcBef>
                <a:spcPts val="5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Universidad Carlos III de Madrid  ·  Comunidad de Madrid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