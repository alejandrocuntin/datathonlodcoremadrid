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II DATATHON LODCOREMADRID 2026 | UNIVERSIDAD CARLOS III DE MADRID &amp; COMUNIDAD DE MADRID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MadridNext: Capacidad de Acogida Territorial</a:t>
            </a:r>
          </a:p>
          <a:p>
            <a:pPr>
              <a:spcBef>
                <a:spcPts val="500"/>
              </a:spcBef>
              <a:defRPr sz="1600">
                <a:solidFill>
                  <a:srgbClr val="CBD5E1"/>
                </a:solidFill>
                <a:latin typeface="Segoe UI"/>
              </a:defRPr>
            </a:pPr>
            <a:r>
              <a:t>Herramienta analítica de diagnóstico dotacional y optimización presupuestaria en municipios &lt; 50.000 hab.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102E"/>
                </a:solidFill>
                <a:latin typeface="Segoe UI"/>
              </a:defRPr>
            </a:pPr>
            <a:r>
              <a:t>EQUIPO DE DESARROLLO: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Adrián Hernando Muñoz   •   Juan Torrero de Pablo   •   Alejandro Cuntin Bariteau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03320"/>
            <a:ext cx="10362895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94A3B8"/>
                </a:solidFill>
                <a:latin typeface="Segoe UI"/>
              </a:defRPr>
            </a:pPr>
            <a:r>
              <a:t>DECLARACIÓN DE PROPÓSITO DEL PROYECTO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«El crecimiento demográfico regional no debe planificarse por intuición ni por mero atractivo inmobiliario. MadridNext proporciona a la Administración y a la ciudadanía una base objetiva para identificar techos dotacionales, prever cuellos de botella y priorizar inversiones públicas.»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94A3B8"/>
                </a:solidFill>
                <a:latin typeface="Segoe UI"/>
              </a:defRPr>
            </a:pPr>
            <a:r>
              <a:t>Sesión Oficial de Presentación de Proyectos | Campus de Leganés, UC3M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Plataforma tecnológica: Ingesta de datos abiertos, inferencia relacional Oracle Database 23ai (ONNX) y portal interactivo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1. CONTEXTO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La Asimetría Demográfica y el Principio de No Compensación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Diagnóstico de partida en los 155 municipios de menos de 50.000 habitantes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CONCENTRACIÓN METROPOLITANA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155 Municipios en la Corona Regional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• El 80% de la población de la Comunidad de Madrid se concentra en el área metropolitana central.</a:t>
            </a:r>
            <a:br/>
            <a:br/>
            <a:r>
              <a:t>• Esta concentración genera congestión viaria severa, encarecimiento inmobiliario y tensiones en la red asistencial.</a:t>
            </a:r>
            <a:br/>
            <a:br/>
            <a:r>
              <a:t>• En contraste, 155 municipios cuentan con potencial de desarrollo, pero requieren evaluación previa de su capacidad de carga.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19072"/>
            <a:ext cx="73152" cy="44256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LA PARADOJA DEL ATRACTIVO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Menor Precio ≠ Mayor Capacidad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• Las decisiones residenciales basadas únicamente en el precio por metro cuadrado o la proximidad natural son insuficientes.</a:t>
            </a:r>
            <a:br/>
            <a:br/>
            <a:r>
              <a:t>• Un municipio con vivienda asequible puede carecer de cupos escolares o médicos para asumir nuevas familias.</a:t>
            </a:r>
            <a:br/>
            <a:br/>
            <a:r>
              <a:t>• Atraer población a núcleos sin holgura dotacional exporta el colapso urbano al entorno rural.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19072"/>
            <a:ext cx="73152" cy="44256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102E"/>
                </a:solidFill>
                <a:latin typeface="Segoe UI"/>
              </a:defRPr>
            </a:pPr>
            <a:r>
              <a:t>REGLA DE NO COMPENSACIÓN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Principio del Cuello de Botella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• Fundamento epistemológico: Ley del Mínimo de Liebig.</a:t>
            </a:r>
            <a:br/>
            <a:br/>
            <a:r>
              <a:t>• La carencia severa de un servicio crítico (sanidad o educación) no puede compensarse con abundancia de suelo o zonas verdes.</a:t>
            </a:r>
            <a:br/>
            <a:br/>
            <a:r>
              <a:t>• Regla de control: Si hab/médico &gt; 1.500 o la ocupación escolar &gt; 95%, el índice de capacidad queda limitado a nivel de alerta (&lt;40).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2. TRATAMIENTO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Fase 1 (Ingesta) y Fase 2 (Control de Calidad y Validación)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Tratamiento metrológico estricto: qué es real y qué es estimado para evitar sobreajuste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FASE 1: INGESTA Y ETIQUETADO DE FUENTES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Etiquetado Sistemático de Procedencia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INE (Padrón continuo 2881 y Migraciones):</a:t>
            </a:r>
            <a:br/>
            <a:r>
              <a:t>  Datos reales observados de población histórica y saldo neto.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Comunidad de Madrid (Datos Abiertos CKAN):</a:t>
            </a:r>
            <a:br/>
            <a:r>
              <a:t>  Registro oficial de Centros de Salud en ALTA (SERMAS) y red de centros educativos.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Dirección General del Catastro (2026):</a:t>
            </a:r>
            <a:br/>
            <a:r>
              <a:t>  Valores catastrales medios (€/m²) y volumen edificado.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Consorcio Regional de Transportes (CRTM):</a:t>
            </a:r>
            <a:br/>
            <a:r>
              <a:t>  Zonas tarifarias de transporte e isócronas medias a Madrid.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Regla de honestidad: Cada variable lleva asociada su etiqueta explícita de procedencia (REAL vs. ESTIMADO) para evitar el sobreajuste (overfitting) y declarar con rigor qué magnitudes son directamente observadas.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  <a:latin typeface="Segoe UI"/>
              </a:defRPr>
            </a:pPr>
            <a:r>
              <a:t>FASE 2: PROTOCOLO DE CONTROL DE CALIDAD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Comprobaciones y Filtros Estrictos en Rango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Columnas Obligatorias: Presencia verificada de las 92 columnas del panel analítico procesado.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Integridad de Datos (Sin Nulos): Cero registros con valores ausentes en las variables de modelado.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Unicidad Territorial: 0 municipios repetidos (20 códigos INE únicos contrastados).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Rango de Población del Reto: Todos los municipios cumplen estrictamente tener entre 1 y 49.999 habitantes.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Coherencia en Magnitudes: Precios (€/m²), ratios de ocupación escolar y cupos sanitarios positivos.</a:t>
            </a:r>
          </a:p>
          <a:p>
            <a:pPr>
              <a:spcBef>
                <a:spcPts val="800"/>
              </a:spcBef>
              <a:defRPr sz="1050" b="1">
                <a:solidFill>
                  <a:srgbClr val="166534"/>
                </a:solidFill>
                <a:latin typeface="Segoe UI"/>
              </a:defRPr>
            </a:pPr>
            <a:r>
              <a:t>Resultado: Dataset certificado y congelado (data/validated/municipios_panel_validado.csv) respaldado por 36 pruebas unitarias y de integración continuas.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3. PERFIL CIUDADANO Y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Ponderación Multicriterio y Separación de Arquitecturas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Python y Oracle como caminos paralelos con garantía de privacidad (RGPD)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ENTRADAS Y PONDERACIÓN CIUDADANA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Parámetros que Introduce el Ciudadano: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Presupuesto de Vivienda: Límite total en euros o precio máximo por m².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Ingresos Netos del Hogar: Para calcular la tasa de esfuerzo financiero sostenible (&lt;30%).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Tiempo Máximo de Conexión: Minutos máximos tolerados al centro de trabajo o Madrid.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Modo de Transporte: Preferencia por transporte público (CRTM) o vehículo privado.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Composición Familiar: Número de hijos y edades (ajusta demanda de plazas escolares).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Régimen de Tenencia: Preferencia por compra o alquiler.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El módulo config/perfiles.py traduce estas respuestas en pesos personales normalizados (suman exactamente 1,0) para reordenar los municipios sin modificar el ICA objetivo.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DOS CAMINOS PARALELOS Y PRIVACIDAD ESTRICTA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Paridad Python vs. Oracle sin Fuga de Datos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Independencia de Entornos:</a:t>
            </a:r>
            <a:br/>
            <a:r>
              <a:t>  Python lee el CSV validado. La tabla de Oracle está diseñada para que Oracle APEX funcione de forma 100% autónoma sin llamar a Python. Son dos caminos paralelos independientes.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Verificación de Paridad:</a:t>
            </a:r>
            <a:br/>
            <a:r>
              <a:t>  Los tests automatizados comprueban que el algoritmo en Python y la lógica en PL/SQL de Oracle producen idénticos pesos y rankings ante los mismos datos.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Garantía Total de Privacidad:</a:t>
            </a:r>
            <a:br/>
            <a:r>
              <a:t>  La base de datos Oracle NO almacena ningún dato personal del ciudadano. Solo almacena las reglas maestras de ponderación (ej: 'cada hijo suma 0,05 a educación'). Los datos del ciudadano se pasan como parámetros volátiles de sesión y nunca persisten en disco.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4. ECOSISTEMA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Cinco Modelos Analíticos: Una Ficha Municipal Única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«M1 dice si es asequible, M2 si tiene servicios, M3 si va a crecer, M4 cuánta gente cabe y M5 cuál te conviene»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204825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MODELO M1: ASEQUIBILIDAD Y PRECIO (AVM)</a:t>
            </a:r>
          </a:p>
          <a:p>
            <a:pPr>
              <a:spcBef>
                <a:spcPts val="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¿Puedo permitirme vivir aquí?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Precio predicho (€/m²), esfuerzo familiar (% renta) y brecha de mercado.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19072"/>
            <a:ext cx="73152" cy="204825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MODELO M2: DOTACIÓN E INFRAESTRUCTURAS</a:t>
            </a:r>
          </a:p>
          <a:p>
            <a:pPr>
              <a:spcBef>
                <a:spcPts val="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¿Qué tal servicios y conexión?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4 sub-índices (0 a 100) en Sanidad, Educación, Conectividad y Calidad Residencial.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19072"/>
            <a:ext cx="73152" cy="204825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MODELO M3: DEMOGRAFÍA Y SERIES TEMPORALES</a:t>
            </a:r>
          </a:p>
          <a:p>
            <a:pPr>
              <a:spcBef>
                <a:spcPts val="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¿Va a crecer o a vaciarse?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Proyección demográfica a 5 y 10 años (2030-2035) y año estimado de saturación.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096512"/>
            <a:ext cx="73152" cy="204825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1605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  <a:latin typeface="Segoe UI"/>
              </a:defRPr>
            </a:pPr>
            <a:r>
              <a:t>MODELO M4: CAPACIDAD NETA DE CARGA (ICA)</a:t>
            </a:r>
          </a:p>
          <a:p>
            <a:pPr>
              <a:spcBef>
                <a:spcPts val="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¿Cuánta gente cabe y qué se rompe?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Cálculo de habitantes adicionales sostenibles e identificación del factor limitante.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096512"/>
            <a:ext cx="73152" cy="204825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MODELO M5: RECOMENDADOR Y OPTIMIZADOR</a:t>
            </a:r>
          </a:p>
          <a:p>
            <a:pPr>
              <a:spcBef>
                <a:spcPts val="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¿Cuál encaja conmigo?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Ranking adaptado al perfil ciudadano y optimización de inversión para la Administración.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5. CLARIDAD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Las Tres Operaciones que se Suelen Confundir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Diferenciación estricta entre evaluar el presente, predecir el futuro y simular escenarios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Segoe UI"/>
              </a:defRPr>
            </a:pPr>
            <a:r>
              <a:t>1. EVALUAR / ORDENAR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¿Qué municipio encaja con lo que pido?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No necesita datos del futuro.</a:t>
            </a:r>
            <a:br/>
            <a:r>
              <a:t>Los datos observados ya existen hoy.</a:t>
            </a:r>
            <a:br/>
            <a:br/>
            <a:r>
              <a:t>• Función: Reordenar municipios según preferencias declaradas.</a:t>
            </a:r>
            <a:br/>
            <a:r>
              <a:t>• Implementación: Ranking adaptativo por perfiles (C2 / M5).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19072"/>
            <a:ext cx="73152" cy="44256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Segoe UI"/>
              </a:defRPr>
            </a:pPr>
            <a:r>
              <a:t>2. PREDECIR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¿Qué pasará en este municipio en 2030?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Sí necesita estimar una incógnita futura.</a:t>
            </a:r>
            <a:br/>
            <a:r>
              <a:t>Requiere modelado de series temporales.</a:t>
            </a:r>
            <a:br/>
            <a:br/>
            <a:r>
              <a:t>• Función: Anticipar el horizonte demográfico y año de saturación.</a:t>
            </a:r>
            <a:br/>
            <a:r>
              <a:t>• Implementación: Modelo M3 (Población 2030/2035 y año de colapso).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19072"/>
            <a:ext cx="73152" cy="44256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  <a:latin typeface="Segoe UI"/>
              </a:defRPr>
            </a:pPr>
            <a:r>
              <a:t>3. SIMULAR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¿Qué pasa si invierto X o llegan N personas?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No predice: recalcula con reglas normativas.</a:t>
            </a:r>
            <a:br/>
            <a:r>
              <a:t>Responde a supuestos hipotéticos ('What-If').</a:t>
            </a:r>
            <a:br/>
            <a:br/>
            <a:r>
              <a:t>• Función: Medir impacto presupuestario y cuellos de botella.</a:t>
            </a:r>
            <a:br/>
            <a:r>
              <a:t>• Implementación: Simulador What-If y Optimizador Simplex.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6. VALIDACIÓN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¿Cómo Sabemos que Nuestro Modelo ICA es Bueno?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Medimos la capacidad de acogida y la contrastamos empíricamente mediante backtest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MÉTODO DE VALIDACIÓN POR BACKTESTING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1. Datos Base: Recogemos la población real de 2015 y 2020 de cada municipio (INE).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2. Tasa Tendencial: Calculamos la tasa anual geométrica de crecimiento intercensal.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3. Proyección a 5 Años: Proyectamos la evolución hasta 2025 sin conocer el dato real.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4. Contraste Empírico: Comparamos la predicción contra el padrón oficial real de 2025.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5. Medición del Desvío: Evaluamos el error porcentual y el desvío absoluto en habitantes.</a:t>
            </a:r>
          </a:p>
          <a:p>
            <a:pPr>
              <a:spcBef>
                <a:spcPts val="800"/>
              </a:spcBef>
              <a:defRPr sz="1100" b="1">
                <a:solidFill>
                  <a:srgbClr val="166534"/>
                </a:solidFill>
                <a:latin typeface="Segoe UI"/>
              </a:defRPr>
            </a:pPr>
            <a:r>
              <a:t>Resultado Global: El modelo demográfico acierta con un error mediano del 1,55% a 5 años (frente al 7,02% de asumir que nada cambia). En un municipio de 5.000 habitantes, la predicción suele desviarse únicamente unas 78 personas.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EVALUACIÓN EMPÍRICA POR MUNICIPIOS (2020 → 2025)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Robledo de Chavela: Pred 4.815 vs Real 4.818 → Error: −3 hab. (0,06%)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Manzanares el Real: Pred 9.610 vs Real 9.648 → Error: −38 hab. (0,39%)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Buitrago del Lozoya: Pred 2.058 vs Real 2.034 → Error: +24 hab. (1,17%)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Meco: Pred 16.219 vs Real 15.922 → Error: +297 hab. (1,86%)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Chinchón: Pred 5.390 vs Real 5.800 → Error: −410 hab. (7,07%)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Villa del Prado: Pred 6.918 vs Real 7.743 → Error: −825 hab. (10,66%)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Montejo de la Sierra: Pred 354 vs Real 404 → Error: −50 hab. (12,31%)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Conclusión: La mitad de los municipios analizados presentan un desvío inferior al 1,55%, demostrando una calibración robusta para la planificación comarcal.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7. JUSTIFICACIÓN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La Predicción Honesta: ¿El ICA Anticipa el Crecimiento Actual?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El ICA mide capacidad de acogida, no atractivo demográfico: la paradoja que justifica la herramienta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EL LÍMITE HONESTO Y DOCUMENTADO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«El índice NO predice el crecimiento espontáneo (ρ = 0,10, no significativo).»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¿Qué significa esto?</a:t>
            </a:r>
            <a:br/>
            <a:r>
              <a:t>El ICA mide dónde hay infraestructura disponible para crecer sin colapsar servicios. La gente no se muda espontáneamente donde hay plazas escolares libres, sino donde encuentra alquiler barato o inercia urbana.</a:t>
            </a:r>
            <a:br/>
            <a:br/>
            <a:r>
              <a:t>• ¿Se puede predecir el crecimiento?</a:t>
            </a:r>
            <a:br/>
            <a:r>
              <a:t>Sí, combinando el ICA con variables de mercado (catastro, migración, brecha de precios) para estimar la probabilidad de absorción futura.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102E"/>
                </a:solidFill>
                <a:latin typeface="Segoe UI"/>
              </a:defRPr>
            </a:pPr>
            <a:r>
              <a:t>EL PROBLEMA QUE JUSTIFICA ESTE PROYECTO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Los Municipios que Más Crecen son los que Menos Capacidad Tienen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Villa del Prado:</a:t>
            </a:r>
            <a:br/>
            <a:r>
              <a:t>Creció un +16,2% entre 2020 y 2025, pero su capacidad es BAJA (ICA 36,9). Su centro de salud y consultorios están sobrecargados.</a:t>
            </a:r>
            <a:br/>
            <a:br/>
            <a:r>
              <a:t>• Navalcarnero:</a:t>
            </a:r>
            <a:br/>
            <a:r>
              <a:t>Creció un +11,2% (31.979 habitantes), pero su capacidad es BAJA (ICA 24,5, Alerta Roja) con 1.667 hab/médico y aulas al 95,2%.</a:t>
            </a:r>
            <a:br/>
            <a:br/>
            <a:r>
              <a:t>• Conclusión Institucional:</a:t>
            </a:r>
            <a:br/>
            <a:r>
              <a:t>Si la Comunidad de Madrid no interviene, la inercia demográfica continuará llenando municipios que ya están saturados. MadridNext es la herramienta para reorientar ese flujo hacia donde hay capacidad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8. DIAGNÓSTICO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El Semáforo ICA y la Alerta No Compensatoria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Umbrales normativos de capacidad e interrupción automática de encaje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195681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6534"/>
                </a:solidFill>
                <a:latin typeface="Segoe UI"/>
              </a:defRPr>
            </a:pPr>
            <a:r>
              <a:t>ALTA (ICA ≥ 60)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Mucho Margen de Acogida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Municipios con capacidad para absorber población de forma inmediata sin comprometer colegios ni consultorios (ej. Robledo 66,7 | Buitrago 62,5).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19072"/>
            <a:ext cx="73152" cy="195681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t>MEDIA (ICA 40–59)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Margen Justo / Condicionado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Municipios que pueden absorber nueva población siempre que se acompañe de inversiones puntuales en refuerzo de servicios.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19072"/>
            <a:ext cx="73152" cy="195681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02E"/>
                </a:solidFill>
                <a:latin typeface="Segoe UI"/>
              </a:defRPr>
            </a:pPr>
            <a:r>
              <a:t>BAJA (ICA &lt; 40)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Sin Margen / Saturación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Municipios con servicios esenciales en situación crítica. La llegada de nuevos vecinos provoca el colapso dotacional.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05072"/>
            <a:ext cx="73152" cy="21396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102E"/>
                </a:solidFill>
                <a:latin typeface="Segoe UI"/>
              </a:defRPr>
            </a:pPr>
            <a:r>
              <a:t>MECANISMO DE CONTROL: ALERTA NO COMPENSATORIA (ALERTA S)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Activación Automática: Se marca 'S' cuando hab/médico &gt; 1.500 o la ocupación escolar supera el 95%.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Efecto 1: La capacidad total se trunca por debajo de 40 puntos (nivel BAJA), independientemente de que la vivienda sea económica o existan amplias zonas verdes.</a:t>
            </a:r>
            <a:br/>
            <a:r>
              <a:t>• Efecto 2: El encaje máximo para cualquier ciudadano queda topado en 39 puntos.</a:t>
            </a:r>
            <a:br/>
            <a:r>
              <a:t>• Ejemplo Documentado: Cercedilla presenta una puntuación teórica de 34,61 y queda clasificado con Alerta S, advirtiendo a las familias de que la red asistencial no admite mayor presión.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9. ROBUSTEZ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Auditoría Antifraude: El Modelo Aprende, No Memoriza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Garantía contra fuga de datos (Data Leakage) y validación espacial sin atajos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FORMAS DE HACER TRAMPAS EN MODELOS PREDICTIVOS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Mirar Datos del Futuro:</a:t>
            </a:r>
            <a:br/>
            <a:r>
              <a:t>  Utilizar variables como la población proyectada a 2031 para predecir el estado de 2025. Esto infla artificialmente el rendimiento pero inutiliza el modelo en producción.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Mezclar Territorios Vecinos:</a:t>
            </a:r>
            <a:br/>
            <a:r>
              <a:t>  Particionar aleatoriamente municipios contiguos entre entrenamiento y prueba. La proximidad geográfica filtra información y genera falsa precisión.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Memorización por Sobreajuste:</a:t>
            </a:r>
            <a:br/>
            <a:r>
              <a:t>  Ajustar modelos excesivamente complejos en muestras pequeñas (N=20), memorizando filas en lugar de aprender patrones generales.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  <a:latin typeface="Segoe UI"/>
              </a:defRPr>
            </a:pPr>
            <a:r>
              <a:t>MÉTODOS DE COMPROBACIÓN APLICADOS EN MADRIDNEXT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Comparativa Adversarial (Modelo Honesto vs. Tramposo):</a:t>
            </a:r>
            <a:br/>
            <a:r>
              <a:t>  Se entrenaron versiones con y sin fuga deliberada para verificar que las métricas finales corresponden a capacidad de generalización real.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Validación Espacial GroupKFold:</a:t>
            </a:r>
            <a:br/>
            <a:r>
              <a:t>  Los municipios de una misma comarca se asignan juntos a train o a test, impidiendo que municipios colindantes contaminen la evaluación.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Control Point-in-Time:</a:t>
            </a:r>
            <a:br/>
            <a:r>
              <a:t>  Verificación estricta de que ningún dato de entrada tenga fecha posterior a la fecha de decisión del MVP.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36 Tests Unitarios y de Integración:</a:t>
            </a:r>
            <a:br/>
            <a:r>
              <a:t>  Batería continua de pruebas en pytest que audita formalmente las 7 fugas de información potenciales (L1 a L7).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10. HERRAMIENTAS PARA LA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Operativa Institucional: Simulador What-If y Optimizador M5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Instrumentos analíticos para la toma de decisiones y asignación presupuestaria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4425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PANTALLA 1: SIMULADOR DEMOGRÁFICO WHAT-IF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«¿Si entran 2.000 personas en este pueblo, qué pasa?»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Recálculo Reactivo Inmediato:</a:t>
            </a:r>
            <a:br/>
            <a:r>
              <a:t>El usuario introduce un volumen hipotético de nuevos residentes y el sistema recalcula al instante todos los indicadores de presión dotacional.</a:t>
            </a:r>
            <a:br/>
            <a:br/>
            <a:r>
              <a:t>• Diagnóstico del Colapso:</a:t>
            </a:r>
            <a:br/>
            <a:r>
              <a:t>Indica con precisión matemática qué servicio entra primero en crisis (sanidad o educación), cuántas plazas o médicos faltan y cuál es el coste estimado de refuerzo para evitar la saturación.</a:t>
            </a:r>
            <a:br/>
            <a:br/>
            <a:r>
              <a:t>• Utilidad: Permite a los ayuntamientos evaluar planes urbanísticos antes de aprobar licencias residenciales.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19072"/>
            <a:ext cx="73152" cy="44256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  <a:latin typeface="Segoe UI"/>
              </a:defRPr>
            </a:pPr>
            <a:r>
              <a:t>PANTALLA 2: OPTIMIZADOR PRESUPUESTARIO M5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«Tengo 2.000.000 €, ¿dónde los reparto en esta comarca?»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Caso Real Sierra Oeste:</a:t>
            </a:r>
            <a:br/>
            <a:r>
              <a:t>Asignación matemática óptima mediante programación lineal Simplex:</a:t>
            </a:r>
            <a:br/>
            <a:r>
              <a:t>- Villa del Prado: 450.000 € (1 médico) → +830 habitantes acogibles.</a:t>
            </a:r>
            <a:br/>
            <a:r>
              <a:t>- San Martín de Valdeiglesias: 600.000 € (50 plazas) → +279 hab.</a:t>
            </a:r>
            <a:br/>
            <a:r>
              <a:t>- Robledo de Chavela: 600.000 € (50 plazas) → +227 hab.</a:t>
            </a:r>
            <a:br/>
            <a:r>
              <a:t>- Navalcarnero: 0 € asignados de forma justificada (su restricción es la vivienda; gastar en dotaciones sanitarias sería ineficaz).</a:t>
            </a:r>
            <a:br/>
            <a:br/>
            <a:r>
              <a:t>• Balance: 1.650.000 € invertidos con ganancia neta de +1.336 personas y 350.000 € ahorrados.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94A3B8"/>
                </a:solidFill>
                <a:latin typeface="Segoe UI"/>
              </a:defRPr>
            </a:pPr>
            <a:r>
              <a:t>11. CONCLUSIONES Y TRANSFERENCIA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Del Piloto de 20 Municipios al Despliegue Regional en la 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Segoe UI"/>
              </a:defRPr>
            </a:pPr>
            <a:r>
              <a:t>SÍNTESIS DE APORTACIONES DEL PROYECTO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1. Resolución Empírica del Reto: Se sustituye la especulación por un marco cuantitativo verificado mediante backtesting real (1,55% de error demográfico mediano) que integra capacidad dotacional y precios.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2. Doble Utilidad Práctica: Herramienta orientada tanto a las familias que planifican su traslado como a los gestores públicos que deben decidir la asignación de recursos presupuestarios con rigor.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3. Escalabilidad Inmediata en Oracle 23ai: La arquitectura técnica está lista para procesar los 155 municipios menores de 50.000 habitantes en cuanto la Comunidad de Madrid incorpore a la plataforma los registros internos de centros y plazas.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62895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«No venimos a decir que nuestro índice predice el futuro: venimos a demostrar cuánto acierta, para qué sirve y cómo optimiza cada euro público invertido en la Comunidad de Madrid.»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Equipo de desarrollo: Adrián Hernando Muñoz  •  Juan Torrero de Pablo  •  Alejandro Cuntin Bariteau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ANEXO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Respuestas Técnicas a Preguntas Clave del Jurado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Comparativa de solvencia: sin modelo vs. con MadridNext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73152" cy="195681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Pregunta: ¿Cómo sé que el índice sirve?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Respuesta: Mide capacidad de carga, no mero atractivo residencial. Lo contrastamos con el crecimiento real de los municipios y el backtest demuestra que los pueblos con mayor crecimiento son los que ya están saturados, justificando la intervención.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719072"/>
            <a:ext cx="73152" cy="195681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Pregunta: ¿Vuestras proyecciones demográficas son fiables?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Respuesta: Presentan un error mediano contrastado del 1,55% a 5 años en ventanas históricas (INE 2015-2025), frente al 7,02% de asumir una hipótesis estática.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05072"/>
            <a:ext cx="73152" cy="195681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Pregunta: ¿Por qué no usáis Deep Learning masivo?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Respuesta: Con 20 municipios y sin etiquetas arbitrarias, las redes neuronales sobreajustarían. Empleamos modelos basados en árboles regularizados exportados a ONNX con verificación de tolerancia &lt;1e-6.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005072"/>
            <a:ext cx="73152" cy="195681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Pregunta: ¿Qué no habéis validado?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Respuesta: Que el índice anticipe por sí solo el crecimiento espontáneo. No lo hace (ρ = 0,10) y por eso no lo afirmamos; mide capacidad dotacional objetiva.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II DATATHON LODCOREMADRID 2026 | UNIVERSIDAD CARLOS III DE MADRID &amp; COMUNIDAD DE MADRID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Muchas gracias por su atención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C8102E"/>
                </a:solidFill>
                <a:latin typeface="Segoe UI"/>
              </a:defRPr>
            </a:pPr>
            <a:r>
              <a:t>¿Preguntas?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931920"/>
            <a:ext cx="761969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MADRIDNEXT: CAPACIDAD DE ACOGIDA TERRITORIAL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Adrián Hernando Muñoz   •   Juan Torrero de Pablo   •   Alejandro Cuntin Bariteau</a:t>
            </a:r>
          </a:p>
          <a:p>
            <a:pPr algn="ctr"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Cátedra I+D+i LoDCOREMadrid | Salón de Grados, Campus de Leganés (UC3M)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